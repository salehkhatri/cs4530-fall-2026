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5" r:id="rId2"/>
  </p:sldMasterIdLst>
  <p:notesMasterIdLst>
    <p:notesMasterId r:id="rId47"/>
  </p:notesMasterIdLst>
  <p:sldIdLst>
    <p:sldId id="342" r:id="rId3"/>
    <p:sldId id="257" r:id="rId4"/>
    <p:sldId id="262" r:id="rId5"/>
    <p:sldId id="259" r:id="rId6"/>
    <p:sldId id="261" r:id="rId7"/>
    <p:sldId id="260" r:id="rId8"/>
    <p:sldId id="571" r:id="rId9"/>
    <p:sldId id="579" r:id="rId10"/>
    <p:sldId id="580" r:id="rId11"/>
    <p:sldId id="269" r:id="rId12"/>
    <p:sldId id="385" r:id="rId13"/>
    <p:sldId id="349" r:id="rId14"/>
    <p:sldId id="362" r:id="rId15"/>
    <p:sldId id="287" r:id="rId16"/>
    <p:sldId id="264" r:id="rId17"/>
    <p:sldId id="344" r:id="rId18"/>
    <p:sldId id="280" r:id="rId19"/>
    <p:sldId id="316" r:id="rId20"/>
    <p:sldId id="285" r:id="rId21"/>
    <p:sldId id="372" r:id="rId22"/>
    <p:sldId id="290" r:id="rId23"/>
    <p:sldId id="581" r:id="rId24"/>
    <p:sldId id="613" r:id="rId25"/>
    <p:sldId id="575" r:id="rId26"/>
    <p:sldId id="576" r:id="rId27"/>
    <p:sldId id="614" r:id="rId28"/>
    <p:sldId id="615" r:id="rId29"/>
    <p:sldId id="276" r:id="rId30"/>
    <p:sldId id="291" r:id="rId31"/>
    <p:sldId id="331" r:id="rId32"/>
    <p:sldId id="330" r:id="rId33"/>
    <p:sldId id="312" r:id="rId34"/>
    <p:sldId id="375" r:id="rId35"/>
    <p:sldId id="348" r:id="rId36"/>
    <p:sldId id="335" r:id="rId37"/>
    <p:sldId id="292" r:id="rId38"/>
    <p:sldId id="351" r:id="rId39"/>
    <p:sldId id="340" r:id="rId40"/>
    <p:sldId id="389" r:id="rId41"/>
    <p:sldId id="377" r:id="rId42"/>
    <p:sldId id="616" r:id="rId43"/>
    <p:sldId id="392" r:id="rId44"/>
    <p:sldId id="391" r:id="rId45"/>
    <p:sldId id="343"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E2315A-F7E8-41EC-AC3F-B2934F1C8BDD}" v="8" dt="2026-10-11T01:32:17.0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06" autoAdjust="0"/>
    <p:restoredTop sz="88078" autoAdjust="0"/>
  </p:normalViewPr>
  <p:slideViewPr>
    <p:cSldViewPr snapToGrid="0">
      <p:cViewPr varScale="1">
        <p:scale>
          <a:sx n="65" d="100"/>
          <a:sy n="65" d="100"/>
        </p:scale>
        <p:origin x="100" y="52"/>
      </p:cViewPr>
      <p:guideLst/>
    </p:cSldViewPr>
  </p:slid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microsoft.com/office/2015/10/relationships/revisionInfo" Target="revisionInfo.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tchell Wand" userId="de9b44c55c049659" providerId="LiveId" clId="{7A9D5940-B2CC-47DD-AF5E-71219F1A1E26}"/>
    <pc:docChg chg="undo custSel addSld delSld modSld sldOrd">
      <pc:chgData name="Mitchell Wand" userId="de9b44c55c049659" providerId="LiveId" clId="{7A9D5940-B2CC-47DD-AF5E-71219F1A1E26}" dt="2026-10-11T01:33:49.148" v="961" actId="2696"/>
      <pc:docMkLst>
        <pc:docMk/>
      </pc:docMkLst>
      <pc:sldChg chg="modSp mod">
        <pc:chgData name="Mitchell Wand" userId="de9b44c55c049659" providerId="LiveId" clId="{7A9D5940-B2CC-47DD-AF5E-71219F1A1E26}" dt="2026-10-11T00:51:46.831" v="99" actId="20577"/>
        <pc:sldMkLst>
          <pc:docMk/>
          <pc:sldMk cId="815299908" sldId="269"/>
        </pc:sldMkLst>
        <pc:spChg chg="mod">
          <ac:chgData name="Mitchell Wand" userId="de9b44c55c049659" providerId="LiveId" clId="{7A9D5940-B2CC-47DD-AF5E-71219F1A1E26}" dt="2026-10-11T00:51:46.831" v="99" actId="20577"/>
          <ac:spMkLst>
            <pc:docMk/>
            <pc:sldMk cId="815299908" sldId="269"/>
            <ac:spMk id="155" creationId="{00000000-0000-0000-0000-000000000000}"/>
          </ac:spMkLst>
        </pc:spChg>
      </pc:sldChg>
      <pc:sldChg chg="modSp mod">
        <pc:chgData name="Mitchell Wand" userId="de9b44c55c049659" providerId="LiveId" clId="{7A9D5940-B2CC-47DD-AF5E-71219F1A1E26}" dt="2026-10-11T01:01:56.215" v="466" actId="20577"/>
        <pc:sldMkLst>
          <pc:docMk/>
          <pc:sldMk cId="2594890108" sldId="276"/>
        </pc:sldMkLst>
        <pc:spChg chg="mod">
          <ac:chgData name="Mitchell Wand" userId="de9b44c55c049659" providerId="LiveId" clId="{7A9D5940-B2CC-47DD-AF5E-71219F1A1E26}" dt="2026-10-11T01:01:56.215" v="466" actId="20577"/>
          <ac:spMkLst>
            <pc:docMk/>
            <pc:sldMk cId="2594890108" sldId="276"/>
            <ac:spMk id="3" creationId="{60B71892-19E8-4563-4834-8C1CE1C46F4F}"/>
          </ac:spMkLst>
        </pc:spChg>
      </pc:sldChg>
      <pc:sldChg chg="ord">
        <pc:chgData name="Mitchell Wand" userId="de9b44c55c049659" providerId="LiveId" clId="{7A9D5940-B2CC-47DD-AF5E-71219F1A1E26}" dt="2026-10-11T00:58:18.292" v="292"/>
        <pc:sldMkLst>
          <pc:docMk/>
          <pc:sldMk cId="0" sldId="285"/>
        </pc:sldMkLst>
      </pc:sldChg>
      <pc:sldChg chg="del">
        <pc:chgData name="Mitchell Wand" userId="de9b44c55c049659" providerId="LiveId" clId="{7A9D5940-B2CC-47DD-AF5E-71219F1A1E26}" dt="2026-10-11T00:58:50.025" v="293" actId="2696"/>
        <pc:sldMkLst>
          <pc:docMk/>
          <pc:sldMk cId="4161365394" sldId="286"/>
        </pc:sldMkLst>
      </pc:sldChg>
      <pc:sldChg chg="modSp mod">
        <pc:chgData name="Mitchell Wand" userId="de9b44c55c049659" providerId="LiveId" clId="{7A9D5940-B2CC-47DD-AF5E-71219F1A1E26}" dt="2026-10-11T01:03:06.015" v="576" actId="20577"/>
        <pc:sldMkLst>
          <pc:docMk/>
          <pc:sldMk cId="1313669991" sldId="291"/>
        </pc:sldMkLst>
        <pc:spChg chg="mod">
          <ac:chgData name="Mitchell Wand" userId="de9b44c55c049659" providerId="LiveId" clId="{7A9D5940-B2CC-47DD-AF5E-71219F1A1E26}" dt="2026-10-11T01:03:06.015" v="576" actId="20577"/>
          <ac:spMkLst>
            <pc:docMk/>
            <pc:sldMk cId="1313669991" sldId="291"/>
            <ac:spMk id="2" creationId="{A9E99567-945A-A649-A6D6-B4FE1391686D}"/>
          </ac:spMkLst>
        </pc:spChg>
      </pc:sldChg>
      <pc:sldChg chg="del mod modShow">
        <pc:chgData name="Mitchell Wand" userId="de9b44c55c049659" providerId="LiveId" clId="{7A9D5940-B2CC-47DD-AF5E-71219F1A1E26}" dt="2026-10-11T01:33:44.280" v="960" actId="2696"/>
        <pc:sldMkLst>
          <pc:docMk/>
          <pc:sldMk cId="126056709" sldId="304"/>
        </pc:sldMkLst>
      </pc:sldChg>
      <pc:sldChg chg="del">
        <pc:chgData name="Mitchell Wand" userId="de9b44c55c049659" providerId="LiveId" clId="{7A9D5940-B2CC-47DD-AF5E-71219F1A1E26}" dt="2026-10-11T01:23:54.246" v="687" actId="2696"/>
        <pc:sldMkLst>
          <pc:docMk/>
          <pc:sldMk cId="1482529099" sldId="313"/>
        </pc:sldMkLst>
      </pc:sldChg>
      <pc:sldChg chg="del">
        <pc:chgData name="Mitchell Wand" userId="de9b44c55c049659" providerId="LiveId" clId="{7A9D5940-B2CC-47DD-AF5E-71219F1A1E26}" dt="2026-10-11T01:32:57.106" v="956" actId="2696"/>
        <pc:sldMkLst>
          <pc:docMk/>
          <pc:sldMk cId="1950794410" sldId="334"/>
        </pc:sldMkLst>
      </pc:sldChg>
      <pc:sldChg chg="del mod modShow">
        <pc:chgData name="Mitchell Wand" userId="de9b44c55c049659" providerId="LiveId" clId="{7A9D5940-B2CC-47DD-AF5E-71219F1A1E26}" dt="2026-10-11T01:33:49.148" v="961" actId="2696"/>
        <pc:sldMkLst>
          <pc:docMk/>
          <pc:sldMk cId="3069861496" sldId="338"/>
        </pc:sldMkLst>
      </pc:sldChg>
      <pc:sldChg chg="modSp mod">
        <pc:chgData name="Mitchell Wand" userId="de9b44c55c049659" providerId="LiveId" clId="{7A9D5940-B2CC-47DD-AF5E-71219F1A1E26}" dt="2026-10-11T01:31:43.439" v="955" actId="20577"/>
        <pc:sldMkLst>
          <pc:docMk/>
          <pc:sldMk cId="3390111508" sldId="341"/>
        </pc:sldMkLst>
        <pc:spChg chg="mod">
          <ac:chgData name="Mitchell Wand" userId="de9b44c55c049659" providerId="LiveId" clId="{7A9D5940-B2CC-47DD-AF5E-71219F1A1E26}" dt="2026-10-11T01:31:43.439" v="955" actId="20577"/>
          <ac:spMkLst>
            <pc:docMk/>
            <pc:sldMk cId="3390111508" sldId="341"/>
            <ac:spMk id="3" creationId="{A6A51E1A-428A-71C9-87F9-8032C2DC5EB0}"/>
          </ac:spMkLst>
        </pc:spChg>
      </pc:sldChg>
      <pc:sldChg chg="del">
        <pc:chgData name="Mitchell Wand" userId="de9b44c55c049659" providerId="LiveId" clId="{7A9D5940-B2CC-47DD-AF5E-71219F1A1E26}" dt="2026-10-11T01:33:00.093" v="957" actId="2696"/>
        <pc:sldMkLst>
          <pc:docMk/>
          <pc:sldMk cId="3151719411" sldId="345"/>
        </pc:sldMkLst>
      </pc:sldChg>
      <pc:sldChg chg="mod modShow">
        <pc:chgData name="Mitchell Wand" userId="de9b44c55c049659" providerId="LiveId" clId="{7A9D5940-B2CC-47DD-AF5E-71219F1A1E26}" dt="2026-10-11T01:33:23.526" v="958" actId="34476"/>
        <pc:sldMkLst>
          <pc:docMk/>
          <pc:sldMk cId="4257251093" sldId="348"/>
        </pc:sldMkLst>
      </pc:sldChg>
      <pc:sldChg chg="del mod modShow">
        <pc:chgData name="Mitchell Wand" userId="de9b44c55c049659" providerId="LiveId" clId="{7A9D5940-B2CC-47DD-AF5E-71219F1A1E26}" dt="2026-10-11T01:33:39.894" v="959" actId="2696"/>
        <pc:sldMkLst>
          <pc:docMk/>
          <pc:sldMk cId="2921844832" sldId="355"/>
        </pc:sldMkLst>
      </pc:sldChg>
      <pc:sldChg chg="modSp mod">
        <pc:chgData name="Mitchell Wand" userId="de9b44c55c049659" providerId="LiveId" clId="{7A9D5940-B2CC-47DD-AF5E-71219F1A1E26}" dt="2026-10-11T00:56:01.944" v="288" actId="20577"/>
        <pc:sldMkLst>
          <pc:docMk/>
          <pc:sldMk cId="415063438" sldId="362"/>
        </pc:sldMkLst>
        <pc:spChg chg="mod">
          <ac:chgData name="Mitchell Wand" userId="de9b44c55c049659" providerId="LiveId" clId="{7A9D5940-B2CC-47DD-AF5E-71219F1A1E26}" dt="2026-10-11T00:56:01.944" v="288" actId="20577"/>
          <ac:spMkLst>
            <pc:docMk/>
            <pc:sldMk cId="415063438" sldId="362"/>
            <ac:spMk id="139" creationId="{951A5BBD-5F10-7357-F803-8C521C116E7D}"/>
          </ac:spMkLst>
        </pc:spChg>
      </pc:sldChg>
      <pc:sldChg chg="modSp mod">
        <pc:chgData name="Mitchell Wand" userId="de9b44c55c049659" providerId="LiveId" clId="{7A9D5940-B2CC-47DD-AF5E-71219F1A1E26}" dt="2026-10-11T01:27:32.828" v="877" actId="20577"/>
        <pc:sldMkLst>
          <pc:docMk/>
          <pc:sldMk cId="3870596137" sldId="377"/>
        </pc:sldMkLst>
        <pc:spChg chg="mod">
          <ac:chgData name="Mitchell Wand" userId="de9b44c55c049659" providerId="LiveId" clId="{7A9D5940-B2CC-47DD-AF5E-71219F1A1E26}" dt="2026-10-11T01:24:32.687" v="760" actId="20577"/>
          <ac:spMkLst>
            <pc:docMk/>
            <pc:sldMk cId="3870596137" sldId="377"/>
            <ac:spMk id="2" creationId="{E4B90FE1-AAC9-DB49-958F-35F87E447664}"/>
          </ac:spMkLst>
        </pc:spChg>
        <pc:spChg chg="mod">
          <ac:chgData name="Mitchell Wand" userId="de9b44c55c049659" providerId="LiveId" clId="{7A9D5940-B2CC-47DD-AF5E-71219F1A1E26}" dt="2026-10-11T01:27:32.828" v="877" actId="20577"/>
          <ac:spMkLst>
            <pc:docMk/>
            <pc:sldMk cId="3870596137" sldId="377"/>
            <ac:spMk id="4" creationId="{C7537FBD-FAC6-EB42-B286-483FD564DAFD}"/>
          </ac:spMkLst>
        </pc:spChg>
      </pc:sldChg>
      <pc:sldChg chg="del mod modShow">
        <pc:chgData name="Mitchell Wand" userId="de9b44c55c049659" providerId="LiveId" clId="{7A9D5940-B2CC-47DD-AF5E-71219F1A1E26}" dt="2026-10-11T01:29:05.145" v="901" actId="2696"/>
        <pc:sldMkLst>
          <pc:docMk/>
          <pc:sldMk cId="362832005" sldId="383"/>
        </pc:sldMkLst>
      </pc:sldChg>
      <pc:sldChg chg="modSp mod ord">
        <pc:chgData name="Mitchell Wand" userId="de9b44c55c049659" providerId="LiveId" clId="{7A9D5940-B2CC-47DD-AF5E-71219F1A1E26}" dt="2026-10-11T00:55:31.607" v="267"/>
        <pc:sldMkLst>
          <pc:docMk/>
          <pc:sldMk cId="2542460732" sldId="385"/>
        </pc:sldMkLst>
        <pc:spChg chg="mod">
          <ac:chgData name="Mitchell Wand" userId="de9b44c55c049659" providerId="LiveId" clId="{7A9D5940-B2CC-47DD-AF5E-71219F1A1E26}" dt="2026-10-11T00:53:31.795" v="197" actId="20577"/>
          <ac:spMkLst>
            <pc:docMk/>
            <pc:sldMk cId="2542460732" sldId="385"/>
            <ac:spMk id="3" creationId="{64D9733F-E10E-307D-2EA6-7F4520ABB642}"/>
          </ac:spMkLst>
        </pc:spChg>
      </pc:sldChg>
      <pc:sldChg chg="del">
        <pc:chgData name="Mitchell Wand" userId="de9b44c55c049659" providerId="LiveId" clId="{7A9D5940-B2CC-47DD-AF5E-71219F1A1E26}" dt="2026-10-11T01:20:10.226" v="677" actId="2696"/>
        <pc:sldMkLst>
          <pc:docMk/>
          <pc:sldMk cId="3870110143" sldId="386"/>
        </pc:sldMkLst>
      </pc:sldChg>
      <pc:sldChg chg="del mod modShow">
        <pc:chgData name="Mitchell Wand" userId="de9b44c55c049659" providerId="LiveId" clId="{7A9D5940-B2CC-47DD-AF5E-71219F1A1E26}" dt="2026-10-11T01:29:10.478" v="902" actId="2696"/>
        <pc:sldMkLst>
          <pc:docMk/>
          <pc:sldMk cId="2264757717" sldId="387"/>
        </pc:sldMkLst>
      </pc:sldChg>
      <pc:sldChg chg="del mod modShow">
        <pc:chgData name="Mitchell Wand" userId="de9b44c55c049659" providerId="LiveId" clId="{7A9D5940-B2CC-47DD-AF5E-71219F1A1E26}" dt="2026-10-11T01:29:16.887" v="903" actId="2696"/>
        <pc:sldMkLst>
          <pc:docMk/>
          <pc:sldMk cId="1441177639" sldId="388"/>
        </pc:sldMkLst>
      </pc:sldChg>
      <pc:sldChg chg="modSp mod ord">
        <pc:chgData name="Mitchell Wand" userId="de9b44c55c049659" providerId="LiveId" clId="{7A9D5940-B2CC-47DD-AF5E-71219F1A1E26}" dt="2026-10-11T01:28:32.712" v="900" actId="20577"/>
        <pc:sldMkLst>
          <pc:docMk/>
          <pc:sldMk cId="2692604296" sldId="389"/>
        </pc:sldMkLst>
        <pc:spChg chg="mod">
          <ac:chgData name="Mitchell Wand" userId="de9b44c55c049659" providerId="LiveId" clId="{7A9D5940-B2CC-47DD-AF5E-71219F1A1E26}" dt="2026-10-11T01:28:32.712" v="900" actId="20577"/>
          <ac:spMkLst>
            <pc:docMk/>
            <pc:sldMk cId="2692604296" sldId="389"/>
            <ac:spMk id="2" creationId="{B974C6E5-8FE2-DF16-609E-9B7A086EBBD8}"/>
          </ac:spMkLst>
        </pc:spChg>
      </pc:sldChg>
      <pc:sldChg chg="del mod modShow">
        <pc:chgData name="Mitchell Wand" userId="de9b44c55c049659" providerId="LiveId" clId="{7A9D5940-B2CC-47DD-AF5E-71219F1A1E26}" dt="2026-10-11T01:29:30.830" v="904" actId="2696"/>
        <pc:sldMkLst>
          <pc:docMk/>
          <pc:sldMk cId="918350328" sldId="390"/>
        </pc:sldMkLst>
      </pc:sldChg>
      <pc:sldChg chg="modSp mod">
        <pc:chgData name="Mitchell Wand" userId="de9b44c55c049659" providerId="LiveId" clId="{7A9D5940-B2CC-47DD-AF5E-71219F1A1E26}" dt="2026-10-11T01:29:58.342" v="905" actId="113"/>
        <pc:sldMkLst>
          <pc:docMk/>
          <pc:sldMk cId="4223131274" sldId="392"/>
        </pc:sldMkLst>
        <pc:spChg chg="mod">
          <ac:chgData name="Mitchell Wand" userId="de9b44c55c049659" providerId="LiveId" clId="{7A9D5940-B2CC-47DD-AF5E-71219F1A1E26}" dt="2026-10-11T01:29:58.342" v="905" actId="113"/>
          <ac:spMkLst>
            <pc:docMk/>
            <pc:sldMk cId="4223131274" sldId="392"/>
            <ac:spMk id="6" creationId="{B6CB42CC-E0A3-F486-D1D1-FF4A2A45276B}"/>
          </ac:spMkLst>
        </pc:spChg>
      </pc:sldChg>
      <pc:sldChg chg="modSp mod ord">
        <pc:chgData name="Mitchell Wand" userId="de9b44c55c049659" providerId="LiveId" clId="{7A9D5940-B2CC-47DD-AF5E-71219F1A1E26}" dt="2026-10-10T18:34:39.182" v="7"/>
        <pc:sldMkLst>
          <pc:docMk/>
          <pc:sldMk cId="2715120214" sldId="571"/>
        </pc:sldMkLst>
        <pc:spChg chg="mod">
          <ac:chgData name="Mitchell Wand" userId="de9b44c55c049659" providerId="LiveId" clId="{7A9D5940-B2CC-47DD-AF5E-71219F1A1E26}" dt="2026-10-10T18:32:47.728" v="1" actId="20577"/>
          <ac:spMkLst>
            <pc:docMk/>
            <pc:sldMk cId="2715120214" sldId="571"/>
            <ac:spMk id="7" creationId="{1B1C69BA-16B3-143F-593E-910B934645D3}"/>
          </ac:spMkLst>
        </pc:spChg>
      </pc:sldChg>
      <pc:sldChg chg="modSp mod ord modNotesTx">
        <pc:chgData name="Mitchell Wand" userId="de9b44c55c049659" providerId="LiveId" clId="{7A9D5940-B2CC-47DD-AF5E-71219F1A1E26}" dt="2026-10-11T00:54:39.288" v="265" actId="20577"/>
        <pc:sldMkLst>
          <pc:docMk/>
          <pc:sldMk cId="1489356314" sldId="579"/>
        </pc:sldMkLst>
        <pc:spChg chg="mod">
          <ac:chgData name="Mitchell Wand" userId="de9b44c55c049659" providerId="LiveId" clId="{7A9D5940-B2CC-47DD-AF5E-71219F1A1E26}" dt="2026-10-11T00:51:09" v="44" actId="20577"/>
          <ac:spMkLst>
            <pc:docMk/>
            <pc:sldMk cId="1489356314" sldId="579"/>
            <ac:spMk id="2" creationId="{7A1ACE48-9C5F-E584-59C4-5E27C882EC12}"/>
          </ac:spMkLst>
        </pc:spChg>
      </pc:sldChg>
      <pc:sldChg chg="ord">
        <pc:chgData name="Mitchell Wand" userId="de9b44c55c049659" providerId="LiveId" clId="{7A9D5940-B2CC-47DD-AF5E-71219F1A1E26}" dt="2026-10-11T00:56:49.927" v="290"/>
        <pc:sldMkLst>
          <pc:docMk/>
          <pc:sldMk cId="1044261238" sldId="580"/>
        </pc:sldMkLst>
      </pc:sldChg>
      <pc:sldChg chg="modSp mod">
        <pc:chgData name="Mitchell Wand" userId="de9b44c55c049659" providerId="LiveId" clId="{7A9D5940-B2CC-47DD-AF5E-71219F1A1E26}" dt="2026-10-11T00:59:57.727" v="296" actId="20577"/>
        <pc:sldMkLst>
          <pc:docMk/>
          <pc:sldMk cId="3793931591" sldId="615"/>
        </pc:sldMkLst>
        <pc:spChg chg="mod">
          <ac:chgData name="Mitchell Wand" userId="de9b44c55c049659" providerId="LiveId" clId="{7A9D5940-B2CC-47DD-AF5E-71219F1A1E26}" dt="2026-10-11T00:59:57.727" v="296" actId="20577"/>
          <ac:spMkLst>
            <pc:docMk/>
            <pc:sldMk cId="3793931591" sldId="615"/>
            <ac:spMk id="2" creationId="{4DCFB7A5-5D23-2B66-4D32-5F3D753396CB}"/>
          </ac:spMkLst>
        </pc:spChg>
      </pc:sldChg>
      <pc:sldChg chg="modSp new mod">
        <pc:chgData name="Mitchell Wand" userId="de9b44c55c049659" providerId="LiveId" clId="{7A9D5940-B2CC-47DD-AF5E-71219F1A1E26}" dt="2026-10-11T01:19:14.803" v="676" actId="20577"/>
        <pc:sldMkLst>
          <pc:docMk/>
          <pc:sldMk cId="2163532588" sldId="616"/>
        </pc:sldMkLst>
        <pc:spChg chg="mod">
          <ac:chgData name="Mitchell Wand" userId="de9b44c55c049659" providerId="LiveId" clId="{7A9D5940-B2CC-47DD-AF5E-71219F1A1E26}" dt="2026-10-11T01:17:23.919" v="638" actId="313"/>
          <ac:spMkLst>
            <pc:docMk/>
            <pc:sldMk cId="2163532588" sldId="616"/>
            <ac:spMk id="2" creationId="{745AB5F6-8402-21D1-FE7E-9E95F8EAEE7E}"/>
          </ac:spMkLst>
        </pc:spChg>
        <pc:spChg chg="mod">
          <ac:chgData name="Mitchell Wand" userId="de9b44c55c049659" providerId="LiveId" clId="{7A9D5940-B2CC-47DD-AF5E-71219F1A1E26}" dt="2026-10-11T01:19:14.803" v="676" actId="20577"/>
          <ac:spMkLst>
            <pc:docMk/>
            <pc:sldMk cId="2163532588" sldId="616"/>
            <ac:spMk id="3" creationId="{6C92FEA4-7715-91F2-3909-2E533E189B1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10/20/2026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dirty="0"/>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74040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&lt;Read slide&gt;</a:t>
            </a:r>
          </a:p>
          <a:p>
            <a:r>
              <a:rPr lang="en-US" dirty="0"/>
              <a:t>Part 2 is the largest portion of the lecture.</a:t>
            </a:r>
          </a:p>
        </p:txBody>
      </p:sp>
      <p:sp>
        <p:nvSpPr>
          <p:cNvPr id="4" name="Slide Number Placeholder 3"/>
          <p:cNvSpPr>
            <a:spLocks noGrp="1"/>
          </p:cNvSpPr>
          <p:nvPr>
            <p:ph type="sldNum" sz="quarter" idx="5"/>
          </p:nvPr>
        </p:nvSpPr>
        <p:spPr/>
        <p:txBody>
          <a:bodyPr/>
          <a:lstStyle/>
          <a:p>
            <a:fld id="{07937F07-1250-4CCE-B198-1B2887014F41}" type="slidenum">
              <a:rPr lang="en-US" smtClean="0"/>
              <a:t>3</a:t>
            </a:fld>
            <a:endParaRPr lang="en-US" dirty="0"/>
          </a:p>
        </p:txBody>
      </p:sp>
    </p:spTree>
    <p:extLst>
      <p:ext uri="{BB962C8B-B14F-4D97-AF65-F5344CB8AC3E}">
        <p14:creationId xmlns:p14="http://schemas.microsoft.com/office/powerpoint/2010/main" val="4086117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Security is often considered a broad non-functional requirement: systems are expected to be “secure”. But as we’ll see in this lecture, security covers a range of different security requirements. Here are three common security requirements. </a:t>
            </a:r>
          </a:p>
          <a:p>
            <a:endParaRPr lang="en-US" dirty="0"/>
          </a:p>
          <a:p>
            <a:r>
              <a:rPr lang="en-US" dirty="0"/>
              <a:t>Confidentiality - is information disclosed to unauthorized parties? </a:t>
            </a:r>
          </a:p>
          <a:p>
            <a:endParaRPr lang="en-US" dirty="0"/>
          </a:p>
          <a:p>
            <a:r>
              <a:rPr lang="en-US" dirty="0"/>
              <a:t>Integrity - is our code or data tampered with, at rest, or in transit</a:t>
            </a:r>
          </a:p>
          <a:p>
            <a:endParaRPr lang="en-US" dirty="0"/>
          </a:p>
          <a:p>
            <a:r>
              <a:rPr lang="en-US" dirty="0"/>
              <a:t>Availability - Can someone prevent my system from otherwise functioning? note that leaving something unplugged solves confidentiality and integrity :)</a:t>
            </a:r>
          </a:p>
          <a:p>
            <a:endParaRPr lang="en-US" dirty="0"/>
          </a:p>
          <a:p>
            <a:r>
              <a:rPr lang="en-US" dirty="0"/>
              <a:t>Discussion: Think about recent examples of security events and how they violated these properties</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4</a:t>
            </a:fld>
            <a:endParaRPr lang="en-US" dirty="0"/>
          </a:p>
        </p:txBody>
      </p:sp>
    </p:spTree>
    <p:extLst>
      <p:ext uri="{BB962C8B-B14F-4D97-AF65-F5344CB8AC3E}">
        <p14:creationId xmlns:p14="http://schemas.microsoft.com/office/powerpoint/2010/main" val="1530890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5</a:t>
            </a:fld>
            <a:endParaRPr lang="en-US" dirty="0"/>
          </a:p>
        </p:txBody>
      </p:sp>
    </p:spTree>
    <p:extLst>
      <p:ext uri="{BB962C8B-B14F-4D97-AF65-F5344CB8AC3E}">
        <p14:creationId xmlns:p14="http://schemas.microsoft.com/office/powerpoint/2010/main" val="20411797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Here is a very simple threat model that we will use for this module.</a:t>
            </a:r>
          </a:p>
        </p:txBody>
      </p:sp>
      <p:sp>
        <p:nvSpPr>
          <p:cNvPr id="4" name="Slide Number Placeholder 3"/>
          <p:cNvSpPr>
            <a:spLocks noGrp="1"/>
          </p:cNvSpPr>
          <p:nvPr>
            <p:ph type="sldNum" sz="quarter" idx="5"/>
          </p:nvPr>
        </p:nvSpPr>
        <p:spPr/>
        <p:txBody>
          <a:bodyPr/>
          <a:lstStyle/>
          <a:p>
            <a:fld id="{07937F07-1250-4CCE-B198-1B2887014F41}" type="slidenum">
              <a:rPr lang="en-US" smtClean="0"/>
              <a:t>8</a:t>
            </a:fld>
            <a:endParaRPr lang="en-US" dirty="0"/>
          </a:p>
        </p:txBody>
      </p:sp>
    </p:spTree>
    <p:extLst>
      <p:ext uri="{BB962C8B-B14F-4D97-AF65-F5344CB8AC3E}">
        <p14:creationId xmlns:p14="http://schemas.microsoft.com/office/powerpoint/2010/main" val="8555166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Shape 158"/>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59" name="Shape 159"/>
          <p:cNvSpPr>
            <a:spLocks noGrp="1"/>
          </p:cNvSpPr>
          <p:nvPr>
            <p:ph type="body" sz="quarter" idx="1"/>
          </p:nvPr>
        </p:nvSpPr>
        <p:spPr>
          <a:prstGeom prst="rect">
            <a:avLst/>
          </a:prstGeom>
        </p:spPr>
        <p:txBody>
          <a:bodyPr/>
          <a:lstStyle/>
          <a:p>
            <a:r>
              <a:rPr lang="en-US" dirty="0"/>
              <a:t>The process of considering the potential risks, and ”non risks”, or trusted actors/components, is called “threat modeling”.</a:t>
            </a:r>
          </a:p>
          <a:p>
            <a:endParaRPr lang="en-US" dirty="0"/>
          </a:p>
          <a:p>
            <a:r>
              <a:rPr lang="en-US" dirty="0"/>
              <a:t>This is typically a structured process in which an organization analyzes questions like:</a:t>
            </a:r>
          </a:p>
          <a:p>
            <a:endParaRPr lang="en-US" dirty="0"/>
          </a:p>
          <a:p>
            <a:r>
              <a:rPr lang="en-US" dirty="0"/>
              <a:t>(read slide)</a:t>
            </a:r>
          </a:p>
          <a:p>
            <a:endParaRPr lang="en-US" dirty="0"/>
          </a:p>
          <a:p>
            <a:r>
              <a:rPr lang="en-US" dirty="0"/>
              <a:t>Of course, creating a threat model is not a one-time event.  The model will need to be continually revised during the development process as the system is refined, and after deployment as the environment changes.</a:t>
            </a:r>
          </a:p>
          <a:p>
            <a:endParaRPr lang="en-US" dirty="0"/>
          </a:p>
          <a:p>
            <a:r>
              <a:rPr lang="en-US" dirty="0"/>
              <a:t>Of course there’s a whole ecosystem of consultants to help with this process.</a:t>
            </a:r>
          </a:p>
          <a:p>
            <a:endParaRPr lang="en-US" dirty="0"/>
          </a:p>
        </p:txBody>
      </p:sp>
    </p:spTree>
    <p:extLst>
      <p:ext uri="{BB962C8B-B14F-4D97-AF65-F5344CB8AC3E}">
        <p14:creationId xmlns:p14="http://schemas.microsoft.com/office/powerpoint/2010/main" val="26771403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2264C-DFEB-53E4-5B35-4BC6D2449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9F692-70A1-39A9-0EC0-C3C08A93BF2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B0DF6A1-3525-9D88-A1F3-DB794DC15C53}"/>
              </a:ext>
            </a:extLst>
          </p:cNvPr>
          <p:cNvSpPr>
            <a:spLocks noGrp="1"/>
          </p:cNvSpPr>
          <p:nvPr>
            <p:ph type="body" idx="1"/>
          </p:nvPr>
        </p:nvSpPr>
        <p:spPr/>
        <p:txBody>
          <a:bodyPr/>
          <a:lstStyle/>
          <a:p>
            <a:r>
              <a:rPr lang="en-US" dirty="0"/>
              <a:t>&lt;read slide&gt;</a:t>
            </a:r>
          </a:p>
        </p:txBody>
      </p:sp>
      <p:sp>
        <p:nvSpPr>
          <p:cNvPr id="4" name="Slide Number Placeholder 3">
            <a:extLst>
              <a:ext uri="{FF2B5EF4-FFF2-40B4-BE49-F238E27FC236}">
                <a16:creationId xmlns:a16="http://schemas.microsoft.com/office/drawing/2014/main" id="{8EC0CF62-788E-81B9-E348-BCCB3517B8C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8064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Shape 142"/>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43" name="Shape 143"/>
          <p:cNvSpPr>
            <a:spLocks noGrp="1"/>
          </p:cNvSpPr>
          <p:nvPr>
            <p:ph type="body" sz="quarter" idx="1"/>
          </p:nvPr>
        </p:nvSpPr>
        <p:spPr>
          <a:prstGeom prst="rect">
            <a:avLst/>
          </a:prstGeom>
        </p:spPr>
        <p:txBody>
          <a:bodyPr/>
          <a:lstStyle/>
          <a:p>
            <a:r>
              <a:rPr dirty="0"/>
              <a:t>Before getting into software security, let’s talk a bit about physical security. Imagine that you have just moved to a new house, and someone just moved out. Are there things that you would want to do to secure your belongings?</a:t>
            </a:r>
            <a:br>
              <a:rPr dirty="0"/>
            </a:br>
            <a:r>
              <a:rPr dirty="0"/>
              <a:t>For instance - do you change the locks? Maybe you are concerned that the former tenant still has keys.</a:t>
            </a:r>
            <a:endParaRPr lang="en-US" dirty="0"/>
          </a:p>
          <a:p>
            <a:r>
              <a:rPr lang="en-US" dirty="0"/>
              <a:t>(Walk through example, then ultimately point out that you live in a house with lots of glass)</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181F5-3820-FAC0-5B06-7EE37F494CAE}"/>
            </a:ext>
          </a:extLst>
        </p:cNvPr>
        <p:cNvGrpSpPr/>
        <p:nvPr/>
      </p:nvGrpSpPr>
      <p:grpSpPr>
        <a:xfrm>
          <a:off x="0" y="0"/>
          <a:ext cx="0" cy="0"/>
          <a:chOff x="0" y="0"/>
          <a:chExt cx="0" cy="0"/>
        </a:xfrm>
      </p:grpSpPr>
      <p:sp>
        <p:nvSpPr>
          <p:cNvPr id="142" name="Shape 142">
            <a:extLst>
              <a:ext uri="{FF2B5EF4-FFF2-40B4-BE49-F238E27FC236}">
                <a16:creationId xmlns:a16="http://schemas.microsoft.com/office/drawing/2014/main" id="{D06796F1-7EB9-B9E5-0DA6-FF6E98E5C52B}"/>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43" name="Shape 143">
            <a:extLst>
              <a:ext uri="{FF2B5EF4-FFF2-40B4-BE49-F238E27FC236}">
                <a16:creationId xmlns:a16="http://schemas.microsoft.com/office/drawing/2014/main" id="{ACD82C4D-926C-5022-6AB8-C61B220CEB0E}"/>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11696416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p:cNvSpPr>
            <a:spLocks noGrp="1"/>
          </p:cNvSpPr>
          <p:nvPr>
            <p:ph type="body" idx="1"/>
          </p:nvPr>
        </p:nvSpPr>
        <p:spPr/>
        <p:txBody>
          <a:bodyPr/>
          <a:lstStyle/>
          <a:p>
            <a:pPr marL="0" marR="0" lvl="0" indent="0" defTabSz="457200" eaLnBrk="1" fontAlgn="auto" latinLnBrk="0" hangingPunct="1">
              <a:lnSpc>
                <a:spcPct val="117999"/>
              </a:lnSpc>
              <a:spcBef>
                <a:spcPts val="0"/>
              </a:spcBef>
              <a:spcAft>
                <a:spcPts val="0"/>
              </a:spcAft>
              <a:buClrTx/>
              <a:buSzTx/>
              <a:buFontTx/>
              <a:buNone/>
              <a:tabLst/>
              <a:defRPr/>
            </a:pPr>
            <a:r>
              <a:rPr lang="en-US" dirty="0"/>
              <a:t>Here are 5 general classes of vulnerabilities. For each vulnerability, we will look at possible exploits and possible mitigations.</a:t>
            </a:r>
          </a:p>
          <a:p>
            <a:pPr marL="0" marR="0" lvl="0" indent="0" defTabSz="457200" eaLnBrk="1" fontAlgn="auto" latinLnBrk="0" hangingPunct="1">
              <a:lnSpc>
                <a:spcPct val="117999"/>
              </a:lnSpc>
              <a:spcBef>
                <a:spcPts val="0"/>
              </a:spcBef>
              <a:spcAft>
                <a:spcPts val="0"/>
              </a:spcAft>
              <a:buClrTx/>
              <a:buSzTx/>
              <a:buFontTx/>
              <a:buNone/>
              <a:tabLst/>
              <a:defRPr/>
            </a:pPr>
            <a:endParaRPr lang="en-US" dirty="0"/>
          </a:p>
          <a:p>
            <a:pPr marL="0" marR="0" lvl="0" indent="0" defTabSz="457200" eaLnBrk="1" fontAlgn="auto" latinLnBrk="0" hangingPunct="1">
              <a:lnSpc>
                <a:spcPct val="117999"/>
              </a:lnSpc>
              <a:spcBef>
                <a:spcPts val="0"/>
              </a:spcBef>
              <a:spcAft>
                <a:spcPts val="0"/>
              </a:spcAft>
              <a:buClrTx/>
              <a:buSzTx/>
              <a:buFontTx/>
              <a:buNone/>
              <a:tabLst/>
              <a:defRPr/>
            </a:pPr>
            <a:r>
              <a:rPr lang="en-US" dirty="0"/>
              <a:t>An unfortunate recurring theme that we will see in these defenses is that there is no silver bullet. An extremely motivated attacker (say, a nation-state like the US, China, or Russia) can likely, with enough time and resources, break into anything. But, we will see what we can do to increase the cost of that attack.</a:t>
            </a:r>
          </a:p>
        </p:txBody>
      </p:sp>
    </p:spTree>
    <p:extLst>
      <p:ext uri="{BB962C8B-B14F-4D97-AF65-F5344CB8AC3E}">
        <p14:creationId xmlns:p14="http://schemas.microsoft.com/office/powerpoint/2010/main" val="31045122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mn-lt"/>
                <a:ea typeface="+mn-ea"/>
                <a:cs typeface="+mn-cs"/>
                <a:sym typeface="Helvetica Neue"/>
              </a:rPr>
              <a:t>What if we put some sensitive code in the front end of our web app?  In general, there’s nothing to prevent the user from looking at the code or modifying it.  Here, the correct password is sitting in plaintext where the user can find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ffectLst/>
              <a:latin typeface="+mn-lt"/>
              <a:ea typeface="+mn-ea"/>
              <a:cs typeface="+mn-cs"/>
              <a:sym typeface="Helvetica Neu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mn-lt"/>
                <a:ea typeface="+mn-ea"/>
                <a:cs typeface="+mn-cs"/>
                <a:sym typeface="Helvetica Neue"/>
              </a:rPr>
              <a:t>That’s an extreme example, of course, but there are others:  the user might be able to extract keys and other secrets from the front-end code.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ffectLst/>
              <a:latin typeface="+mn-lt"/>
              <a:ea typeface="+mn-ea"/>
              <a:cs typeface="+mn-cs"/>
              <a:sym typeface="Helvetica Neue"/>
            </a:endParaRPr>
          </a:p>
          <a:p>
            <a:r>
              <a:rPr lang="en-US" dirty="0"/>
              <a:t>The general fix to this is to move that sensitive code into our backend, which we should, hopefully, trust to faithfully execute the code.</a:t>
            </a:r>
          </a:p>
          <a:p>
            <a:endParaRPr lang="en-US" dirty="0"/>
          </a:p>
          <a:p>
            <a:r>
              <a:rPr lang="en-US" dirty="0"/>
              <a:t>Another example: if we have external services (like a database, or some other API, like one for accessing cloud resources), we might be tempted to distribute our database password (or key for third party API) with the application, so that it can directly connect to our database.</a:t>
            </a:r>
          </a:p>
          <a:p>
            <a:endParaRPr lang="en-US" dirty="0"/>
          </a:p>
          <a:p>
            <a:r>
              <a:rPr lang="en-US" dirty="0"/>
              <a:t>Our frontend might try to restrict what data the user can access, but because the user can also use these credentials to directly connect to our database, they will have the power to do whatever is permitted for those credentials.</a:t>
            </a:r>
          </a:p>
          <a:p>
            <a:endParaRPr lang="en-US" dirty="0"/>
          </a:p>
          <a:p>
            <a:endParaRPr lang="en-US" dirty="0"/>
          </a:p>
          <a:p>
            <a:r>
              <a:rPr lang="en-US" dirty="0"/>
              <a:t>(Professor Wand says:  yes, this animation is cheesy, but I had way too much fun doing it).</a:t>
            </a:r>
          </a:p>
        </p:txBody>
      </p:sp>
    </p:spTree>
    <p:extLst>
      <p:ext uri="{BB962C8B-B14F-4D97-AF65-F5344CB8AC3E}">
        <p14:creationId xmlns:p14="http://schemas.microsoft.com/office/powerpoint/2010/main" val="16638143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&lt;click&gt;</a:t>
            </a:r>
          </a:p>
          <a:p>
            <a:r>
              <a:rPr lang="en-US" dirty="0"/>
              <a:t>Answer: Gradescope!</a:t>
            </a:r>
          </a:p>
        </p:txBody>
      </p:sp>
      <p:sp>
        <p:nvSpPr>
          <p:cNvPr id="4" name="Slide Number Placeholder 3"/>
          <p:cNvSpPr>
            <a:spLocks noGrp="1"/>
          </p:cNvSpPr>
          <p:nvPr>
            <p:ph type="sldNum" sz="quarter" idx="5"/>
          </p:nvPr>
        </p:nvSpPr>
        <p:spPr/>
        <p:txBody>
          <a:bodyPr/>
          <a:lstStyle/>
          <a:p>
            <a:fld id="{07937F07-1250-4CCE-B198-1B2887014F41}" type="slidenum">
              <a:rPr lang="en-US" smtClean="0"/>
              <a:t>16</a:t>
            </a:fld>
            <a:endParaRPr lang="en-US" dirty="0"/>
          </a:p>
        </p:txBody>
      </p:sp>
    </p:spTree>
    <p:extLst>
      <p:ext uri="{BB962C8B-B14F-4D97-AF65-F5344CB8AC3E}">
        <p14:creationId xmlns:p14="http://schemas.microsoft.com/office/powerpoint/2010/main" val="25644070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p:cNvSpPr>
            <a:spLocks noGrp="1"/>
          </p:cNvSpPr>
          <p:nvPr>
            <p:ph type="body" idx="1"/>
          </p:nvPr>
        </p:nvSpPr>
        <p:spPr/>
        <p:txBody>
          <a:bodyPr/>
          <a:lstStyle/>
          <a:p>
            <a:r>
              <a:rPr lang="en-US" dirty="0"/>
              <a:t>The next class of threat that we will consider is: untrusted user inputs. Imagine that we have solved our problem of “do we trust where the code runs” by running that code on our own server that we control. Surely, we still receive inputs from users, who we should not trust.</a:t>
            </a:r>
          </a:p>
          <a:p>
            <a:endParaRPr lang="en-US" dirty="0"/>
          </a:p>
          <a:p>
            <a:r>
              <a:rPr lang="en-US" dirty="0"/>
              <a:t>Here is a pop-culture reference from XKCD that makes fun of this class of threat</a:t>
            </a:r>
          </a:p>
        </p:txBody>
      </p:sp>
    </p:spTree>
    <p:extLst>
      <p:ext uri="{BB962C8B-B14F-4D97-AF65-F5344CB8AC3E}">
        <p14:creationId xmlns:p14="http://schemas.microsoft.com/office/powerpoint/2010/main" val="26326377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Shape 142"/>
          <p:cNvSpPr>
            <a:spLocks noGrp="1" noRot="1" noChangeAspect="1"/>
          </p:cNvSpPr>
          <p:nvPr>
            <p:ph type="sldImg"/>
          </p:nvPr>
        </p:nvSpPr>
        <p:spPr>
          <a:prstGeom prst="rect">
            <a:avLst/>
          </a:prstGeom>
        </p:spPr>
        <p:txBody>
          <a:bodyPr/>
          <a:lstStyle/>
          <a:p>
            <a:endParaRPr dirty="0"/>
          </a:p>
        </p:txBody>
      </p:sp>
      <p:sp>
        <p:nvSpPr>
          <p:cNvPr id="143" name="Shape 143"/>
          <p:cNvSpPr>
            <a:spLocks noGrp="1"/>
          </p:cNvSpPr>
          <p:nvPr>
            <p:ph type="body" sz="quarter" idx="1"/>
          </p:nvPr>
        </p:nvSpPr>
        <p:spPr>
          <a:prstGeom prst="rect">
            <a:avLst/>
          </a:prstGeom>
        </p:spPr>
        <p:txBody>
          <a:bodyPr/>
          <a:lstStyle/>
          <a:p>
            <a:r>
              <a:rPr lang="en-US" dirty="0"/>
              <a:t>Here’s a real example.  By putting in a suitably crafted query into an innocuous-looking query, a user could select ALL accounts in the database.  This is number 3 in the OWASP list of most common vulnerabilities (the link is on the slide, and also in the resources links for this lecture). OWASP stands for the Oen Web Application Security Project.</a:t>
            </a: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p:cNvSpPr>
            <a:spLocks noGrp="1"/>
          </p:cNvSpPr>
          <p:nvPr>
            <p:ph type="body" idx="1"/>
          </p:nvPr>
        </p:nvSpPr>
        <p:spPr/>
        <p:txBody>
          <a:bodyPr/>
          <a:lstStyle/>
          <a:p>
            <a:r>
              <a:rPr lang="en-US" dirty="0"/>
              <a:t>For example: the Equifax data breach in 2017 that has thus-far cost the firm over 1.4 billion dollars was caused by a vulnerability in their web app, which allowed untrusted user input to flow into a part of the application that would then execute that input as java code.</a:t>
            </a:r>
          </a:p>
        </p:txBody>
      </p:sp>
    </p:spTree>
    <p:extLst>
      <p:ext uri="{BB962C8B-B14F-4D97-AF65-F5344CB8AC3E}">
        <p14:creationId xmlns:p14="http://schemas.microsoft.com/office/powerpoint/2010/main" val="39648524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Followup</a:t>
            </a:r>
            <a:r>
              <a:rPr lang="en-US" dirty="0"/>
              <a:t>:  After the authors identified the problem, they attempted to report it.  On the website they wrote:</a:t>
            </a:r>
          </a:p>
          <a:p>
            <a:endParaRPr lang="en-US" dirty="0"/>
          </a:p>
          <a:p>
            <a:r>
              <a:rPr lang="en-US" b="0" i="0" dirty="0">
                <a:solidFill>
                  <a:srgbClr val="37352F"/>
                </a:solidFill>
                <a:effectLst/>
                <a:latin typeface="Inter"/>
              </a:rPr>
              <a:t>We ended up finding several more serious issues but began the disclosure process immediately after finding the first issue.</a:t>
            </a:r>
            <a:endParaRPr lang="en-US" dirty="0"/>
          </a:p>
          <a:p>
            <a:endParaRPr lang="en-US" dirty="0"/>
          </a:p>
          <a:p>
            <a:pPr algn="l"/>
            <a:r>
              <a:rPr lang="en-US" b="0" i="0" dirty="0">
                <a:solidFill>
                  <a:srgbClr val="37352F"/>
                </a:solidFill>
                <a:effectLst/>
                <a:latin typeface="Inter"/>
              </a:rPr>
              <a:t>We had difficulty identifying the right disclosure contact for this issue. We did not want to contact </a:t>
            </a:r>
            <a:r>
              <a:rPr lang="en-US" b="0" i="0" dirty="0" err="1">
                <a:solidFill>
                  <a:srgbClr val="37352F"/>
                </a:solidFill>
                <a:effectLst/>
                <a:latin typeface="Inter"/>
              </a:rPr>
              <a:t>FlyCASS</a:t>
            </a:r>
            <a:r>
              <a:rPr lang="en-US" b="0" i="0" dirty="0">
                <a:solidFill>
                  <a:srgbClr val="37352F"/>
                </a:solidFill>
                <a:effectLst/>
                <a:latin typeface="Inter"/>
              </a:rPr>
              <a:t> first as it appeared to be operated only by one person and we did not want to alarm them. On April 23rd, we were able to disclose the issue to the Department of Homeland Security, who acknowledged the issue and confirmed that they “are taking this very seriously”. </a:t>
            </a:r>
            <a:r>
              <a:rPr lang="en-US" b="0" i="0" dirty="0" err="1">
                <a:solidFill>
                  <a:srgbClr val="37352F"/>
                </a:solidFill>
                <a:effectLst/>
                <a:latin typeface="Inter"/>
              </a:rPr>
              <a:t>FlyCASS</a:t>
            </a:r>
            <a:r>
              <a:rPr lang="en-US" b="0" i="0" dirty="0">
                <a:solidFill>
                  <a:srgbClr val="37352F"/>
                </a:solidFill>
                <a:effectLst/>
                <a:latin typeface="Inter"/>
              </a:rPr>
              <a:t> was subsequently disabled in KCM/CASS and later appears to have remediated the issues.</a:t>
            </a:r>
          </a:p>
          <a:p>
            <a:pPr algn="l"/>
            <a:r>
              <a:rPr lang="en-US" b="0" i="0" dirty="0">
                <a:solidFill>
                  <a:srgbClr val="37352F"/>
                </a:solidFill>
                <a:effectLst/>
                <a:latin typeface="Inter"/>
              </a:rPr>
              <a:t>After the issue was fixed, we attempted to coordinate the safe disclosure of this issue. Unfortunately, instead of working with us, the Department of Homeland Security stopped responding to us, and the TSA press office issued dangerously incorrect statements about the vulnerability, denying what we had discovered.</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20</a:t>
            </a:fld>
            <a:endParaRPr lang="en-US"/>
          </a:p>
        </p:txBody>
      </p:sp>
    </p:spTree>
    <p:extLst>
      <p:ext uri="{BB962C8B-B14F-4D97-AF65-F5344CB8AC3E}">
        <p14:creationId xmlns:p14="http://schemas.microsoft.com/office/powerpoint/2010/main" val="34786521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Special characters like &lt;, &gt;, ‘, “ and ` are often involved in exploits involving untrusted inputs.   So filter them, and use tools to make sure that every data flow involving user input is filtered.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Query languages might have “safe” </a:t>
            </a:r>
            <a:r>
              <a:rPr lang="en-US" dirty="0" err="1"/>
              <a:t>apis</a:t>
            </a:r>
            <a:r>
              <a:rPr lang="en-US" dirty="0"/>
              <a:t> and “unsafe” APIs, where the “Safe” APIs automatically perform some sanitization, allowing you to add place-holders for arguments to a query that YOU define, where the user-controlled input can ONLY flow into a specific part of the query (preventing the attacker from constructing their own query)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Don’t use “unsafe” languages like C or C++.  In these languages you can write beyond a valid array index. Such buffer overflows are the primary way in which an attacker can execute arbitrary code on your app.  (There are whole conferences devoted to ways of preventing this.)</a:t>
            </a:r>
          </a:p>
          <a:p>
            <a:endParaRPr lang="en-US" dirty="0"/>
          </a:p>
          <a:p>
            <a:r>
              <a:rPr lang="en-US" dirty="0"/>
              <a:t>And of course don’t use ‘eval’ in JS.  Use a lint filter to check for this.</a:t>
            </a:r>
          </a:p>
        </p:txBody>
      </p:sp>
    </p:spTree>
    <p:extLst>
      <p:ext uri="{BB962C8B-B14F-4D97-AF65-F5344CB8AC3E}">
        <p14:creationId xmlns:p14="http://schemas.microsoft.com/office/powerpoint/2010/main" val="20646787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D04E1-52F2-A20B-6FAB-9F39A40A7B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25568E-B48B-B331-5F4A-32FA9215142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53D1D66-2EE4-EE84-DBF7-4A64A9CD7C71}"/>
              </a:ext>
            </a:extLst>
          </p:cNvPr>
          <p:cNvSpPr>
            <a:spLocks noGrp="1"/>
          </p:cNvSpPr>
          <p:nvPr>
            <p:ph type="body" idx="1"/>
          </p:nvPr>
        </p:nvSpPr>
        <p:spPr/>
        <p:txBody>
          <a:bodyPr/>
          <a:lstStyle/>
          <a:p>
            <a:r>
              <a:rPr lang="en-US" dirty="0"/>
              <a:t>"Identification and Authentication Failures" is #7 on the 2021 OWASP Top 10 Web Application Security Risks.  (See the page for this module on the course web site for URL).</a:t>
            </a:r>
          </a:p>
          <a:p>
            <a:r>
              <a:rPr lang="en-US" dirty="0" err="1"/>
              <a:t>i</a:t>
            </a:r>
            <a:endParaRPr lang="en-US" dirty="0"/>
          </a:p>
        </p:txBody>
      </p:sp>
      <p:sp>
        <p:nvSpPr>
          <p:cNvPr id="4" name="Slide Number Placeholder 3">
            <a:extLst>
              <a:ext uri="{FF2B5EF4-FFF2-40B4-BE49-F238E27FC236}">
                <a16:creationId xmlns:a16="http://schemas.microsoft.com/office/drawing/2014/main" id="{4E241BB5-B309-EAA2-5EB8-9D6DB8BDB9B6}"/>
              </a:ext>
            </a:extLst>
          </p:cNvPr>
          <p:cNvSpPr>
            <a:spLocks noGrp="1"/>
          </p:cNvSpPr>
          <p:nvPr>
            <p:ph type="sldNum" sz="quarter" idx="5"/>
          </p:nvPr>
        </p:nvSpPr>
        <p:spPr/>
        <p:txBody>
          <a:bodyPr/>
          <a:lstStyle/>
          <a:p>
            <a:fld id="{07937F07-1250-4CCE-B198-1B2887014F41}" type="slidenum">
              <a:rPr lang="en-US" smtClean="0"/>
              <a:t>22</a:t>
            </a:fld>
            <a:endParaRPr lang="en-US"/>
          </a:p>
        </p:txBody>
      </p:sp>
    </p:spTree>
    <p:extLst>
      <p:ext uri="{BB962C8B-B14F-4D97-AF65-F5344CB8AC3E}">
        <p14:creationId xmlns:p14="http://schemas.microsoft.com/office/powerpoint/2010/main" val="15267855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(Of course, hash codes are smaller than the thing they are hashing, so they can't possibly be 1-1,  but it will be impractically hard to go from a hash code h to ANY m </a:t>
            </a:r>
            <a:r>
              <a:rPr lang="en-US" dirty="0" err="1"/>
              <a:t>s.t.</a:t>
            </a:r>
            <a:r>
              <a:rPr lang="en-US" dirty="0"/>
              <a:t> hash(m) = h.)</a:t>
            </a:r>
          </a:p>
        </p:txBody>
      </p:sp>
      <p:sp>
        <p:nvSpPr>
          <p:cNvPr id="4" name="Slide Number Placeholder 3"/>
          <p:cNvSpPr>
            <a:spLocks noGrp="1"/>
          </p:cNvSpPr>
          <p:nvPr>
            <p:ph type="sldNum" sz="quarter" idx="5"/>
          </p:nvPr>
        </p:nvSpPr>
        <p:spPr/>
        <p:txBody>
          <a:bodyPr/>
          <a:lstStyle/>
          <a:p>
            <a:fld id="{07937F07-1250-4CCE-B198-1B2887014F41}" type="slidenum">
              <a:rPr lang="en-US" smtClean="0"/>
              <a:t>23</a:t>
            </a:fld>
            <a:endParaRPr lang="en-US"/>
          </a:p>
        </p:txBody>
      </p:sp>
    </p:spTree>
    <p:extLst>
      <p:ext uri="{BB962C8B-B14F-4D97-AF65-F5344CB8AC3E}">
        <p14:creationId xmlns:p14="http://schemas.microsoft.com/office/powerpoint/2010/main" val="17136108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00906-8D47-F734-0F94-06637BF5D2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AF0593-565C-82C0-A3A0-AAD28E06745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1C569BF-EC7D-85A1-89B9-DFC26648D9DA}"/>
              </a:ext>
            </a:extLst>
          </p:cNvPr>
          <p:cNvSpPr>
            <a:spLocks noGrp="1"/>
          </p:cNvSpPr>
          <p:nvPr>
            <p:ph type="body" idx="1"/>
          </p:nvPr>
        </p:nvSpPr>
        <p:spPr/>
        <p:txBody>
          <a:bodyPr/>
          <a:lstStyle/>
          <a:p>
            <a:r>
              <a:rPr lang="en-US" dirty="0"/>
              <a:t>Give it to someone else — almost always the right move for credit card numbers! But not for </a:t>
            </a:r>
          </a:p>
        </p:txBody>
      </p:sp>
      <p:sp>
        <p:nvSpPr>
          <p:cNvPr id="4" name="Slide Number Placeholder 3">
            <a:extLst>
              <a:ext uri="{FF2B5EF4-FFF2-40B4-BE49-F238E27FC236}">
                <a16:creationId xmlns:a16="http://schemas.microsoft.com/office/drawing/2014/main" id="{00DCB12A-70ED-165F-F48D-ADAB9E512B4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32153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Next, let’s consider so-called software supply chain threats. </a:t>
            </a:r>
            <a:br>
              <a:rPr lang="en-US" dirty="0"/>
            </a:br>
            <a:endParaRPr lang="en-US" dirty="0"/>
          </a:p>
        </p:txBody>
      </p:sp>
    </p:spTree>
    <p:extLst>
      <p:ext uri="{BB962C8B-B14F-4D97-AF65-F5344CB8AC3E}">
        <p14:creationId xmlns:p14="http://schemas.microsoft.com/office/powerpoint/2010/main" val="18417231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The “software supply chain” includes many potential points of weakness. We might need to consider threats at each phase of the software development and deployment process, including:</a:t>
            </a:r>
          </a:p>
          <a:p>
            <a:pPr marL="342900" indent="-342900">
              <a:buFont typeface="Arial" panose="020B0604020202020204" pitchFamily="34" charset="0"/>
              <a:buChar char="•"/>
            </a:pPr>
            <a:r>
              <a:rPr lang="en-US" dirty="0"/>
              <a:t>External dependencies: potential for malicious dependencies</a:t>
            </a:r>
          </a:p>
          <a:p>
            <a:pPr marL="342900" indent="-342900">
              <a:buFont typeface="Arial" panose="020B0604020202020204" pitchFamily="34" charset="0"/>
              <a:buChar char="•"/>
            </a:pPr>
            <a:r>
              <a:rPr lang="en-US" dirty="0"/>
              <a:t>In-house code: potential for insider attack (a developer who is either malicious, or whose laptop has been otherwise compromised through another vulnerability)</a:t>
            </a:r>
          </a:p>
          <a:p>
            <a:pPr marL="342900" indent="-342900">
              <a:buFont typeface="Arial" panose="020B0604020202020204" pitchFamily="34" charset="0"/>
              <a:buChar char="•"/>
            </a:pPr>
            <a:r>
              <a:rPr lang="en-US" dirty="0"/>
              <a:t>Build process: potential for build system to be compromised through another vulnerability or insider attack</a:t>
            </a:r>
          </a:p>
          <a:p>
            <a:pPr marL="342900" indent="-342900">
              <a:buFont typeface="Arial" panose="020B0604020202020204" pitchFamily="34" charset="0"/>
              <a:buChar char="•"/>
            </a:pPr>
            <a:r>
              <a:rPr lang="en-US" dirty="0"/>
              <a:t>Distribution process: potential for a malicious update to be pushed out to your customers</a:t>
            </a:r>
          </a:p>
          <a:p>
            <a:pPr marL="342900" indent="-342900">
              <a:buFont typeface="Arial" panose="020B0604020202020204" pitchFamily="34" charset="0"/>
              <a:buChar char="•"/>
            </a:pPr>
            <a:r>
              <a:rPr lang="en-US" dirty="0"/>
              <a:t>Operating environment: potential for other threats in the operating environment to result in a compromise of our software</a:t>
            </a:r>
          </a:p>
        </p:txBody>
      </p:sp>
    </p:spTree>
    <p:extLst>
      <p:ext uri="{BB962C8B-B14F-4D97-AF65-F5344CB8AC3E}">
        <p14:creationId xmlns:p14="http://schemas.microsoft.com/office/powerpoint/2010/main" val="15691502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Let’s look at a couple of examples.  In 2018, a malicious version of an </a:t>
            </a:r>
            <a:r>
              <a:rPr lang="en-US" dirty="0" err="1"/>
              <a:t>eslint</a:t>
            </a:r>
            <a:r>
              <a:rPr lang="en-US" dirty="0"/>
              <a:t> package called </a:t>
            </a:r>
            <a:r>
              <a:rPr lang="en-US" dirty="0" err="1"/>
              <a:t>eslint</a:t>
            </a:r>
            <a:r>
              <a:rPr lang="en-US" dirty="0"/>
              <a:t>-scope was published. This was a quite serious issue.</a:t>
            </a:r>
          </a:p>
          <a:p>
            <a:endParaRPr lang="en-US" dirty="0"/>
          </a:p>
          <a:p>
            <a:r>
              <a:rPr lang="en-US" dirty="0"/>
              <a:t>https://eslint.org/blog/2018/07/postmortem-for-malicious-package-publishes/</a:t>
            </a:r>
          </a:p>
        </p:txBody>
      </p:sp>
      <p:sp>
        <p:nvSpPr>
          <p:cNvPr id="4" name="Slide Number Placeholder 3"/>
          <p:cNvSpPr>
            <a:spLocks noGrp="1"/>
          </p:cNvSpPr>
          <p:nvPr>
            <p:ph type="sldNum" sz="quarter" idx="5"/>
          </p:nvPr>
        </p:nvSpPr>
        <p:spPr/>
        <p:txBody>
          <a:bodyPr/>
          <a:lstStyle/>
          <a:p>
            <a:fld id="{07937F07-1250-4CCE-B198-1B2887014F41}" type="slidenum">
              <a:rPr lang="en-US" smtClean="0"/>
              <a:t>30</a:t>
            </a:fld>
            <a:endParaRPr lang="en-US"/>
          </a:p>
        </p:txBody>
      </p:sp>
    </p:spTree>
    <p:extLst>
      <p:ext uri="{BB962C8B-B14F-4D97-AF65-F5344CB8AC3E}">
        <p14:creationId xmlns:p14="http://schemas.microsoft.com/office/powerpoint/2010/main" val="23569168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Let’s look at the sequence of events, as explained in the post-mortem report on the preceding slide.</a:t>
            </a:r>
          </a:p>
          <a:p>
            <a:endParaRPr lang="en-US" dirty="0"/>
          </a:p>
          <a:p>
            <a:r>
              <a:rPr lang="en-US" dirty="0"/>
              <a:t>&lt;Read Slide&gt;</a:t>
            </a:r>
          </a:p>
          <a:p>
            <a:endParaRPr lang="en-US" dirty="0"/>
          </a:p>
          <a:p>
            <a:r>
              <a:rPr lang="en-US" dirty="0"/>
              <a:t>Discuss:  how many violations of good security practices do you see here?</a:t>
            </a:r>
          </a:p>
          <a:p>
            <a:endParaRPr lang="en-US" dirty="0"/>
          </a:p>
          <a:p>
            <a:pPr marL="228600" indent="-228600">
              <a:buAutoNum type="arabicPeriod"/>
            </a:pPr>
            <a:r>
              <a:rPr lang="en-US" dirty="0"/>
              <a:t>The developer used the same password on two different sites</a:t>
            </a:r>
          </a:p>
          <a:p>
            <a:pPr marL="228600" indent="-228600">
              <a:buAutoNum type="arabicPeriod"/>
            </a:pPr>
            <a:r>
              <a:rPr lang="en-US" dirty="0"/>
              <a:t>The other site did not use 2FA</a:t>
            </a:r>
          </a:p>
          <a:p>
            <a:pPr marL="228600" indent="-228600">
              <a:buAutoNum type="arabicPeriod"/>
            </a:pPr>
            <a:r>
              <a:rPr lang="en-US" dirty="0"/>
              <a:t>The other site did something else that allowed the password to leak.</a:t>
            </a:r>
          </a:p>
          <a:p>
            <a:pPr marL="228600" indent="-228600">
              <a:buAutoNum type="arabicPeriod"/>
            </a:pPr>
            <a:r>
              <a:rPr lang="en-US" dirty="0"/>
              <a:t>Users did not protect their packages against silent version updates.</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31</a:t>
            </a:fld>
            <a:endParaRPr lang="en-US"/>
          </a:p>
        </p:txBody>
      </p:sp>
    </p:spTree>
    <p:extLst>
      <p:ext uri="{BB962C8B-B14F-4D97-AF65-F5344CB8AC3E}">
        <p14:creationId xmlns:p14="http://schemas.microsoft.com/office/powerpoint/2010/main" val="2455575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Here is a list of significant vulnerabilities found in the most popular packages (“top 1%”).</a:t>
            </a:r>
          </a:p>
          <a:p>
            <a:endParaRPr lang="en-US" dirty="0"/>
          </a:p>
        </p:txBody>
      </p:sp>
    </p:spTree>
    <p:extLst>
      <p:ext uri="{BB962C8B-B14F-4D97-AF65-F5344CB8AC3E}">
        <p14:creationId xmlns:p14="http://schemas.microsoft.com/office/powerpoint/2010/main" val="9627138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A1C8F-DE90-AB8E-3653-14200B6A47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3829B7-6721-04AC-C6BE-2BE1F4DF037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593DA42-29F5-19A1-301A-093DED3B6319}"/>
              </a:ext>
            </a:extLst>
          </p:cNvPr>
          <p:cNvSpPr>
            <a:spLocks noGrp="1"/>
          </p:cNvSpPr>
          <p:nvPr>
            <p:ph type="body" idx="1"/>
          </p:nvPr>
        </p:nvSpPr>
        <p:spPr/>
        <p:txBody>
          <a:bodyPr/>
          <a:lstStyle/>
          <a:p>
            <a:r>
              <a:rPr lang="en-US" dirty="0"/>
              <a:t>The problem with supply-chain vulnerabilities is that they are recursive! Your suppliers' risks easily become your risks.</a:t>
            </a:r>
          </a:p>
        </p:txBody>
      </p:sp>
      <p:sp>
        <p:nvSpPr>
          <p:cNvPr id="4" name="Slide Number Placeholder 3">
            <a:extLst>
              <a:ext uri="{FF2B5EF4-FFF2-40B4-BE49-F238E27FC236}">
                <a16:creationId xmlns:a16="http://schemas.microsoft.com/office/drawing/2014/main" id="{B4E7FF2D-3FEA-FFCE-2ABB-4FE6893B0422}"/>
              </a:ext>
            </a:extLst>
          </p:cNvPr>
          <p:cNvSpPr>
            <a:spLocks noGrp="1"/>
          </p:cNvSpPr>
          <p:nvPr>
            <p:ph type="sldNum" sz="quarter" idx="5"/>
          </p:nvPr>
        </p:nvSpPr>
        <p:spPr/>
        <p:txBody>
          <a:bodyPr/>
          <a:lstStyle/>
          <a:p>
            <a:fld id="{07937F07-1250-4CCE-B198-1B2887014F41}" type="slidenum">
              <a:rPr lang="en-US" smtClean="0"/>
              <a:t>33</a:t>
            </a:fld>
            <a:endParaRPr lang="en-US"/>
          </a:p>
        </p:txBody>
      </p:sp>
    </p:spTree>
    <p:extLst>
      <p:ext uri="{BB962C8B-B14F-4D97-AF65-F5344CB8AC3E}">
        <p14:creationId xmlns:p14="http://schemas.microsoft.com/office/powerpoint/2010/main" val="38740649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Prof. Wand says:  I received two letters like this from two of my financial institutions within a week.</a:t>
            </a:r>
          </a:p>
          <a:p>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34</a:t>
            </a:fld>
            <a:endParaRPr lang="en-US"/>
          </a:p>
        </p:txBody>
      </p:sp>
    </p:spTree>
    <p:extLst>
      <p:ext uri="{BB962C8B-B14F-4D97-AF65-F5344CB8AC3E}">
        <p14:creationId xmlns:p14="http://schemas.microsoft.com/office/powerpoint/2010/main" val="15530053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Of course, supply-chain security risks include more than just software.  Your suppliers are subject to regulatory risks, transportation risks, </a:t>
            </a:r>
            <a:r>
              <a:rPr lang="en-US" dirty="0" err="1"/>
              <a:t>etc</a:t>
            </a:r>
            <a:r>
              <a:rPr lang="en-US" dirty="0"/>
              <a:t>, etc.  Will your supplier in West </a:t>
            </a:r>
            <a:r>
              <a:rPr lang="en-US" dirty="0" err="1"/>
              <a:t>Arstotzka</a:t>
            </a:r>
            <a:r>
              <a:rPr lang="en-US" dirty="0"/>
              <a:t> (*) be taken over by the government, or overrun by mercenaries or rioters?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of course there are consultants to help you manage all that. Here’s the web page of one such firm. (found after 30 seconds of googling)</a:t>
            </a:r>
          </a:p>
          <a:p>
            <a:endParaRPr lang="en-US" dirty="0"/>
          </a:p>
          <a:p>
            <a:endParaRPr lang="en-US" dirty="0"/>
          </a:p>
          <a:p>
            <a:r>
              <a:rPr lang="en-US" dirty="0"/>
              <a:t>[* </a:t>
            </a:r>
            <a:r>
              <a:rPr lang="en-US" dirty="0" err="1"/>
              <a:t>Arstzoska</a:t>
            </a:r>
            <a:r>
              <a:rPr lang="en-US" dirty="0"/>
              <a:t> is the name of a fictional country I  found on Wikipedia]</a:t>
            </a:r>
          </a:p>
        </p:txBody>
      </p:sp>
      <p:sp>
        <p:nvSpPr>
          <p:cNvPr id="4" name="Slide Number Placeholder 3"/>
          <p:cNvSpPr>
            <a:spLocks noGrp="1"/>
          </p:cNvSpPr>
          <p:nvPr>
            <p:ph type="sldNum" sz="quarter" idx="5"/>
          </p:nvPr>
        </p:nvSpPr>
        <p:spPr/>
        <p:txBody>
          <a:bodyPr/>
          <a:lstStyle/>
          <a:p>
            <a:fld id="{07937F07-1250-4CCE-B198-1B2887014F41}" type="slidenum">
              <a:rPr lang="en-US" smtClean="0"/>
              <a:t>35</a:t>
            </a:fld>
            <a:endParaRPr lang="en-US"/>
          </a:p>
        </p:txBody>
      </p:sp>
    </p:spTree>
    <p:extLst>
      <p:ext uri="{BB962C8B-B14F-4D97-AF65-F5344CB8AC3E}">
        <p14:creationId xmlns:p14="http://schemas.microsoft.com/office/powerpoint/2010/main" val="9981011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While we could easily solve problems in our own code by bolting on some useful additional components (like using SSL), it’s not so easy to solve threats to our software supply chain process – there need to be process-based solutions for these process-based problems.</a:t>
            </a:r>
          </a:p>
          <a:p>
            <a:endParaRPr lang="en-US" dirty="0"/>
          </a:p>
          <a:p>
            <a:r>
              <a:rPr lang="en-US" dirty="0"/>
              <a:t>These kinds of threats are currently some of the most-talked about (and most feared) because they are complex to defend against.</a:t>
            </a:r>
          </a:p>
          <a:p>
            <a:endParaRPr lang="en-US" dirty="0"/>
          </a:p>
          <a:p>
            <a:r>
              <a:rPr lang="en-US" dirty="0"/>
              <a:t>For example: how do we audit dependencies? Who does that, and when? What is “secure enough” for a dependency?</a:t>
            </a:r>
          </a:p>
          <a:p>
            <a:endParaRPr lang="en-US" dirty="0"/>
          </a:p>
          <a:p>
            <a:r>
              <a:rPr lang="en-US" dirty="0"/>
              <a:t>Who loves needing to do 2FA for every time you sign into canvas? How much worse is it if you had to do it for each git commit?</a:t>
            </a:r>
          </a:p>
          <a:p>
            <a:endParaRPr lang="en-US" dirty="0"/>
          </a:p>
          <a:p>
            <a:r>
              <a:rPr lang="en-US" dirty="0"/>
              <a:t>Signatures are useful only insofar as we trust the signer. If a developer’s computer is compromised (say, through a phishing attack), what good is that signature? Same for distribution.</a:t>
            </a:r>
          </a:p>
          <a:p>
            <a:endParaRPr lang="en-US" dirty="0"/>
          </a:p>
          <a:p>
            <a:r>
              <a:rPr lang="en-US" dirty="0"/>
              <a:t>Perhaps the best news-you-can-use here is to isolate each application in its own container or VM, reducing the scope of security breaches to be isolated within that environment and not directly impacting other applications.</a:t>
            </a:r>
          </a:p>
        </p:txBody>
      </p:sp>
    </p:spTree>
    <p:extLst>
      <p:ext uri="{BB962C8B-B14F-4D97-AF65-F5344CB8AC3E}">
        <p14:creationId xmlns:p14="http://schemas.microsoft.com/office/powerpoint/2010/main" val="34604125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brings us to the third item in our outline (from way back on slide 3)</a:t>
            </a:r>
          </a:p>
        </p:txBody>
      </p:sp>
      <p:sp>
        <p:nvSpPr>
          <p:cNvPr id="4" name="Slide Number Placeholder 3"/>
          <p:cNvSpPr>
            <a:spLocks noGrp="1"/>
          </p:cNvSpPr>
          <p:nvPr>
            <p:ph type="sldNum" sz="quarter" idx="5"/>
          </p:nvPr>
        </p:nvSpPr>
        <p:spPr/>
        <p:txBody>
          <a:bodyPr/>
          <a:lstStyle/>
          <a:p>
            <a:fld id="{07937F07-1250-4CCE-B198-1B2887014F41}" type="slidenum">
              <a:rPr lang="en-US" smtClean="0"/>
              <a:t>37</a:t>
            </a:fld>
            <a:endParaRPr lang="en-US"/>
          </a:p>
        </p:txBody>
      </p:sp>
    </p:spTree>
    <p:extLst>
      <p:ext uri="{BB962C8B-B14F-4D97-AF65-F5344CB8AC3E}">
        <p14:creationId xmlns:p14="http://schemas.microsoft.com/office/powerpoint/2010/main" val="17548287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As David Blank-Edelman(*) used to say: “the solution is in front of the screen, not behind it.”</a:t>
            </a:r>
          </a:p>
          <a:p>
            <a:endParaRPr lang="en-US" dirty="0"/>
          </a:p>
          <a:p>
            <a:r>
              <a:rPr lang="en-US" dirty="0"/>
              <a:t>(*) former head of Systems at Khoury</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38</a:t>
            </a:fld>
            <a:endParaRPr lang="en-US"/>
          </a:p>
        </p:txBody>
      </p:sp>
    </p:spTree>
    <p:extLst>
      <p:ext uri="{BB962C8B-B14F-4D97-AF65-F5344CB8AC3E}">
        <p14:creationId xmlns:p14="http://schemas.microsoft.com/office/powerpoint/2010/main" val="11460752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2264C-DFEB-53E4-5B35-4BC6D2449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9F692-70A1-39A9-0EC0-C3C08A93BF2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B0DF6A1-3525-9D88-A1F3-DB794DC15C53}"/>
              </a:ext>
            </a:extLst>
          </p:cNvPr>
          <p:cNvSpPr>
            <a:spLocks noGrp="1"/>
          </p:cNvSpPr>
          <p:nvPr>
            <p:ph type="body" idx="1"/>
          </p:nvPr>
        </p:nvSpPr>
        <p:spPr/>
        <p:txBody>
          <a:bodyPr/>
          <a:lstStyle/>
          <a:p>
            <a:r>
              <a:rPr lang="en-US" dirty="0"/>
              <a:t>&lt;read slide&gt;</a:t>
            </a:r>
          </a:p>
        </p:txBody>
      </p:sp>
      <p:sp>
        <p:nvSpPr>
          <p:cNvPr id="4" name="Slide Number Placeholder 3">
            <a:extLst>
              <a:ext uri="{FF2B5EF4-FFF2-40B4-BE49-F238E27FC236}">
                <a16:creationId xmlns:a16="http://schemas.microsoft.com/office/drawing/2014/main" id="{8EC0CF62-788E-81B9-E348-BCCB3517B8C5}"/>
              </a:ext>
            </a:extLst>
          </p:cNvPr>
          <p:cNvSpPr>
            <a:spLocks noGrp="1"/>
          </p:cNvSpPr>
          <p:nvPr>
            <p:ph type="sldNum" sz="quarter" idx="5"/>
          </p:nvPr>
        </p:nvSpPr>
        <p:spPr/>
        <p:txBody>
          <a:bodyPr/>
          <a:lstStyle/>
          <a:p>
            <a:fld id="{07937F07-1250-4CCE-B198-1B2887014F41}" type="slidenum">
              <a:rPr lang="en-US" smtClean="0"/>
              <a:t>39</a:t>
            </a:fld>
            <a:endParaRPr lang="en-US"/>
          </a:p>
        </p:txBody>
      </p:sp>
    </p:spTree>
    <p:extLst>
      <p:ext uri="{BB962C8B-B14F-4D97-AF65-F5344CB8AC3E}">
        <p14:creationId xmlns:p14="http://schemas.microsoft.com/office/powerpoint/2010/main" val="32108729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let's start on our final topic… &lt;Read Slide&gt;</a:t>
            </a:r>
          </a:p>
        </p:txBody>
      </p:sp>
    </p:spTree>
    <p:extLst>
      <p:ext uri="{BB962C8B-B14F-4D97-AF65-F5344CB8AC3E}">
        <p14:creationId xmlns:p14="http://schemas.microsoft.com/office/powerpoint/2010/main" val="40367739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2264C-DFEB-53E4-5B35-4BC6D2449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9F692-70A1-39A9-0EC0-C3C08A93BF2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B0DF6A1-3525-9D88-A1F3-DB794DC15C53}"/>
              </a:ext>
            </a:extLst>
          </p:cNvPr>
          <p:cNvSpPr>
            <a:spLocks noGrp="1"/>
          </p:cNvSpPr>
          <p:nvPr>
            <p:ph type="body" idx="1"/>
          </p:nvPr>
        </p:nvSpPr>
        <p:spPr/>
        <p:txBody>
          <a:bodyPr/>
          <a:lstStyle/>
          <a:p>
            <a:r>
              <a:rPr lang="en-US" dirty="0"/>
              <a:t>&lt;read slide&gt;</a:t>
            </a:r>
          </a:p>
        </p:txBody>
      </p:sp>
      <p:sp>
        <p:nvSpPr>
          <p:cNvPr id="4" name="Slide Number Placeholder 3">
            <a:extLst>
              <a:ext uri="{FF2B5EF4-FFF2-40B4-BE49-F238E27FC236}">
                <a16:creationId xmlns:a16="http://schemas.microsoft.com/office/drawing/2014/main" id="{8EC0CF62-788E-81B9-E348-BCCB3517B8C5}"/>
              </a:ext>
            </a:extLst>
          </p:cNvPr>
          <p:cNvSpPr>
            <a:spLocks noGrp="1"/>
          </p:cNvSpPr>
          <p:nvPr>
            <p:ph type="sldNum" sz="quarter" idx="5"/>
          </p:nvPr>
        </p:nvSpPr>
        <p:spPr/>
        <p:txBody>
          <a:bodyPr/>
          <a:lstStyle/>
          <a:p>
            <a:fld id="{07937F07-1250-4CCE-B198-1B2887014F41}" type="slidenum">
              <a:rPr lang="en-US" smtClean="0"/>
              <a:t>42</a:t>
            </a:fld>
            <a:endParaRPr lang="en-US"/>
          </a:p>
        </p:txBody>
      </p:sp>
    </p:spTree>
    <p:extLst>
      <p:ext uri="{BB962C8B-B14F-4D97-AF65-F5344CB8AC3E}">
        <p14:creationId xmlns:p14="http://schemas.microsoft.com/office/powerpoint/2010/main" val="5000956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2264C-DFEB-53E4-5B35-4BC6D2449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9F692-70A1-39A9-0EC0-C3C08A93BF2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B0DF6A1-3525-9D88-A1F3-DB794DC15C53}"/>
              </a:ext>
            </a:extLst>
          </p:cNvPr>
          <p:cNvSpPr>
            <a:spLocks noGrp="1"/>
          </p:cNvSpPr>
          <p:nvPr>
            <p:ph type="body" idx="1"/>
          </p:nvPr>
        </p:nvSpPr>
        <p:spPr/>
        <p:txBody>
          <a:bodyPr/>
          <a:lstStyle/>
          <a:p>
            <a:r>
              <a:rPr lang="en-US" dirty="0"/>
              <a:t>&lt;read slide&gt;</a:t>
            </a:r>
          </a:p>
        </p:txBody>
      </p:sp>
      <p:sp>
        <p:nvSpPr>
          <p:cNvPr id="4" name="Slide Number Placeholder 3">
            <a:extLst>
              <a:ext uri="{FF2B5EF4-FFF2-40B4-BE49-F238E27FC236}">
                <a16:creationId xmlns:a16="http://schemas.microsoft.com/office/drawing/2014/main" id="{8EC0CF62-788E-81B9-E348-BCCB3517B8C5}"/>
              </a:ext>
            </a:extLst>
          </p:cNvPr>
          <p:cNvSpPr>
            <a:spLocks noGrp="1"/>
          </p:cNvSpPr>
          <p:nvPr>
            <p:ph type="sldNum" sz="quarter" idx="5"/>
          </p:nvPr>
        </p:nvSpPr>
        <p:spPr/>
        <p:txBody>
          <a:bodyPr/>
          <a:lstStyle/>
          <a:p>
            <a:fld id="{07937F07-1250-4CCE-B198-1B2887014F41}" type="slidenum">
              <a:rPr lang="en-US" smtClean="0"/>
              <a:t>43</a:t>
            </a:fld>
            <a:endParaRPr lang="en-US"/>
          </a:p>
        </p:txBody>
      </p:sp>
    </p:spTree>
    <p:extLst>
      <p:ext uri="{BB962C8B-B14F-4D97-AF65-F5344CB8AC3E}">
        <p14:creationId xmlns:p14="http://schemas.microsoft.com/office/powerpoint/2010/main" val="1902020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720325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hyperlink" Target="http://creativecommons.org/licenses/by-sa/4.0/"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hyperlink" Target="https://creativecommons.org/licenses/by-sa/4.0/" TargetMode="Externa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48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8909538"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10/20/2026</a:t>
            </a:fld>
            <a:endParaRPr lang="en-US" dirty="0"/>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dirty="0"/>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Jonathan Bell, John Boyland, Mitch Wand…">
            <a:extLst>
              <a:ext uri="{FF2B5EF4-FFF2-40B4-BE49-F238E27FC236}">
                <a16:creationId xmlns:a16="http://schemas.microsoft.com/office/drawing/2014/main" id="{020797B5-C680-F772-1321-577805D577DE}"/>
              </a:ext>
            </a:extLst>
          </p:cNvPr>
          <p:cNvSpPr txBox="1">
            <a:spLocks noGrp="1"/>
          </p:cNvSpPr>
          <p:nvPr>
            <p:ph type="body" idx="4294967295" hasCustomPrompt="1"/>
          </p:nvPr>
        </p:nvSpPr>
        <p:spPr>
          <a:xfrm>
            <a:off x="539260" y="5135226"/>
            <a:ext cx="10280962" cy="97948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rmAutofit fontScale="62500" lnSpcReduction="20000"/>
          </a:bodyPr>
          <a:lstStyle>
            <a:lvl1pPr>
              <a:defRPr/>
            </a:lvl1pPr>
          </a:lstStyle>
          <a:p>
            <a:pPr marL="0" indent="0">
              <a:buNone/>
              <a:defRPr>
                <a:solidFill>
                  <a:srgbClr val="005493"/>
                </a:solidFill>
              </a:defRPr>
            </a:pPr>
            <a:r>
              <a:rPr lang="en-US" dirty="0"/>
              <a:t>&lt;authors&gt;</a:t>
            </a:r>
          </a:p>
          <a:p>
            <a:pPr marL="0" indent="0">
              <a:buNone/>
              <a:defRPr>
                <a:solidFill>
                  <a:srgbClr val="005493"/>
                </a:solidFill>
              </a:defRPr>
            </a:pPr>
            <a:r>
              <a:rPr lang="en-US" dirty="0"/>
              <a:t>Khoury College of Computer Sciences</a:t>
            </a:r>
          </a:p>
          <a:p>
            <a:pPr marL="0" indent="0">
              <a:buNone/>
              <a:defRPr>
                <a:solidFill>
                  <a:srgbClr val="005493"/>
                </a:solidFill>
              </a:defRPr>
            </a:pPr>
            <a:r>
              <a:rPr lang="en-US" dirty="0"/>
              <a:t>© &lt;date&gt;, released under </a:t>
            </a:r>
            <a:r>
              <a:rPr lang="en-US" u="sng" dirty="0">
                <a:hlinkClick r:id="rId2"/>
              </a:rPr>
              <a:t>CC BY-SA</a:t>
            </a:r>
          </a:p>
        </p:txBody>
      </p: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10/20/2026</a:t>
            </a:fld>
            <a:endParaRPr lang="en-US" dirty="0"/>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dirty="0"/>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10/20/2026</a:t>
            </a:fld>
            <a:endParaRPr lang="en-US" dirty="0"/>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dirty="0"/>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normAutofit/>
          </a:bodyPr>
          <a:lstStyle>
            <a:lvl1pPr>
              <a:defRPr sz="3600"/>
            </a:lvl1pPr>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10/20/2026</a:t>
            </a:fld>
            <a:endParaRPr lang="en-US" dirty="0"/>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dirty="0"/>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10/20/2026</a:t>
            </a:fld>
            <a:endParaRPr lang="en-US" dirty="0"/>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dirty="0"/>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10/20/2026</a:t>
            </a:fld>
            <a:endParaRPr lang="en-US" dirty="0"/>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dirty="0"/>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10/20/2026</a:t>
            </a:fld>
            <a:endParaRPr lang="en-US" dirty="0"/>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dirty="0"/>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10/20/2026</a:t>
            </a:fld>
            <a:endParaRPr lang="en-US" dirty="0"/>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dirty="0"/>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10/20/2026</a:t>
            </a:fld>
            <a:endParaRPr lang="en-US" dirty="0"/>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dirty="0"/>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10/20/2026</a:t>
            </a:fld>
            <a:endParaRPr lang="en-US" dirty="0"/>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dirty="0"/>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10/20/2026</a:t>
            </a:fld>
            <a:endParaRPr lang="en-US" dirty="0"/>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dirty="0"/>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10/20/2026</a:t>
            </a:fld>
            <a:endParaRPr lang="en-US" dirty="0"/>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dirty="0"/>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lvl1pPr>
              <a:defRPr baseline="0">
                <a:solidFill>
                  <a:schemeClr val="accent2"/>
                </a:solidFill>
              </a:defRPr>
            </a:lvl1pPr>
          </a:lstStyle>
          <a:p>
            <a:r>
              <a:rPr dirty="0"/>
              <a:t>Title Text</a:t>
            </a:r>
          </a:p>
        </p:txBody>
      </p:sp>
      <p:sp>
        <p:nvSpPr>
          <p:cNvPr id="53"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dirty="0"/>
          </a:p>
        </p:txBody>
      </p:sp>
    </p:spTree>
    <p:extLst>
      <p:ext uri="{BB962C8B-B14F-4D97-AF65-F5344CB8AC3E}">
        <p14:creationId xmlns:p14="http://schemas.microsoft.com/office/powerpoint/2010/main" val="23216978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600670" y="5929931"/>
            <a:ext cx="10985502" cy="318490"/>
          </a:xfrm>
          <a:prstGeom prst="rect">
            <a:avLst/>
          </a:prstGeom>
        </p:spPr>
        <p:txBody>
          <a:bodyPr lIns="45719" tIns="45719" rIns="45719" bIns="45719"/>
          <a:lstStyle>
            <a:lvl1pPr marL="0" indent="0" defTabSz="412750">
              <a:lnSpc>
                <a:spcPct val="100000"/>
              </a:lnSpc>
              <a:spcBef>
                <a:spcPts val="0"/>
              </a:spcBef>
              <a:buSzTx/>
              <a:buNone/>
              <a:defRPr sz="1800" b="1"/>
            </a:lvl1pPr>
          </a:lstStyle>
          <a:p>
            <a:r>
              <a:t>Author and Date</a:t>
            </a:r>
          </a:p>
        </p:txBody>
      </p:sp>
      <p:sp>
        <p:nvSpPr>
          <p:cNvPr id="12" name="Presentation Title"/>
          <p:cNvSpPr txBox="1">
            <a:spLocks noGrp="1"/>
          </p:cNvSpPr>
          <p:nvPr>
            <p:ph type="title" hasCustomPrompt="1"/>
          </p:nvPr>
        </p:nvSpPr>
        <p:spPr>
          <a:xfrm>
            <a:off x="603248" y="1287496"/>
            <a:ext cx="10985502" cy="2324101"/>
          </a:xfrm>
          <a:prstGeom prst="rect">
            <a:avLst/>
          </a:prstGeom>
        </p:spPr>
        <p:txBody>
          <a:bodyPr anchor="b"/>
          <a:lstStyle>
            <a:lvl1pPr>
              <a:defRPr sz="5800" spc="-116">
                <a:solidFill>
                  <a:srgbClr val="000000"/>
                </a:solidFill>
              </a:defRPr>
            </a:lvl1pPr>
          </a:lstStyle>
          <a:p>
            <a:r>
              <a:t>Presentation Title</a:t>
            </a:r>
          </a:p>
        </p:txBody>
      </p:sp>
      <p:sp>
        <p:nvSpPr>
          <p:cNvPr id="13" name="Body Level One…"/>
          <p:cNvSpPr txBox="1">
            <a:spLocks noGrp="1"/>
          </p:cNvSpPr>
          <p:nvPr>
            <p:ph type="body" sz="quarter" idx="1" hasCustomPrompt="1"/>
          </p:nvPr>
        </p:nvSpPr>
        <p:spPr>
          <a:xfrm>
            <a:off x="600671" y="3611595"/>
            <a:ext cx="10985501" cy="952501"/>
          </a:xfrm>
          <a:prstGeom prst="rect">
            <a:avLst/>
          </a:prstGeom>
        </p:spPr>
        <p:txBody>
          <a:bodyPr/>
          <a:lstStyle>
            <a:lvl1pPr marL="0" indent="0" defTabSz="412750">
              <a:lnSpc>
                <a:spcPct val="100000"/>
              </a:lnSpc>
              <a:spcBef>
                <a:spcPts val="0"/>
              </a:spcBef>
              <a:buSzTx/>
              <a:buNone/>
              <a:defRPr sz="2750" b="1"/>
            </a:lvl1pPr>
            <a:lvl2pPr marL="0" indent="228600" defTabSz="412750">
              <a:lnSpc>
                <a:spcPct val="100000"/>
              </a:lnSpc>
              <a:spcBef>
                <a:spcPts val="0"/>
              </a:spcBef>
              <a:buSzTx/>
              <a:buNone/>
              <a:defRPr sz="2750" b="1"/>
            </a:lvl2pPr>
            <a:lvl3pPr marL="0" indent="457200" defTabSz="412750">
              <a:lnSpc>
                <a:spcPct val="100000"/>
              </a:lnSpc>
              <a:spcBef>
                <a:spcPts val="0"/>
              </a:spcBef>
              <a:buSzTx/>
              <a:buNone/>
              <a:defRPr sz="2750" b="1"/>
            </a:lvl3pPr>
            <a:lvl4pPr marL="0" indent="685800" defTabSz="412750">
              <a:lnSpc>
                <a:spcPct val="100000"/>
              </a:lnSpc>
              <a:spcBef>
                <a:spcPts val="0"/>
              </a:spcBef>
              <a:buSzTx/>
              <a:buNone/>
              <a:defRPr sz="2750" b="1"/>
            </a:lvl4pPr>
            <a:lvl5pPr marL="0" indent="914400" defTabSz="412750">
              <a:lnSpc>
                <a:spcPct val="100000"/>
              </a:lnSpc>
              <a:spcBef>
                <a:spcPts val="0"/>
              </a:spcBef>
              <a:buSzTx/>
              <a:buNone/>
              <a:defRPr sz="2750" b="1"/>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163743171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12" name="Title Text"/>
          <p:cNvSpPr txBox="1">
            <a:spLocks noGrp="1"/>
          </p:cNvSpPr>
          <p:nvPr>
            <p:ph type="title"/>
          </p:nvPr>
        </p:nvSpPr>
        <p:spPr>
          <a:xfrm>
            <a:off x="539260" y="665162"/>
            <a:ext cx="10814540" cy="2387601"/>
          </a:xfrm>
          <a:prstGeom prst="rect">
            <a:avLst/>
          </a:prstGeom>
        </p:spPr>
        <p:txBody>
          <a:bodyPr/>
          <a:lstStyle>
            <a:lvl1pPr>
              <a:defRPr sz="3200"/>
            </a:lvl1pPr>
          </a:lstStyle>
          <a:p>
            <a:r>
              <a:t>Title Text</a:t>
            </a:r>
          </a:p>
        </p:txBody>
      </p:sp>
      <p:sp>
        <p:nvSpPr>
          <p:cNvPr id="13" name="Body Level One…"/>
          <p:cNvSpPr txBox="1">
            <a:spLocks noGrp="1"/>
          </p:cNvSpPr>
          <p:nvPr>
            <p:ph type="body" sz="half" idx="1"/>
          </p:nvPr>
        </p:nvSpPr>
        <p:spPr>
          <a:xfrm>
            <a:off x="539260" y="3237827"/>
            <a:ext cx="10128740" cy="1655763"/>
          </a:xfrm>
          <a:prstGeom prst="rect">
            <a:avLst/>
          </a:prstGeom>
        </p:spPr>
        <p:txBody>
          <a:bodyPr/>
          <a:lstStyle>
            <a:lvl1pPr marL="0" indent="0">
              <a:lnSpc>
                <a:spcPct val="90000"/>
              </a:lnSpc>
              <a:buSzTx/>
              <a:buFontTx/>
              <a:buNone/>
            </a:lvl1pPr>
            <a:lvl2pPr marL="0" indent="457200">
              <a:lnSpc>
                <a:spcPct val="90000"/>
              </a:lnSpc>
              <a:buSzTx/>
              <a:buFontTx/>
              <a:buNone/>
            </a:lvl2pPr>
            <a:lvl3pPr marL="0" indent="914400">
              <a:lnSpc>
                <a:spcPct val="90000"/>
              </a:lnSpc>
              <a:buSzTx/>
              <a:buFontTx/>
              <a:buNone/>
            </a:lvl3pPr>
            <a:lvl4pPr marL="0" indent="1371600">
              <a:lnSpc>
                <a:spcPct val="90000"/>
              </a:lnSpc>
              <a:buSzTx/>
              <a:buFontTx/>
              <a:buNone/>
            </a:lvl4pPr>
            <a:lvl5pPr marL="0" indent="1828800">
              <a:lnSpc>
                <a:spcPct val="90000"/>
              </a:lnSpc>
              <a:buSzTx/>
              <a:buFontTx/>
              <a:buNone/>
            </a:lvl5pPr>
          </a:lstStyle>
          <a:p>
            <a:r>
              <a:t>Body Level One</a:t>
            </a:r>
          </a:p>
          <a:p>
            <a:pPr lvl="1"/>
            <a:r>
              <a:t>Body Level Two</a:t>
            </a:r>
          </a:p>
          <a:p>
            <a:pPr lvl="2"/>
            <a:r>
              <a:t>Body Level Three</a:t>
            </a:r>
          </a:p>
          <a:p>
            <a:pPr lvl="3"/>
            <a:r>
              <a:t>Body Level Four</a:t>
            </a:r>
          </a:p>
          <a:p>
            <a:pPr lvl="4"/>
            <a:r>
              <a:t>Body Level Five</a:t>
            </a: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
        <p:nvSpPr>
          <p:cNvPr id="15" name="Straight Connector 7"/>
          <p:cNvSpPr/>
          <p:nvPr/>
        </p:nvSpPr>
        <p:spPr>
          <a:xfrm>
            <a:off x="539259" y="3055777"/>
            <a:ext cx="10814541" cy="1"/>
          </a:xfrm>
          <a:prstGeom prst="line">
            <a:avLst/>
          </a:prstGeom>
          <a:ln w="6350">
            <a:solidFill>
              <a:schemeClr val="accent1"/>
            </a:solidFill>
            <a:miter/>
          </a:ln>
        </p:spPr>
        <p:txBody>
          <a:bodyPr lIns="45719" rIns="45719"/>
          <a:lstStyle/>
          <a:p>
            <a:endParaRPr dirty="0"/>
          </a:p>
        </p:txBody>
      </p:sp>
    </p:spTree>
    <p:extLst>
      <p:ext uri="{BB962C8B-B14F-4D97-AF65-F5344CB8AC3E}">
        <p14:creationId xmlns:p14="http://schemas.microsoft.com/office/powerpoint/2010/main" val="3981489815"/>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1_Title &amp; Bullets">
    <p:spTree>
      <p:nvGrpSpPr>
        <p:cNvPr id="1" name=""/>
        <p:cNvGrpSpPr/>
        <p:nvPr/>
      </p:nvGrpSpPr>
      <p:grpSpPr>
        <a:xfrm>
          <a:off x="0" y="0"/>
          <a:ext cx="0" cy="0"/>
          <a:chOff x="0" y="0"/>
          <a:chExt cx="0" cy="0"/>
        </a:xfrm>
      </p:grpSpPr>
      <p:sp>
        <p:nvSpPr>
          <p:cNvPr id="21" name="Slide Title"/>
          <p:cNvSpPr txBox="1">
            <a:spLocks noGrp="1"/>
          </p:cNvSpPr>
          <p:nvPr>
            <p:ph type="title" hasCustomPrompt="1"/>
          </p:nvPr>
        </p:nvSpPr>
        <p:spPr>
          <a:prstGeom prst="rect">
            <a:avLst/>
          </a:prstGeom>
        </p:spPr>
        <p:txBody>
          <a:bodyPr/>
          <a:lstStyle/>
          <a:p>
            <a:r>
              <a:t>Slide Title</a:t>
            </a:r>
          </a:p>
        </p:txBody>
      </p:sp>
      <p:sp>
        <p:nvSpPr>
          <p:cNvPr id="22" name="Slide Subtitle"/>
          <p:cNvSpPr txBox="1">
            <a:spLocks noGrp="1"/>
          </p:cNvSpPr>
          <p:nvPr>
            <p:ph type="body" sz="quarter" idx="21" hasCustomPrompt="1"/>
          </p:nvPr>
        </p:nvSpPr>
        <p:spPr>
          <a:xfrm>
            <a:off x="603250" y="1186481"/>
            <a:ext cx="10985500" cy="467390"/>
          </a:xfrm>
          <a:prstGeom prst="rect">
            <a:avLst/>
          </a:prstGeom>
        </p:spPr>
        <p:txBody>
          <a:bodyPr lIns="45719" tIns="45719" rIns="45719" bIns="45719"/>
          <a:lstStyle>
            <a:lvl1pPr marL="0" indent="0" defTabSz="412750">
              <a:lnSpc>
                <a:spcPct val="100000"/>
              </a:lnSpc>
              <a:spcBef>
                <a:spcPts val="0"/>
              </a:spcBef>
              <a:buSzTx/>
              <a:buNone/>
              <a:defRPr sz="2750" b="1"/>
            </a:lvl1pPr>
          </a:lstStyle>
          <a:p>
            <a:r>
              <a:t>Slide Subtitle</a:t>
            </a:r>
          </a:p>
        </p:txBody>
      </p:sp>
      <p:sp>
        <p:nvSpPr>
          <p:cNvPr id="23"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3387894422"/>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38"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9" name="Title Text"/>
          <p:cNvSpPr txBox="1">
            <a:spLocks noGrp="1"/>
          </p:cNvSpPr>
          <p:nvPr>
            <p:ph type="title"/>
          </p:nvPr>
        </p:nvSpPr>
        <p:spPr>
          <a:prstGeom prst="rect">
            <a:avLst/>
          </a:prstGeom>
        </p:spPr>
        <p:txBody>
          <a:bodyPr/>
          <a:lstStyle/>
          <a:p>
            <a:r>
              <a:t>Title Text</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1293544832"/>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10/20/2026</a:t>
            </a:fld>
            <a:endParaRPr lang="en-US" dirty="0"/>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dirty="0"/>
          </a:p>
        </p:txBody>
      </p:sp>
      <p:sp>
        <p:nvSpPr>
          <p:cNvPr id="7" name="Title 1">
            <a:extLst>
              <a:ext uri="{FF2B5EF4-FFF2-40B4-BE49-F238E27FC236}">
                <a16:creationId xmlns:a16="http://schemas.microsoft.com/office/drawing/2014/main" id="{AFB655C3-1523-8944-C748-712310DF647E}"/>
              </a:ext>
            </a:extLst>
          </p:cNvPr>
          <p:cNvSpPr>
            <a:spLocks noGrp="1"/>
          </p:cNvSpPr>
          <p:nvPr>
            <p:ph type="ctrTitle"/>
          </p:nvPr>
        </p:nvSpPr>
        <p:spPr>
          <a:xfrm>
            <a:off x="539260" y="665163"/>
            <a:ext cx="10814539" cy="2275997"/>
          </a:xfrm>
        </p:spPr>
        <p:txBody>
          <a:bodyPr anchor="b">
            <a:normAutofit/>
          </a:bodyPr>
          <a:lstStyle>
            <a:lvl1pPr algn="l">
              <a:defRPr sz="3200"/>
            </a:lvl1pPr>
          </a:lstStyle>
          <a:p>
            <a:r>
              <a:rPr lang="en-US" dirty="0"/>
              <a:t>Click to edit Master title style</a:t>
            </a:r>
          </a:p>
        </p:txBody>
      </p:sp>
      <p:sp>
        <p:nvSpPr>
          <p:cNvPr id="9" name="Subtitle 2">
            <a:extLst>
              <a:ext uri="{FF2B5EF4-FFF2-40B4-BE49-F238E27FC236}">
                <a16:creationId xmlns:a16="http://schemas.microsoft.com/office/drawing/2014/main" id="{8549AA31-F254-1C77-9D81-6E096BEE4E1E}"/>
              </a:ext>
            </a:extLst>
          </p:cNvPr>
          <p:cNvSpPr>
            <a:spLocks noGrp="1"/>
          </p:cNvSpPr>
          <p:nvPr>
            <p:ph type="subTitle" idx="1"/>
          </p:nvPr>
        </p:nvSpPr>
        <p:spPr>
          <a:xfrm>
            <a:off x="539260" y="3237827"/>
            <a:ext cx="10128740" cy="2210859"/>
          </a:xfrm>
        </p:spPr>
        <p:txBody>
          <a:bodyPr>
            <a:normAutofit/>
          </a:bodyPr>
          <a:lstStyle>
            <a:lvl1pPr marL="0" indent="0" algn="l">
              <a:buNone/>
              <a:defRPr sz="20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cxnSp>
        <p:nvCxnSpPr>
          <p:cNvPr id="10" name="Straight Connector 9">
            <a:extLst>
              <a:ext uri="{FF2B5EF4-FFF2-40B4-BE49-F238E27FC236}">
                <a16:creationId xmlns:a16="http://schemas.microsoft.com/office/drawing/2014/main" id="{F2349770-58C0-0659-C24A-7B0426FAF748}"/>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A81EC16-F2D4-3F9B-C86D-3BCAB0633A6F}"/>
              </a:ext>
            </a:extLst>
          </p:cNvPr>
          <p:cNvSpPr/>
          <p:nvPr userDrawn="1"/>
        </p:nvSpPr>
        <p:spPr>
          <a:xfrm>
            <a:off x="539260" y="5630735"/>
            <a:ext cx="6096000" cy="369332"/>
          </a:xfrm>
          <a:prstGeom prst="rect">
            <a:avLst/>
          </a:prstGeom>
        </p:spPr>
        <p:txBody>
          <a:bodyPr>
            <a:spAutoFit/>
          </a:bodyPr>
          <a:lstStyle/>
          <a:p>
            <a:r>
              <a:rPr lang="en-US" dirty="0">
                <a:solidFill>
                  <a:srgbClr val="5C5962"/>
                </a:solidFill>
              </a:rPr>
              <a:t>© 2025 Released under the </a:t>
            </a:r>
            <a:r>
              <a:rPr lang="en-US" dirty="0">
                <a:solidFill>
                  <a:srgbClr val="D41B2C"/>
                </a:solidFill>
                <a:hlinkClick r:id="rId2"/>
              </a:rPr>
              <a:t>CC BY-SA</a:t>
            </a:r>
            <a:r>
              <a:rPr lang="en-US" dirty="0">
                <a:solidFill>
                  <a:srgbClr val="5C5962"/>
                </a:solidFill>
              </a:rPr>
              <a:t> license</a:t>
            </a:r>
            <a:endParaRPr lang="en-US" dirty="0"/>
          </a:p>
        </p:txBody>
      </p:sp>
    </p:spTree>
    <p:extLst>
      <p:ext uri="{BB962C8B-B14F-4D97-AF65-F5344CB8AC3E}">
        <p14:creationId xmlns:p14="http://schemas.microsoft.com/office/powerpoint/2010/main" val="13486775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10/20/2026</a:t>
            </a:fld>
            <a:endParaRPr lang="en-US" dirty="0"/>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dirty="0"/>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41836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10/20/2026</a:t>
            </a:fld>
            <a:endParaRPr lang="en-US" dirty="0"/>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dirty="0"/>
          </a:p>
        </p:txBody>
      </p:sp>
      <p:sp>
        <p:nvSpPr>
          <p:cNvPr id="6" name="Title 1">
            <a:extLst>
              <a:ext uri="{FF2B5EF4-FFF2-40B4-BE49-F238E27FC236}">
                <a16:creationId xmlns:a16="http://schemas.microsoft.com/office/drawing/2014/main" id="{75A25075-8F0E-5D99-3424-EC26D4DBC802}"/>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cxnSp>
        <p:nvCxnSpPr>
          <p:cNvPr id="8" name="Straight Connector 7">
            <a:extLst>
              <a:ext uri="{FF2B5EF4-FFF2-40B4-BE49-F238E27FC236}">
                <a16:creationId xmlns:a16="http://schemas.microsoft.com/office/drawing/2014/main" id="{59CFFB23-4154-80C1-A1BD-D541121A9A79}"/>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6436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10/20/2026</a:t>
            </a:fld>
            <a:endParaRPr lang="en-US" dirty="0"/>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dirty="0"/>
          </a:p>
        </p:txBody>
      </p:sp>
    </p:spTree>
    <p:extLst>
      <p:ext uri="{BB962C8B-B14F-4D97-AF65-F5344CB8AC3E}">
        <p14:creationId xmlns:p14="http://schemas.microsoft.com/office/powerpoint/2010/main" val="4188219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theme" Target="../theme/theme2.xml"/><Relationship Id="rId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10/20/2026</a:t>
            </a:fld>
            <a:endParaRPr lang="en-US" dirty="0"/>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dirty="0"/>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0" r:id="rId13"/>
    <p:sldLayoutId id="2147483663" r:id="rId14"/>
    <p:sldLayoutId id="2147483665" r:id="rId15"/>
    <p:sldLayoutId id="2147483673" r:id="rId16"/>
    <p:sldLayoutId id="2147483674" r:id="rId17"/>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10/20/2026</a:t>
            </a:fld>
            <a:endParaRPr lang="en-US" dirty="0"/>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dirty="0"/>
          </a:p>
        </p:txBody>
      </p:sp>
    </p:spTree>
    <p:extLst>
      <p:ext uri="{BB962C8B-B14F-4D97-AF65-F5344CB8AC3E}">
        <p14:creationId xmlns:p14="http://schemas.microsoft.com/office/powerpoint/2010/main" val="4105962365"/>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creativecommons.org/licenses/by-sa/4.0/" TargetMode="Externa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hyperlink" Target="https://owasp.org/Top10/2025/"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tif"/><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hyperlink" Target="https://xkcd.com/327/"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owasp.org/www-project-top-ten/2017/A1_2017-Injection" TargetMode="External"/><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hyperlink" Target="https://owasp.org/Top10/2025/A05_2025-Injection/"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s://ian.sh/tsa"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hyperlink" Target="https://eslint.org/blog/2018/07/postmortem-for-malicious-package-publishes/"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arxiv.org/abs/2112.10165"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hyperlink" Target="https://ian.sh/tsa"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martinfowler.com/articles/agile-threat-modelling.html"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CS 4530 &amp; CS 5500…"/>
          <p:cNvSpPr txBox="1">
            <a:spLocks noGrp="1"/>
          </p:cNvSpPr>
          <p:nvPr>
            <p:ph type="ctrTitle"/>
          </p:nvPr>
        </p:nvSpPr>
        <p:spPr>
          <a:prstGeom prst="rect">
            <a:avLst/>
          </a:prstGeom>
        </p:spPr>
        <p:txBody>
          <a:bodyPr/>
          <a:lstStyle/>
          <a:p>
            <a:r>
              <a:rPr dirty="0"/>
              <a:t>CS 4530: Fundamentals of Software Engineering</a:t>
            </a:r>
          </a:p>
          <a:p>
            <a:endParaRPr dirty="0"/>
          </a:p>
          <a:p>
            <a:r>
              <a:rPr dirty="0"/>
              <a:t>Module 1</a:t>
            </a:r>
            <a:r>
              <a:rPr lang="en-US" dirty="0"/>
              <a:t>3</a:t>
            </a:r>
            <a:r>
              <a:rPr dirty="0"/>
              <a:t>: Software Engineering &amp; Security</a:t>
            </a:r>
          </a:p>
        </p:txBody>
      </p:sp>
      <p:sp>
        <p:nvSpPr>
          <p:cNvPr id="60" name="Jonathan Bell, John Boyland, Mitch Wand…"/>
          <p:cNvSpPr txBox="1">
            <a:spLocks noGrp="1"/>
          </p:cNvSpPr>
          <p:nvPr>
            <p:ph type="subTitle" sz="half" idx="1"/>
          </p:nvPr>
        </p:nvSpPr>
        <p:spPr>
          <a:prstGeom prst="rect">
            <a:avLst/>
          </a:prstGeom>
        </p:spPr>
        <p:txBody>
          <a:bodyPr/>
          <a:lstStyle/>
          <a:p>
            <a:pPr defTabSz="777240">
              <a:spcBef>
                <a:spcPts val="800"/>
              </a:spcBef>
              <a:defRPr sz="2125"/>
            </a:pPr>
            <a:r>
              <a:rPr dirty="0"/>
              <a:t>Adeel Bhutta</a:t>
            </a:r>
            <a:r>
              <a:rPr lang="en-US" dirty="0"/>
              <a:t> and Mitch Wand</a:t>
            </a:r>
            <a:endParaRPr dirty="0"/>
          </a:p>
          <a:p>
            <a:pPr defTabSz="777240">
              <a:spcBef>
                <a:spcPts val="800"/>
              </a:spcBef>
              <a:defRPr sz="2125"/>
            </a:pPr>
            <a:r>
              <a:rPr dirty="0"/>
              <a:t>Khoury College of Computer Sciences</a:t>
            </a:r>
          </a:p>
          <a:p>
            <a:pPr defTabSz="777240">
              <a:spcBef>
                <a:spcPts val="800"/>
              </a:spcBef>
              <a:defRPr sz="2125"/>
            </a:pPr>
            <a:endParaRPr dirty="0"/>
          </a:p>
          <a:p>
            <a:pPr defTabSz="777240">
              <a:spcBef>
                <a:spcPts val="800"/>
              </a:spcBef>
              <a:defRPr sz="2125"/>
            </a:pPr>
            <a:r>
              <a:rPr dirty="0"/>
              <a:t>© 202</a:t>
            </a:r>
            <a:r>
              <a:rPr lang="en-US" dirty="0"/>
              <a:t>6</a:t>
            </a:r>
            <a:r>
              <a:rPr dirty="0"/>
              <a:t>, released under </a:t>
            </a:r>
            <a:r>
              <a:rPr dirty="0">
                <a:hlinkClick r:id="rId2"/>
              </a:rPr>
              <a:t>CC BY-SA</a:t>
            </a:r>
            <a:r>
              <a:rPr lang="en-US" dirty="0">
                <a:hlinkClick r:id="rId2"/>
              </a:rPr>
              <a:t> </a:t>
            </a:r>
            <a:endParaRPr dirty="0">
              <a:hlinkClick r:id="rId2"/>
            </a:endParaRPr>
          </a:p>
        </p:txBody>
      </p:sp>
      <p:sp>
        <p:nvSpPr>
          <p:cNvPr id="61" name="Slide Number"/>
          <p:cNvSpPr txBox="1">
            <a:spLocks noGrp="1"/>
          </p:cNvSpPr>
          <p:nvPr>
            <p:ph type="sldNum" sz="quarter" idx="2"/>
          </p:nvPr>
        </p:nvSpPr>
        <p:spPr>
          <a:xfrm>
            <a:off x="11172418" y="6414760"/>
            <a:ext cx="181382"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a:t>
            </a:fld>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Learning Objectives for this Lesson"/>
          <p:cNvSpPr txBox="1">
            <a:spLocks noGrp="1"/>
          </p:cNvSpPr>
          <p:nvPr>
            <p:ph type="title"/>
          </p:nvPr>
        </p:nvSpPr>
        <p:spPr>
          <a:prstGeom prst="rect">
            <a:avLst/>
          </a:prstGeom>
        </p:spPr>
        <p:txBody>
          <a:bodyPr/>
          <a:lstStyle/>
          <a:p>
            <a:r>
              <a:rPr dirty="0"/>
              <a:t>Learning Objectives for this </a:t>
            </a:r>
            <a:r>
              <a:rPr lang="en-US" dirty="0"/>
              <a:t>Module</a:t>
            </a:r>
            <a:endParaRPr dirty="0"/>
          </a:p>
        </p:txBody>
      </p:sp>
      <p:sp>
        <p:nvSpPr>
          <p:cNvPr id="131" name="Describe that security is a spectrum, and be able to define a realistic threat model for a given system…"/>
          <p:cNvSpPr txBox="1">
            <a:spLocks noGrp="1"/>
          </p:cNvSpPr>
          <p:nvPr>
            <p:ph idx="1"/>
          </p:nvPr>
        </p:nvSpPr>
        <p:spPr>
          <a:prstGeom prst="rect">
            <a:avLst/>
          </a:prstGeom>
        </p:spPr>
        <p:txBody>
          <a:bodyPr>
            <a:normAutofit/>
          </a:bodyPr>
          <a:lstStyle/>
          <a:p>
            <a:pPr marL="349250" indent="-349250">
              <a:buSzPct val="123000"/>
              <a:buChar char="•"/>
            </a:pPr>
            <a:r>
              <a:rPr lang="en-US" dirty="0"/>
              <a:t>By the end of this module, you should be able to:</a:t>
            </a:r>
          </a:p>
          <a:p>
            <a:pPr marL="806450" lvl="1" indent="-349250">
              <a:buSzPct val="123000"/>
            </a:pPr>
            <a:r>
              <a:rPr lang="en-US" dirty="0"/>
              <a:t>Define key terms relating to software/system security</a:t>
            </a:r>
          </a:p>
          <a:p>
            <a:pPr marL="806450" lvl="1" indent="-349250">
              <a:buSzPct val="123000"/>
            </a:pPr>
            <a:r>
              <a:rPr lang="en-US" dirty="0"/>
              <a:t>Explain 5 common vulnerabilities in web applications and similar software systems, and describe some common mitigations for each of them.</a:t>
            </a:r>
          </a:p>
          <a:p>
            <a:pPr marL="806450" lvl="1" indent="-349250">
              <a:buSzPct val="123000"/>
            </a:pPr>
            <a:r>
              <a:rPr lang="en-US" dirty="0"/>
              <a:t>Explain why software alone isn’t enough to assure security</a:t>
            </a:r>
          </a:p>
          <a:p>
            <a:pPr marL="806450" lvl="1" indent="-349250">
              <a:buSzPct val="123000"/>
            </a:pPr>
            <a:r>
              <a:rPr lang="en-US" dirty="0"/>
              <a:t>Explain at least one way in which security can be incorporated into an agile development process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96010-2848-3F79-FC80-A141A47E7F3F}"/>
              </a:ext>
            </a:extLst>
          </p:cNvPr>
          <p:cNvSpPr>
            <a:spLocks noGrp="1"/>
          </p:cNvSpPr>
          <p:nvPr>
            <p:ph type="title"/>
          </p:nvPr>
        </p:nvSpPr>
        <p:spPr/>
        <p:txBody>
          <a:bodyPr/>
          <a:lstStyle/>
          <a:p>
            <a:r>
              <a:rPr lang="en-US" dirty="0"/>
              <a:t>Outline of this lecture</a:t>
            </a:r>
          </a:p>
        </p:txBody>
      </p:sp>
      <p:sp>
        <p:nvSpPr>
          <p:cNvPr id="3" name="Content Placeholder 2">
            <a:extLst>
              <a:ext uri="{FF2B5EF4-FFF2-40B4-BE49-F238E27FC236}">
                <a16:creationId xmlns:a16="http://schemas.microsoft.com/office/drawing/2014/main" id="{8EF9911C-7C41-FC72-C3DB-359B3DDE35C7}"/>
              </a:ext>
            </a:extLst>
          </p:cNvPr>
          <p:cNvSpPr>
            <a:spLocks noGrp="1"/>
          </p:cNvSpPr>
          <p:nvPr>
            <p:ph idx="1"/>
          </p:nvPr>
        </p:nvSpPr>
        <p:spPr/>
        <p:txBody>
          <a:bodyPr/>
          <a:lstStyle/>
          <a:p>
            <a:pPr marL="514350" indent="-514350">
              <a:buFont typeface="+mj-lt"/>
              <a:buAutoNum type="arabicPeriod"/>
            </a:pPr>
            <a:r>
              <a:rPr lang="en-US" dirty="0"/>
              <a:t>Definition of key vocabulary</a:t>
            </a:r>
          </a:p>
          <a:p>
            <a:pPr marL="514350" indent="-514350">
              <a:buFont typeface="+mj-lt"/>
              <a:buAutoNum type="arabicPeriod"/>
            </a:pPr>
            <a:r>
              <a:rPr lang="en-US" dirty="0"/>
              <a:t>Some common vulnerabilities, and possible mitigations</a:t>
            </a:r>
          </a:p>
          <a:p>
            <a:pPr marL="514350" indent="-514350">
              <a:buFont typeface="+mj-lt"/>
              <a:buAutoNum type="arabicPeriod"/>
            </a:pPr>
            <a:r>
              <a:rPr lang="en-US" dirty="0"/>
              <a:t>Getting security right is about people as well as software.</a:t>
            </a:r>
          </a:p>
          <a:p>
            <a:pPr marL="514350" indent="-514350">
              <a:buFont typeface="+mj-lt"/>
              <a:buAutoNum type="arabicPeriod"/>
            </a:pPr>
            <a:endParaRPr lang="en-US" dirty="0"/>
          </a:p>
        </p:txBody>
      </p:sp>
      <p:sp>
        <p:nvSpPr>
          <p:cNvPr id="4" name="Slide Number Placeholder 3">
            <a:extLst>
              <a:ext uri="{FF2B5EF4-FFF2-40B4-BE49-F238E27FC236}">
                <a16:creationId xmlns:a16="http://schemas.microsoft.com/office/drawing/2014/main" id="{2A7DE133-ADDD-9C96-A427-C9A2BD0FB364}"/>
              </a:ext>
            </a:extLst>
          </p:cNvPr>
          <p:cNvSpPr>
            <a:spLocks noGrp="1"/>
          </p:cNvSpPr>
          <p:nvPr>
            <p:ph type="sldNum" sz="quarter" idx="12"/>
          </p:nvPr>
        </p:nvSpPr>
        <p:spPr/>
        <p:txBody>
          <a:bodyPr/>
          <a:lstStyle/>
          <a:p>
            <a:fld id="{20F37917-FD3A-4669-9018-DA04BCDD3D75}" type="slidenum">
              <a:rPr lang="en-US" smtClean="0"/>
              <a:t>3</a:t>
            </a:fld>
            <a:endParaRPr lang="en-US" dirty="0"/>
          </a:p>
        </p:txBody>
      </p:sp>
    </p:spTree>
    <p:extLst>
      <p:ext uri="{BB962C8B-B14F-4D97-AF65-F5344CB8AC3E}">
        <p14:creationId xmlns:p14="http://schemas.microsoft.com/office/powerpoint/2010/main" val="1039625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5EE76-9285-238F-5EE7-FE6F356AA0D1}"/>
              </a:ext>
            </a:extLst>
          </p:cNvPr>
          <p:cNvSpPr>
            <a:spLocks noGrp="1"/>
          </p:cNvSpPr>
          <p:nvPr>
            <p:ph type="title"/>
          </p:nvPr>
        </p:nvSpPr>
        <p:spPr/>
        <p:txBody>
          <a:bodyPr/>
          <a:lstStyle/>
          <a:p>
            <a:r>
              <a:rPr lang="en-US" dirty="0"/>
              <a:t>Security: Basic Vocabulary (1)</a:t>
            </a:r>
          </a:p>
        </p:txBody>
      </p:sp>
      <p:sp>
        <p:nvSpPr>
          <p:cNvPr id="3" name="Content Placeholder 2">
            <a:extLst>
              <a:ext uri="{FF2B5EF4-FFF2-40B4-BE49-F238E27FC236}">
                <a16:creationId xmlns:a16="http://schemas.microsoft.com/office/drawing/2014/main" id="{51FF7043-E4F9-A17C-F3B8-FD58CA6A73D6}"/>
              </a:ext>
            </a:extLst>
          </p:cNvPr>
          <p:cNvSpPr>
            <a:spLocks noGrp="1"/>
          </p:cNvSpPr>
          <p:nvPr>
            <p:ph idx="1"/>
          </p:nvPr>
        </p:nvSpPr>
        <p:spPr/>
        <p:txBody>
          <a:bodyPr/>
          <a:lstStyle/>
          <a:p>
            <a:r>
              <a:rPr lang="en-US" dirty="0"/>
              <a:t>Security is a set of non-functional requirements (sometimes called “CIA”):</a:t>
            </a:r>
          </a:p>
          <a:p>
            <a:r>
              <a:rPr lang="en-US" dirty="0"/>
              <a:t>Confidentiality: is information disclosed to unauthorized individuals?</a:t>
            </a:r>
          </a:p>
          <a:p>
            <a:r>
              <a:rPr lang="en-US" dirty="0"/>
              <a:t>Integrity: is code or data tampered with?</a:t>
            </a:r>
          </a:p>
          <a:p>
            <a:r>
              <a:rPr lang="en-US" dirty="0"/>
              <a:t>Availability: is the system accessible and usable?</a:t>
            </a:r>
          </a:p>
          <a:p>
            <a:endParaRPr lang="en-US" dirty="0"/>
          </a:p>
        </p:txBody>
      </p:sp>
      <p:sp>
        <p:nvSpPr>
          <p:cNvPr id="4" name="Slide Number Placeholder 3">
            <a:extLst>
              <a:ext uri="{FF2B5EF4-FFF2-40B4-BE49-F238E27FC236}">
                <a16:creationId xmlns:a16="http://schemas.microsoft.com/office/drawing/2014/main" id="{87774AF4-9C48-112F-56C4-79515273B15D}"/>
              </a:ext>
            </a:extLst>
          </p:cNvPr>
          <p:cNvSpPr>
            <a:spLocks noGrp="1"/>
          </p:cNvSpPr>
          <p:nvPr>
            <p:ph type="sldNum" sz="quarter" idx="12"/>
          </p:nvPr>
        </p:nvSpPr>
        <p:spPr/>
        <p:txBody>
          <a:bodyPr/>
          <a:lstStyle/>
          <a:p>
            <a:fld id="{20F37917-FD3A-4669-9018-DA04BCDD3D75}" type="slidenum">
              <a:rPr lang="en-US" smtClean="0"/>
              <a:t>4</a:t>
            </a:fld>
            <a:endParaRPr lang="en-US" dirty="0"/>
          </a:p>
        </p:txBody>
      </p:sp>
    </p:spTree>
    <p:extLst>
      <p:ext uri="{BB962C8B-B14F-4D97-AF65-F5344CB8AC3E}">
        <p14:creationId xmlns:p14="http://schemas.microsoft.com/office/powerpoint/2010/main" val="747519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CEC33-DD4A-7C41-0DA6-F14A7B371A65}"/>
              </a:ext>
            </a:extLst>
          </p:cNvPr>
          <p:cNvSpPr>
            <a:spLocks noGrp="1"/>
          </p:cNvSpPr>
          <p:nvPr>
            <p:ph type="title"/>
          </p:nvPr>
        </p:nvSpPr>
        <p:spPr/>
        <p:txBody>
          <a:bodyPr/>
          <a:lstStyle/>
          <a:p>
            <a:r>
              <a:rPr lang="en-US" dirty="0"/>
              <a:t>Security: Basic Vocabulary (2) </a:t>
            </a:r>
          </a:p>
        </p:txBody>
      </p:sp>
      <p:sp>
        <p:nvSpPr>
          <p:cNvPr id="3" name="Content Placeholder 2">
            <a:extLst>
              <a:ext uri="{FF2B5EF4-FFF2-40B4-BE49-F238E27FC236}">
                <a16:creationId xmlns:a16="http://schemas.microsoft.com/office/drawing/2014/main" id="{51BE5996-979E-A99D-D7C0-979946602204}"/>
              </a:ext>
            </a:extLst>
          </p:cNvPr>
          <p:cNvSpPr>
            <a:spLocks noGrp="1"/>
          </p:cNvSpPr>
          <p:nvPr>
            <p:ph idx="1"/>
          </p:nvPr>
        </p:nvSpPr>
        <p:spPr/>
        <p:txBody>
          <a:bodyPr>
            <a:normAutofit/>
          </a:bodyPr>
          <a:lstStyle/>
          <a:p>
            <a:r>
              <a:rPr lang="en-US" dirty="0"/>
              <a:t>Asset: something of value that is the subject of a security requirement</a:t>
            </a:r>
          </a:p>
          <a:p>
            <a:r>
              <a:rPr lang="en-US" dirty="0"/>
              <a:t>Threat: potential condition or event that could compromise a security requirement</a:t>
            </a:r>
          </a:p>
          <a:p>
            <a:r>
              <a:rPr lang="en-US" dirty="0"/>
              <a:t>Vulnerability: a characteristic or flaw in system design or implementation, or in the security procedures, that, if exploited, could result in a security compromise</a:t>
            </a:r>
          </a:p>
          <a:p>
            <a:endParaRPr lang="en-US" dirty="0"/>
          </a:p>
        </p:txBody>
      </p:sp>
      <p:sp>
        <p:nvSpPr>
          <p:cNvPr id="4" name="Slide Number Placeholder 3">
            <a:extLst>
              <a:ext uri="{FF2B5EF4-FFF2-40B4-BE49-F238E27FC236}">
                <a16:creationId xmlns:a16="http://schemas.microsoft.com/office/drawing/2014/main" id="{8747B6BA-A366-FB31-99A5-22FBEF58BCAD}"/>
              </a:ext>
            </a:extLst>
          </p:cNvPr>
          <p:cNvSpPr>
            <a:spLocks noGrp="1"/>
          </p:cNvSpPr>
          <p:nvPr>
            <p:ph type="sldNum" sz="quarter" idx="12"/>
          </p:nvPr>
        </p:nvSpPr>
        <p:spPr/>
        <p:txBody>
          <a:bodyPr/>
          <a:lstStyle/>
          <a:p>
            <a:fld id="{20F37917-FD3A-4669-9018-DA04BCDD3D75}" type="slidenum">
              <a:rPr lang="en-US" smtClean="0"/>
              <a:t>5</a:t>
            </a:fld>
            <a:endParaRPr lang="en-US" dirty="0"/>
          </a:p>
        </p:txBody>
      </p:sp>
    </p:spTree>
    <p:extLst>
      <p:ext uri="{BB962C8B-B14F-4D97-AF65-F5344CB8AC3E}">
        <p14:creationId xmlns:p14="http://schemas.microsoft.com/office/powerpoint/2010/main" val="85683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CEC33-DD4A-7C41-0DA6-F14A7B371A65}"/>
              </a:ext>
            </a:extLst>
          </p:cNvPr>
          <p:cNvSpPr>
            <a:spLocks noGrp="1"/>
          </p:cNvSpPr>
          <p:nvPr>
            <p:ph type="title"/>
          </p:nvPr>
        </p:nvSpPr>
        <p:spPr/>
        <p:txBody>
          <a:bodyPr/>
          <a:lstStyle/>
          <a:p>
            <a:r>
              <a:rPr lang="en-US" dirty="0"/>
              <a:t>Security: Basic Vocabulary (3) </a:t>
            </a:r>
          </a:p>
        </p:txBody>
      </p:sp>
      <p:sp>
        <p:nvSpPr>
          <p:cNvPr id="3" name="Content Placeholder 2">
            <a:extLst>
              <a:ext uri="{FF2B5EF4-FFF2-40B4-BE49-F238E27FC236}">
                <a16:creationId xmlns:a16="http://schemas.microsoft.com/office/drawing/2014/main" id="{51BE5996-979E-A99D-D7C0-979946602204}"/>
              </a:ext>
            </a:extLst>
          </p:cNvPr>
          <p:cNvSpPr>
            <a:spLocks noGrp="1"/>
          </p:cNvSpPr>
          <p:nvPr>
            <p:ph idx="1"/>
          </p:nvPr>
        </p:nvSpPr>
        <p:spPr/>
        <p:txBody>
          <a:bodyPr>
            <a:normAutofit/>
          </a:bodyPr>
          <a:lstStyle/>
          <a:p>
            <a:r>
              <a:rPr lang="en-US" dirty="0"/>
              <a:t>Attack Surface: a portion of the system that might contain a vulnerability</a:t>
            </a:r>
          </a:p>
          <a:p>
            <a:r>
              <a:rPr lang="en-US" dirty="0"/>
              <a:t>Exploit: a technique or method for exploiting a vulnerability</a:t>
            </a:r>
          </a:p>
          <a:p>
            <a:r>
              <a:rPr lang="en-US" dirty="0"/>
              <a:t>Attack: an event that results in the realization of a threat</a:t>
            </a:r>
          </a:p>
          <a:p>
            <a:r>
              <a:rPr lang="en-US" dirty="0"/>
              <a:t>Mitigation: a technique for making an attack less likely, more expensive, or less valuable to an attacker.</a:t>
            </a:r>
          </a:p>
        </p:txBody>
      </p:sp>
      <p:sp>
        <p:nvSpPr>
          <p:cNvPr id="4" name="Slide Number Placeholder 3">
            <a:extLst>
              <a:ext uri="{FF2B5EF4-FFF2-40B4-BE49-F238E27FC236}">
                <a16:creationId xmlns:a16="http://schemas.microsoft.com/office/drawing/2014/main" id="{8747B6BA-A366-FB31-99A5-22FBEF58BCAD}"/>
              </a:ext>
            </a:extLst>
          </p:cNvPr>
          <p:cNvSpPr>
            <a:spLocks noGrp="1"/>
          </p:cNvSpPr>
          <p:nvPr>
            <p:ph type="sldNum" sz="quarter" idx="12"/>
          </p:nvPr>
        </p:nvSpPr>
        <p:spPr/>
        <p:txBody>
          <a:bodyPr/>
          <a:lstStyle/>
          <a:p>
            <a:fld id="{20F37917-FD3A-4669-9018-DA04BCDD3D75}" type="slidenum">
              <a:rPr lang="en-US" smtClean="0"/>
              <a:t>6</a:t>
            </a:fld>
            <a:endParaRPr lang="en-US" dirty="0"/>
          </a:p>
        </p:txBody>
      </p:sp>
    </p:spTree>
    <p:extLst>
      <p:ext uri="{BB962C8B-B14F-4D97-AF65-F5344CB8AC3E}">
        <p14:creationId xmlns:p14="http://schemas.microsoft.com/office/powerpoint/2010/main" val="649774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24B9F-3533-961F-F3F1-F10B401DB3B4}"/>
              </a:ext>
            </a:extLst>
          </p:cNvPr>
          <p:cNvSpPr>
            <a:spLocks noGrp="1"/>
          </p:cNvSpPr>
          <p:nvPr>
            <p:ph type="title"/>
          </p:nvPr>
        </p:nvSpPr>
        <p:spPr/>
        <p:txBody>
          <a:bodyPr/>
          <a:lstStyle/>
          <a:p>
            <a:r>
              <a:rPr lang="en-US" dirty="0"/>
              <a:t>Security is a multiplayer game</a:t>
            </a:r>
          </a:p>
        </p:txBody>
      </p:sp>
      <p:sp>
        <p:nvSpPr>
          <p:cNvPr id="7" name="Content Placeholder 6">
            <a:extLst>
              <a:ext uri="{FF2B5EF4-FFF2-40B4-BE49-F238E27FC236}">
                <a16:creationId xmlns:a16="http://schemas.microsoft.com/office/drawing/2014/main" id="{1B1C69BA-16B3-143F-593E-910B934645D3}"/>
              </a:ext>
            </a:extLst>
          </p:cNvPr>
          <p:cNvSpPr>
            <a:spLocks noGrp="1"/>
          </p:cNvSpPr>
          <p:nvPr>
            <p:ph idx="1"/>
          </p:nvPr>
        </p:nvSpPr>
        <p:spPr>
          <a:xfrm>
            <a:off x="838200" y="1500159"/>
            <a:ext cx="4933950" cy="5221315"/>
          </a:xfrm>
        </p:spPr>
        <p:txBody>
          <a:bodyPr/>
          <a:lstStyle/>
          <a:p>
            <a:pPr marL="0" indent="0">
              <a:buNone/>
            </a:pPr>
            <a:r>
              <a:rPr lang="en-US" dirty="0"/>
              <a:t>The </a:t>
            </a:r>
            <a:r>
              <a:rPr lang="en-US" b="1" i="1" dirty="0"/>
              <a:t>threat model </a:t>
            </a:r>
            <a:r>
              <a:rPr lang="en-US" dirty="0"/>
              <a:t>specifies the rules you imagine that the other person is playing by</a:t>
            </a:r>
            <a:endParaRPr lang="en-US" i="1" dirty="0"/>
          </a:p>
          <a:p>
            <a:r>
              <a:rPr lang="en-US" dirty="0"/>
              <a:t>GameNite has radically different applicable threat models than, say, the State Department.</a:t>
            </a:r>
          </a:p>
          <a:p>
            <a:pPr marL="0" indent="0">
              <a:buNone/>
            </a:pPr>
            <a:r>
              <a:rPr lang="en-US" dirty="0"/>
              <a:t>The </a:t>
            </a:r>
            <a:r>
              <a:rPr lang="en-US" b="1" i="1" dirty="0"/>
              <a:t>attack surface</a:t>
            </a:r>
            <a:r>
              <a:rPr lang="en-US" i="1" dirty="0"/>
              <a:t> </a:t>
            </a:r>
            <a:r>
              <a:rPr lang="en-US" dirty="0"/>
              <a:t>is where the other player gets to play the game</a:t>
            </a:r>
          </a:p>
        </p:txBody>
      </p:sp>
      <p:sp>
        <p:nvSpPr>
          <p:cNvPr id="4" name="Slide Number Placeholder 3">
            <a:extLst>
              <a:ext uri="{FF2B5EF4-FFF2-40B4-BE49-F238E27FC236}">
                <a16:creationId xmlns:a16="http://schemas.microsoft.com/office/drawing/2014/main" id="{2597EACA-F290-C0E1-FC99-ED9CB77F6EA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1026" name="Picture 2" descr="Security">
            <a:extLst>
              <a:ext uri="{FF2B5EF4-FFF2-40B4-BE49-F238E27FC236}">
                <a16:creationId xmlns:a16="http://schemas.microsoft.com/office/drawing/2014/main" id="{EA0589A8-746F-83D0-D1B5-CE76075434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689100"/>
            <a:ext cx="5689600" cy="34798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0103198-4671-EBB7-CC94-7CC3F29557CF}"/>
              </a:ext>
            </a:extLst>
          </p:cNvPr>
          <p:cNvSpPr txBox="1"/>
          <p:nvPr/>
        </p:nvSpPr>
        <p:spPr>
          <a:xfrm>
            <a:off x="6096000" y="5208627"/>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https://xkcd.com/538/</a:t>
            </a:r>
          </a:p>
        </p:txBody>
      </p:sp>
    </p:spTree>
    <p:extLst>
      <p:ext uri="{BB962C8B-B14F-4D97-AF65-F5344CB8AC3E}">
        <p14:creationId xmlns:p14="http://schemas.microsoft.com/office/powerpoint/2010/main" val="2715120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734FF-7C41-EFAF-CD72-F940AAE266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1ACE48-9C5F-E584-59C4-5E27C882EC12}"/>
              </a:ext>
            </a:extLst>
          </p:cNvPr>
          <p:cNvSpPr>
            <a:spLocks noGrp="1"/>
          </p:cNvSpPr>
          <p:nvPr>
            <p:ph type="title"/>
          </p:nvPr>
        </p:nvSpPr>
        <p:spPr/>
        <p:txBody>
          <a:bodyPr/>
          <a:lstStyle/>
          <a:p>
            <a:r>
              <a:rPr lang="en-US" dirty="0"/>
              <a:t>A Simple Threat Model</a:t>
            </a:r>
          </a:p>
        </p:txBody>
      </p:sp>
      <p:sp>
        <p:nvSpPr>
          <p:cNvPr id="7" name="Content Placeholder 6">
            <a:extLst>
              <a:ext uri="{FF2B5EF4-FFF2-40B4-BE49-F238E27FC236}">
                <a16:creationId xmlns:a16="http://schemas.microsoft.com/office/drawing/2014/main" id="{95809375-729B-F2F0-33C7-C282F4CDE615}"/>
              </a:ext>
            </a:extLst>
          </p:cNvPr>
          <p:cNvSpPr>
            <a:spLocks noGrp="1"/>
          </p:cNvSpPr>
          <p:nvPr>
            <p:ph idx="1"/>
          </p:nvPr>
        </p:nvSpPr>
        <p:spPr>
          <a:xfrm>
            <a:off x="838199" y="1500159"/>
            <a:ext cx="9205913" cy="5221315"/>
          </a:xfrm>
        </p:spPr>
        <p:txBody>
          <a:bodyPr>
            <a:normAutofit/>
          </a:bodyPr>
          <a:lstStyle/>
          <a:p>
            <a:pPr marL="0" indent="0">
              <a:buNone/>
            </a:pPr>
            <a:r>
              <a:rPr lang="en-US" b="1" dirty="0"/>
              <a:t>Simple threat model and attack surface: </a:t>
            </a:r>
            <a:r>
              <a:rPr lang="en-US" dirty="0"/>
              <a:t>on the web, an attacker can make arbitrary requests to any API endpoint, send arbitrary messages over websockets, and can directly interpret every message that comes from the server.</a:t>
            </a:r>
          </a:p>
          <a:p>
            <a:pPr marL="0" indent="0">
              <a:buNone/>
            </a:pPr>
            <a:endParaRPr lang="en-US" dirty="0"/>
          </a:p>
          <a:p>
            <a:pPr marL="0" indent="0">
              <a:buNone/>
            </a:pPr>
            <a:r>
              <a:rPr lang="en-US" b="1" dirty="0"/>
              <a:t>Mitigations:</a:t>
            </a:r>
          </a:p>
          <a:p>
            <a:pPr marL="514350" indent="-514350">
              <a:buFont typeface="+mj-lt"/>
              <a:buAutoNum type="arabicPeriod"/>
            </a:pPr>
            <a:r>
              <a:rPr lang="en-US" dirty="0"/>
              <a:t>Don't put secrets in client code</a:t>
            </a:r>
          </a:p>
          <a:p>
            <a:pPr marL="514350" indent="-514350">
              <a:buFont typeface="+mj-lt"/>
              <a:buAutoNum type="arabicPeriod"/>
            </a:pPr>
            <a:r>
              <a:rPr lang="en-US" dirty="0"/>
              <a:t>Aggressively validate API requests </a:t>
            </a:r>
          </a:p>
          <a:p>
            <a:pPr lvl="1"/>
            <a:r>
              <a:rPr lang="en-US" dirty="0"/>
              <a:t>more on this later.</a:t>
            </a:r>
          </a:p>
          <a:p>
            <a:pPr marL="0" indent="0">
              <a:buNone/>
            </a:pPr>
            <a:endParaRPr lang="en-US" dirty="0"/>
          </a:p>
        </p:txBody>
      </p:sp>
      <p:sp>
        <p:nvSpPr>
          <p:cNvPr id="4" name="Slide Number Placeholder 3">
            <a:extLst>
              <a:ext uri="{FF2B5EF4-FFF2-40B4-BE49-F238E27FC236}">
                <a16:creationId xmlns:a16="http://schemas.microsoft.com/office/drawing/2014/main" id="{83812887-BEE8-250B-13A6-190D43193B8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9356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45DB9-247C-58EF-5947-ED4D2A38A7DC}"/>
              </a:ext>
            </a:extLst>
          </p:cNvPr>
          <p:cNvSpPr>
            <a:spLocks noGrp="1"/>
          </p:cNvSpPr>
          <p:nvPr>
            <p:ph type="title"/>
          </p:nvPr>
        </p:nvSpPr>
        <p:spPr/>
        <p:txBody>
          <a:bodyPr/>
          <a:lstStyle/>
          <a:p>
            <a:r>
              <a:rPr lang="en-US" dirty="0"/>
              <a:t>Security Principle #1: Minimize Attack Surfaces</a:t>
            </a:r>
          </a:p>
        </p:txBody>
      </p:sp>
      <p:sp>
        <p:nvSpPr>
          <p:cNvPr id="4" name="Content Placeholder 3">
            <a:extLst>
              <a:ext uri="{FF2B5EF4-FFF2-40B4-BE49-F238E27FC236}">
                <a16:creationId xmlns:a16="http://schemas.microsoft.com/office/drawing/2014/main" id="{21B4EB2A-586B-5290-5A1F-B7B2DE09B4F6}"/>
              </a:ext>
            </a:extLst>
          </p:cNvPr>
          <p:cNvSpPr>
            <a:spLocks noGrp="1"/>
          </p:cNvSpPr>
          <p:nvPr>
            <p:ph idx="1"/>
          </p:nvPr>
        </p:nvSpPr>
        <p:spPr/>
        <p:txBody>
          <a:bodyPr/>
          <a:lstStyle/>
          <a:p>
            <a:r>
              <a:rPr lang="en-US" dirty="0"/>
              <a:t>Mitigations:</a:t>
            </a:r>
          </a:p>
          <a:p>
            <a:pPr lvl="1"/>
            <a:r>
              <a:rPr lang="en-US" dirty="0"/>
              <a:t>Study new APIs and commands for new attack surfaces</a:t>
            </a:r>
          </a:p>
          <a:p>
            <a:pPr lvl="1"/>
            <a:r>
              <a:rPr lang="en-US" dirty="0"/>
              <a:t>Remove extraneous dependencies</a:t>
            </a:r>
          </a:p>
          <a:p>
            <a:pPr lvl="1"/>
            <a:r>
              <a:rPr lang="en-US" dirty="0"/>
              <a:t>Remove unneeded APIs and commands</a:t>
            </a:r>
          </a:p>
          <a:p>
            <a:pPr lvl="1"/>
            <a:r>
              <a:rPr lang="en-US" dirty="0"/>
              <a:t>Authenticate users of APIs</a:t>
            </a:r>
          </a:p>
          <a:p>
            <a:pPr marL="0" indent="0">
              <a:buNone/>
            </a:pPr>
            <a:endParaRPr lang="en-US" dirty="0"/>
          </a:p>
        </p:txBody>
      </p:sp>
      <p:sp>
        <p:nvSpPr>
          <p:cNvPr id="3" name="Slide Number Placeholder 2">
            <a:extLst>
              <a:ext uri="{FF2B5EF4-FFF2-40B4-BE49-F238E27FC236}">
                <a16:creationId xmlns:a16="http://schemas.microsoft.com/office/drawing/2014/main" id="{66592066-B7FE-2E37-3413-943780334CFC}"/>
              </a:ext>
            </a:extLst>
          </p:cNvPr>
          <p:cNvSpPr>
            <a:spLocks noGrp="1"/>
          </p:cNvSpPr>
          <p:nvPr>
            <p:ph type="sldNum" sz="quarter" idx="12"/>
          </p:nvPr>
        </p:nvSpPr>
        <p:spPr/>
        <p:txBody>
          <a:bodyPr/>
          <a:lstStyle/>
          <a:p>
            <a:fld id="{20F37917-FD3A-4669-9018-DA04BCDD3D75}" type="slidenum">
              <a:rPr lang="en-US" smtClean="0"/>
              <a:t>9</a:t>
            </a:fld>
            <a:endParaRPr lang="en-US" dirty="0"/>
          </a:p>
        </p:txBody>
      </p:sp>
    </p:spTree>
    <p:extLst>
      <p:ext uri="{BB962C8B-B14F-4D97-AF65-F5344CB8AC3E}">
        <p14:creationId xmlns:p14="http://schemas.microsoft.com/office/powerpoint/2010/main" val="1044261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Threat Models"/>
          <p:cNvSpPr txBox="1">
            <a:spLocks noGrp="1"/>
          </p:cNvSpPr>
          <p:nvPr>
            <p:ph type="title"/>
          </p:nvPr>
        </p:nvSpPr>
        <p:spPr>
          <a:prstGeom prst="rect">
            <a:avLst/>
          </a:prstGeom>
        </p:spPr>
        <p:txBody>
          <a:bodyPr>
            <a:normAutofit/>
          </a:bodyPr>
          <a:lstStyle/>
          <a:p>
            <a:r>
              <a:rPr lang="en-US" dirty="0"/>
              <a:t>More complex systems require more complex threat models</a:t>
            </a:r>
            <a:endParaRPr dirty="0"/>
          </a:p>
        </p:txBody>
      </p:sp>
      <p:sp>
        <p:nvSpPr>
          <p:cNvPr id="157" name="What is being defended?…"/>
          <p:cNvSpPr txBox="1">
            <a:spLocks noGrp="1"/>
          </p:cNvSpPr>
          <p:nvPr>
            <p:ph idx="1"/>
          </p:nvPr>
        </p:nvSpPr>
        <p:spPr>
          <a:prstGeom prst="rect">
            <a:avLst/>
          </a:prstGeom>
        </p:spPr>
        <p:txBody>
          <a:bodyPr>
            <a:normAutofit/>
          </a:bodyPr>
          <a:lstStyle/>
          <a:p>
            <a:r>
              <a:rPr dirty="0"/>
              <a:t>What is being defended?</a:t>
            </a:r>
          </a:p>
          <a:p>
            <a:r>
              <a:rPr dirty="0"/>
              <a:t>What malicious actors exist and what attacks might they employ?</a:t>
            </a:r>
            <a:endParaRPr lang="en-US" dirty="0"/>
          </a:p>
          <a:p>
            <a:r>
              <a:rPr lang="en-US" dirty="0"/>
              <a:t>What value can an attacker extract from a vulnerability?</a:t>
            </a:r>
            <a:endParaRPr dirty="0"/>
          </a:p>
          <a:p>
            <a:r>
              <a:rPr dirty="0"/>
              <a:t>Who do we trust?</a:t>
            </a:r>
            <a:r>
              <a:rPr lang="en-US" dirty="0"/>
              <a:t> What parts of the system do we trust?</a:t>
            </a:r>
            <a:endParaRPr dirty="0"/>
          </a:p>
          <a:p>
            <a:r>
              <a:rPr lang="en-US" dirty="0"/>
              <a:t>What can we do in case of attack?</a:t>
            </a:r>
          </a:p>
        </p:txBody>
      </p:sp>
      <p:pic>
        <p:nvPicPr>
          <p:cNvPr id="1026" name="Picture 2">
            <a:extLst>
              <a:ext uri="{FF2B5EF4-FFF2-40B4-BE49-F238E27FC236}">
                <a16:creationId xmlns:a16="http://schemas.microsoft.com/office/drawing/2014/main" id="{4EBE8FD4-1B61-7454-C70C-FC7135E123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7287" y="1678897"/>
            <a:ext cx="2871463" cy="51073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5299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C269D-332D-7519-6CED-6E8C182E2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4C6E5-8FE2-DF16-609E-9B7A086EBBD8}"/>
              </a:ext>
            </a:extLst>
          </p:cNvPr>
          <p:cNvSpPr>
            <a:spLocks noGrp="1"/>
          </p:cNvSpPr>
          <p:nvPr>
            <p:ph type="title"/>
          </p:nvPr>
        </p:nvSpPr>
        <p:spPr/>
        <p:txBody>
          <a:bodyPr/>
          <a:lstStyle/>
          <a:p>
            <a:r>
              <a:rPr lang="en-US" dirty="0"/>
              <a:t>STRIDE Framework can help identify Common Threats</a:t>
            </a:r>
          </a:p>
        </p:txBody>
      </p:sp>
      <p:sp>
        <p:nvSpPr>
          <p:cNvPr id="3" name="Content Placeholder 2">
            <a:extLst>
              <a:ext uri="{FF2B5EF4-FFF2-40B4-BE49-F238E27FC236}">
                <a16:creationId xmlns:a16="http://schemas.microsoft.com/office/drawing/2014/main" id="{64D9733F-E10E-307D-2EA6-7F4520ABB642}"/>
              </a:ext>
            </a:extLst>
          </p:cNvPr>
          <p:cNvSpPr>
            <a:spLocks noGrp="1"/>
          </p:cNvSpPr>
          <p:nvPr>
            <p:ph idx="1"/>
          </p:nvPr>
        </p:nvSpPr>
        <p:spPr>
          <a:xfrm>
            <a:off x="838200" y="1500160"/>
            <a:ext cx="8473068" cy="4351338"/>
          </a:xfrm>
        </p:spPr>
        <p:txBody>
          <a:bodyPr>
            <a:normAutofit/>
          </a:bodyPr>
          <a:lstStyle/>
          <a:p>
            <a:r>
              <a:rPr lang="en-US" sz="3200" dirty="0"/>
              <a:t>The </a:t>
            </a:r>
            <a:r>
              <a:rPr lang="en-US" sz="3200" b="1" dirty="0"/>
              <a:t>STRIDE</a:t>
            </a:r>
            <a:r>
              <a:rPr lang="en-US" sz="3200" dirty="0"/>
              <a:t> framework is a useful categorization of common threats</a:t>
            </a:r>
          </a:p>
          <a:p>
            <a:pPr lvl="1"/>
            <a:r>
              <a:rPr lang="en-US" sz="2800" b="1" dirty="0"/>
              <a:t>S</a:t>
            </a:r>
            <a:r>
              <a:rPr lang="en-US" sz="2800" dirty="0"/>
              <a:t>poofing </a:t>
            </a:r>
          </a:p>
          <a:p>
            <a:pPr lvl="1"/>
            <a:r>
              <a:rPr lang="en-US" sz="2800" b="1" dirty="0"/>
              <a:t>T</a:t>
            </a:r>
            <a:r>
              <a:rPr lang="en-US" sz="2800" dirty="0"/>
              <a:t>ampering</a:t>
            </a:r>
          </a:p>
          <a:p>
            <a:pPr lvl="1"/>
            <a:r>
              <a:rPr lang="en-US" sz="2800" b="1" dirty="0"/>
              <a:t>R</a:t>
            </a:r>
            <a:r>
              <a:rPr lang="en-US" sz="2800" dirty="0"/>
              <a:t>epudiation</a:t>
            </a:r>
          </a:p>
          <a:p>
            <a:pPr lvl="1"/>
            <a:r>
              <a:rPr lang="en-US" sz="2800" b="1" dirty="0"/>
              <a:t>I</a:t>
            </a:r>
            <a:r>
              <a:rPr lang="en-US" sz="2800" dirty="0"/>
              <a:t>nformation Disclosure</a:t>
            </a:r>
          </a:p>
          <a:p>
            <a:pPr lvl="1"/>
            <a:r>
              <a:rPr lang="en-US" sz="2800" b="1" dirty="0"/>
              <a:t>D</a:t>
            </a:r>
            <a:r>
              <a:rPr lang="en-US" sz="2800" dirty="0"/>
              <a:t>enial of Service</a:t>
            </a:r>
          </a:p>
          <a:p>
            <a:pPr lvl="1"/>
            <a:r>
              <a:rPr lang="en-US" sz="2800" b="1" dirty="0"/>
              <a:t>E</a:t>
            </a:r>
            <a:r>
              <a:rPr lang="en-US" sz="2800" dirty="0"/>
              <a:t>levation of Privilege</a:t>
            </a:r>
          </a:p>
        </p:txBody>
      </p:sp>
      <p:sp>
        <p:nvSpPr>
          <p:cNvPr id="4" name="Slide Number Placeholder 3">
            <a:extLst>
              <a:ext uri="{FF2B5EF4-FFF2-40B4-BE49-F238E27FC236}">
                <a16:creationId xmlns:a16="http://schemas.microsoft.com/office/drawing/2014/main" id="{1435EAD8-89C7-41F3-196B-5DA7219C7D6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2460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Security isn't (always) free"/>
          <p:cNvSpPr txBox="1">
            <a:spLocks noGrp="1"/>
          </p:cNvSpPr>
          <p:nvPr>
            <p:ph type="title"/>
          </p:nvPr>
        </p:nvSpPr>
        <p:spPr>
          <a:prstGeom prst="rect">
            <a:avLst/>
          </a:prstGeom>
        </p:spPr>
        <p:txBody>
          <a:bodyPr/>
          <a:lstStyle/>
          <a:p>
            <a:r>
              <a:rPr dirty="0"/>
              <a:t>Security isn't always free</a:t>
            </a:r>
          </a:p>
        </p:txBody>
      </p:sp>
      <p:sp>
        <p:nvSpPr>
          <p:cNvPr id="141" name="You just moved to a new house, someone just moved out of it. What do you do to protect your belongings/property?…"/>
          <p:cNvSpPr txBox="1">
            <a:spLocks noGrp="1"/>
          </p:cNvSpPr>
          <p:nvPr>
            <p:ph idx="1"/>
          </p:nvPr>
        </p:nvSpPr>
        <p:spPr>
          <a:prstGeom prst="rect">
            <a:avLst/>
          </a:prstGeom>
        </p:spPr>
        <p:txBody>
          <a:bodyPr>
            <a:normAutofit/>
          </a:bodyPr>
          <a:lstStyle/>
          <a:p>
            <a:r>
              <a:rPr lang="en-US" dirty="0"/>
              <a:t>In software, as in the real world…</a:t>
            </a:r>
          </a:p>
          <a:p>
            <a:r>
              <a:rPr dirty="0"/>
              <a:t>You just moved to a new house, someone just moved out of it. What do you do to protect your belongings/property?</a:t>
            </a:r>
            <a:endParaRPr lang="en-US" dirty="0"/>
          </a:p>
          <a:p>
            <a:r>
              <a:rPr lang="en-US" dirty="0"/>
              <a:t>What are the assets that need protection?</a:t>
            </a:r>
          </a:p>
          <a:p>
            <a:pPr lvl="1"/>
            <a:r>
              <a:rPr lang="en-US" dirty="0"/>
              <a:t>residents, furniture, cash, your stuff</a:t>
            </a:r>
          </a:p>
          <a:p>
            <a:r>
              <a:rPr lang="en-US" dirty="0"/>
              <a:t>What are the vulnerabilities?</a:t>
            </a:r>
          </a:p>
          <a:p>
            <a:pPr lvl="1"/>
            <a:r>
              <a:rPr lang="en-US" dirty="0"/>
              <a:t>doors, windows</a:t>
            </a:r>
          </a:p>
          <a:p>
            <a:endParaRPr dirty="0"/>
          </a:p>
        </p:txBody>
      </p:sp>
      <p:pic>
        <p:nvPicPr>
          <p:cNvPr id="1026" name="Picture 2" descr="brown wooden bench on front of white concrete house">
            <a:extLst>
              <a:ext uri="{FF2B5EF4-FFF2-40B4-BE49-F238E27FC236}">
                <a16:creationId xmlns:a16="http://schemas.microsoft.com/office/drawing/2014/main" id="{0A780290-61E0-594C-937F-3FF8932E1E6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077"/>
          <a:stretch/>
        </p:blipFill>
        <p:spPr bwMode="auto">
          <a:xfrm>
            <a:off x="7942396" y="1435688"/>
            <a:ext cx="4249605" cy="4762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277E8-6207-41E5-FFBE-3F9F449C3B46}"/>
            </a:ext>
          </a:extLst>
        </p:cNvPr>
        <p:cNvGrpSpPr/>
        <p:nvPr/>
      </p:nvGrpSpPr>
      <p:grpSpPr>
        <a:xfrm>
          <a:off x="0" y="0"/>
          <a:ext cx="0" cy="0"/>
          <a:chOff x="0" y="0"/>
          <a:chExt cx="0" cy="0"/>
        </a:xfrm>
      </p:grpSpPr>
      <p:sp>
        <p:nvSpPr>
          <p:cNvPr id="139" name="Security isn't (always) free">
            <a:extLst>
              <a:ext uri="{FF2B5EF4-FFF2-40B4-BE49-F238E27FC236}">
                <a16:creationId xmlns:a16="http://schemas.microsoft.com/office/drawing/2014/main" id="{951A5BBD-5F10-7357-F803-8C521C116E7D}"/>
              </a:ext>
            </a:extLst>
          </p:cNvPr>
          <p:cNvSpPr txBox="1">
            <a:spLocks noGrp="1"/>
          </p:cNvSpPr>
          <p:nvPr>
            <p:ph type="title"/>
          </p:nvPr>
        </p:nvSpPr>
        <p:spPr>
          <a:prstGeom prst="rect">
            <a:avLst/>
          </a:prstGeom>
        </p:spPr>
        <p:txBody>
          <a:bodyPr/>
          <a:lstStyle/>
          <a:p>
            <a:r>
              <a:rPr lang="en-US" dirty="0"/>
              <a:t>Beginnings of a threat model for the new home: what are the costs?</a:t>
            </a:r>
            <a:endParaRPr dirty="0"/>
          </a:p>
        </p:txBody>
      </p:sp>
      <p:graphicFrame>
        <p:nvGraphicFramePr>
          <p:cNvPr id="2" name="Table 1">
            <a:extLst>
              <a:ext uri="{FF2B5EF4-FFF2-40B4-BE49-F238E27FC236}">
                <a16:creationId xmlns:a16="http://schemas.microsoft.com/office/drawing/2014/main" id="{8C6CECCB-3F2D-DEBD-D3FE-EACA76F88CCA}"/>
              </a:ext>
            </a:extLst>
          </p:cNvPr>
          <p:cNvGraphicFramePr>
            <a:graphicFrameLocks noGrp="1"/>
          </p:cNvGraphicFramePr>
          <p:nvPr>
            <p:extLst>
              <p:ext uri="{D42A27DB-BD31-4B8C-83A1-F6EECF244321}">
                <p14:modId xmlns:p14="http://schemas.microsoft.com/office/powerpoint/2010/main" val="3737445050"/>
              </p:ext>
            </p:extLst>
          </p:nvPr>
        </p:nvGraphicFramePr>
        <p:xfrm>
          <a:off x="965198" y="1498493"/>
          <a:ext cx="10007602" cy="4948940"/>
        </p:xfrm>
        <a:graphic>
          <a:graphicData uri="http://schemas.openxmlformats.org/drawingml/2006/table">
            <a:tbl>
              <a:tblPr firstRow="1" bandRow="1">
                <a:tableStyleId>{21E4AEA4-8DFA-4A89-87EB-49C32662AFE0}</a:tableStyleId>
              </a:tblPr>
              <a:tblGrid>
                <a:gridCol w="4212283">
                  <a:extLst>
                    <a:ext uri="{9D8B030D-6E8A-4147-A177-3AD203B41FA5}">
                      <a16:colId xmlns:a16="http://schemas.microsoft.com/office/drawing/2014/main" val="1108290328"/>
                    </a:ext>
                  </a:extLst>
                </a:gridCol>
                <a:gridCol w="5795319">
                  <a:extLst>
                    <a:ext uri="{9D8B030D-6E8A-4147-A177-3AD203B41FA5}">
                      <a16:colId xmlns:a16="http://schemas.microsoft.com/office/drawing/2014/main" val="2438589173"/>
                    </a:ext>
                  </a:extLst>
                </a:gridCol>
              </a:tblGrid>
              <a:tr h="471860">
                <a:tc>
                  <a:txBody>
                    <a:bodyPr/>
                    <a:lstStyle/>
                    <a:p>
                      <a:r>
                        <a:rPr lang="en-US" sz="2400" dirty="0"/>
                        <a:t>Threat/Exploit</a:t>
                      </a:r>
                    </a:p>
                  </a:txBody>
                  <a:tcPr/>
                </a:tc>
                <a:tc>
                  <a:txBody>
                    <a:bodyPr/>
                    <a:lstStyle/>
                    <a:p>
                      <a:r>
                        <a:rPr lang="en-US" sz="2400" dirty="0"/>
                        <a:t>Mitigation</a:t>
                      </a:r>
                    </a:p>
                  </a:txBody>
                  <a:tcPr/>
                </a:tc>
                <a:extLst>
                  <a:ext uri="{0D108BD9-81ED-4DB2-BD59-A6C34878D82A}">
                    <a16:rowId xmlns:a16="http://schemas.microsoft.com/office/drawing/2014/main" val="1338652085"/>
                  </a:ext>
                </a:extLst>
              </a:tr>
              <a:tr h="471860">
                <a:tc>
                  <a:txBody>
                    <a:bodyPr/>
                    <a:lstStyle/>
                    <a:p>
                      <a:r>
                        <a:rPr lang="en-US" sz="2400" dirty="0"/>
                        <a:t>Fire</a:t>
                      </a:r>
                    </a:p>
                  </a:txBody>
                  <a:tcPr/>
                </a:tc>
                <a:tc>
                  <a:txBody>
                    <a:bodyPr/>
                    <a:lstStyle/>
                    <a:p>
                      <a:r>
                        <a:rPr lang="en-US" sz="2400" dirty="0"/>
                        <a:t>Smoke alarm, fire extinguisher</a:t>
                      </a:r>
                    </a:p>
                  </a:txBody>
                  <a:tcPr/>
                </a:tc>
                <a:extLst>
                  <a:ext uri="{0D108BD9-81ED-4DB2-BD59-A6C34878D82A}">
                    <a16:rowId xmlns:a16="http://schemas.microsoft.com/office/drawing/2014/main" val="1282073445"/>
                  </a:ext>
                </a:extLst>
              </a:tr>
              <a:tr h="787287">
                <a:tc>
                  <a:txBody>
                    <a:bodyPr/>
                    <a:lstStyle/>
                    <a:p>
                      <a:r>
                        <a:rPr lang="en-US" sz="2400" dirty="0"/>
                        <a:t>Hurricane</a:t>
                      </a:r>
                    </a:p>
                  </a:txBody>
                  <a:tcPr/>
                </a:tc>
                <a:tc>
                  <a:txBody>
                    <a:bodyPr/>
                    <a:lstStyle/>
                    <a:p>
                      <a:r>
                        <a:rPr lang="en-US" sz="2400" dirty="0"/>
                        <a:t>Strengthen windows; raise house; move away</a:t>
                      </a:r>
                    </a:p>
                  </a:txBody>
                  <a:tcPr/>
                </a:tc>
                <a:extLst>
                  <a:ext uri="{0D108BD9-81ED-4DB2-BD59-A6C34878D82A}">
                    <a16:rowId xmlns:a16="http://schemas.microsoft.com/office/drawing/2014/main" val="1140162907"/>
                  </a:ext>
                </a:extLst>
              </a:tr>
              <a:tr h="787287">
                <a:tc>
                  <a:txBody>
                    <a:bodyPr/>
                    <a:lstStyle/>
                    <a:p>
                      <a:r>
                        <a:rPr lang="en-US" sz="2400" dirty="0"/>
                        <a:t>Burglary</a:t>
                      </a:r>
                    </a:p>
                  </a:txBody>
                  <a:tcPr/>
                </a:tc>
                <a:tc>
                  <a:txBody>
                    <a:bodyPr/>
                    <a:lstStyle/>
                    <a:p>
                      <a:r>
                        <a:rPr lang="en-US" sz="2400" dirty="0"/>
                        <a:t>Burglar alarm? Better locks? Strengthen windows?</a:t>
                      </a:r>
                    </a:p>
                  </a:txBody>
                  <a:tcPr/>
                </a:tc>
                <a:extLst>
                  <a:ext uri="{0D108BD9-81ED-4DB2-BD59-A6C34878D82A}">
                    <a16:rowId xmlns:a16="http://schemas.microsoft.com/office/drawing/2014/main" val="3080155434"/>
                  </a:ext>
                </a:extLst>
              </a:tr>
              <a:tr h="471860">
                <a:tc>
                  <a:txBody>
                    <a:bodyPr/>
                    <a:lstStyle/>
                    <a:p>
                      <a:r>
                        <a:rPr lang="en-US" sz="2400" dirty="0"/>
                        <a:t>Former owner has keys</a:t>
                      </a:r>
                    </a:p>
                  </a:txBody>
                  <a:tcPr/>
                </a:tc>
                <a:tc>
                  <a:txBody>
                    <a:bodyPr/>
                    <a:lstStyle/>
                    <a:p>
                      <a:r>
                        <a:rPr lang="en-US" sz="2400" dirty="0"/>
                        <a:t>Change locks</a:t>
                      </a:r>
                    </a:p>
                  </a:txBody>
                  <a:tcPr/>
                </a:tc>
                <a:extLst>
                  <a:ext uri="{0D108BD9-81ED-4DB2-BD59-A6C34878D82A}">
                    <a16:rowId xmlns:a16="http://schemas.microsoft.com/office/drawing/2014/main" val="2798912601"/>
                  </a:ext>
                </a:extLst>
              </a:tr>
              <a:tr h="471860">
                <a:tc>
                  <a:txBody>
                    <a:bodyPr/>
                    <a:lstStyle/>
                    <a:p>
                      <a:r>
                        <a:rPr lang="en-US" sz="2400" dirty="0"/>
                        <a:t>Terrorism</a:t>
                      </a:r>
                    </a:p>
                  </a:txBody>
                  <a:tcPr/>
                </a:tc>
                <a:tc>
                  <a:txBody>
                    <a:bodyPr/>
                    <a:lstStyle/>
                    <a:p>
                      <a:r>
                        <a:rPr lang="en-US" sz="2400" dirty="0"/>
                        <a:t>???</a:t>
                      </a:r>
                    </a:p>
                  </a:txBody>
                  <a:tcPr/>
                </a:tc>
                <a:extLst>
                  <a:ext uri="{0D108BD9-81ED-4DB2-BD59-A6C34878D82A}">
                    <a16:rowId xmlns:a16="http://schemas.microsoft.com/office/drawing/2014/main" val="125037868"/>
                  </a:ext>
                </a:extLst>
              </a:tr>
              <a:tr h="471860">
                <a:tc>
                  <a:txBody>
                    <a:bodyPr/>
                    <a:lstStyle/>
                    <a:p>
                      <a:r>
                        <a:rPr lang="en-US" sz="2400" dirty="0"/>
                        <a:t>Nuclear war</a:t>
                      </a:r>
                    </a:p>
                  </a:txBody>
                  <a:tcPr/>
                </a:tc>
                <a:tc>
                  <a:txBody>
                    <a:bodyPr/>
                    <a:lstStyle/>
                    <a:p>
                      <a:r>
                        <a:rPr lang="en-US" sz="2400" dirty="0"/>
                        <a:t>????</a:t>
                      </a:r>
                    </a:p>
                  </a:txBody>
                  <a:tcPr/>
                </a:tc>
                <a:extLst>
                  <a:ext uri="{0D108BD9-81ED-4DB2-BD59-A6C34878D82A}">
                    <a16:rowId xmlns:a16="http://schemas.microsoft.com/office/drawing/2014/main" val="3761995505"/>
                  </a:ext>
                </a:extLst>
              </a:tr>
              <a:tr h="471860">
                <a:tc>
                  <a:txBody>
                    <a:bodyPr/>
                    <a:lstStyle/>
                    <a:p>
                      <a:r>
                        <a:rPr lang="en-US" sz="2400" dirty="0"/>
                        <a:t>???</a:t>
                      </a:r>
                    </a:p>
                  </a:txBody>
                  <a:tcPr/>
                </a:tc>
                <a:tc>
                  <a:txBody>
                    <a:bodyPr/>
                    <a:lstStyle/>
                    <a:p>
                      <a:endParaRPr lang="en-US" sz="2400" dirty="0"/>
                    </a:p>
                  </a:txBody>
                  <a:tcPr/>
                </a:tc>
                <a:extLst>
                  <a:ext uri="{0D108BD9-81ED-4DB2-BD59-A6C34878D82A}">
                    <a16:rowId xmlns:a16="http://schemas.microsoft.com/office/drawing/2014/main" val="2344932528"/>
                  </a:ext>
                </a:extLst>
              </a:tr>
              <a:tr h="471860">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592832433"/>
                  </a:ext>
                </a:extLst>
              </a:tr>
            </a:tbl>
          </a:graphicData>
        </a:graphic>
      </p:graphicFrame>
    </p:spTree>
    <p:extLst>
      <p:ext uri="{BB962C8B-B14F-4D97-AF65-F5344CB8AC3E}">
        <p14:creationId xmlns:p14="http://schemas.microsoft.com/office/powerpoint/2010/main" val="415063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896EC-01D5-1E46-B7BF-A8259F389172}"/>
              </a:ext>
            </a:extLst>
          </p:cNvPr>
          <p:cNvSpPr>
            <a:spLocks noGrp="1"/>
          </p:cNvSpPr>
          <p:nvPr>
            <p:ph type="title"/>
          </p:nvPr>
        </p:nvSpPr>
        <p:spPr/>
        <p:txBody>
          <a:bodyPr>
            <a:normAutofit/>
          </a:bodyPr>
          <a:lstStyle/>
          <a:p>
            <a:r>
              <a:rPr lang="en-US" dirty="0"/>
              <a:t>Five major classes of vulnerabilities</a:t>
            </a:r>
          </a:p>
        </p:txBody>
      </p:sp>
      <p:sp>
        <p:nvSpPr>
          <p:cNvPr id="4" name="Text Placeholder 3">
            <a:extLst>
              <a:ext uri="{FF2B5EF4-FFF2-40B4-BE49-F238E27FC236}">
                <a16:creationId xmlns:a16="http://schemas.microsoft.com/office/drawing/2014/main" id="{DFC2F76F-2860-2B4C-9F8B-7BB2DB7CF941}"/>
              </a:ext>
            </a:extLst>
          </p:cNvPr>
          <p:cNvSpPr>
            <a:spLocks noGrp="1"/>
          </p:cNvSpPr>
          <p:nvPr>
            <p:ph idx="1"/>
          </p:nvPr>
        </p:nvSpPr>
        <p:spPr/>
        <p:txBody>
          <a:bodyPr>
            <a:normAutofit/>
          </a:bodyPr>
          <a:lstStyle/>
          <a:p>
            <a:r>
              <a:rPr lang="en-US" dirty="0"/>
              <a:t>Vulnerability 1: Code that runs in an untrusted environment</a:t>
            </a:r>
          </a:p>
          <a:p>
            <a:r>
              <a:rPr lang="en-US" dirty="0"/>
              <a:t>Vulnerability 2: Untrusted Inputs</a:t>
            </a:r>
          </a:p>
          <a:p>
            <a:r>
              <a:rPr lang="en-US" dirty="0"/>
              <a:t>Vulnerability 3: Bad authentication (of both sender and receiver!)</a:t>
            </a:r>
          </a:p>
          <a:p>
            <a:r>
              <a:rPr lang="en-US" dirty="0"/>
              <a:t>Vulnerability 4: Malicious software from the software supply chain</a:t>
            </a:r>
          </a:p>
          <a:p>
            <a:r>
              <a:rPr lang="en-US" dirty="0"/>
              <a:t>Vulnerability 5: Failure to apply security policy. </a:t>
            </a:r>
          </a:p>
        </p:txBody>
      </p:sp>
      <p:sp>
        <p:nvSpPr>
          <p:cNvPr id="6" name="TextBox 5">
            <a:extLst>
              <a:ext uri="{FF2B5EF4-FFF2-40B4-BE49-F238E27FC236}">
                <a16:creationId xmlns:a16="http://schemas.microsoft.com/office/drawing/2014/main" id="{4C8D9921-728B-77B3-3CB7-6ABE91964FB7}"/>
              </a:ext>
            </a:extLst>
          </p:cNvPr>
          <p:cNvSpPr txBox="1"/>
          <p:nvPr/>
        </p:nvSpPr>
        <p:spPr>
          <a:xfrm>
            <a:off x="5257800" y="6156899"/>
            <a:ext cx="609600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hlinkClick r:id="rId3"/>
              </a:rPr>
              <a:t>https://owasp.org/Top10/2025/</a:t>
            </a:r>
            <a:r>
              <a:rPr lang="en-US" sz="2400" dirty="0"/>
              <a:t> </a:t>
            </a:r>
          </a:p>
        </p:txBody>
      </p:sp>
    </p:spTree>
    <p:extLst>
      <p:ext uri="{BB962C8B-B14F-4D97-AF65-F5344CB8AC3E}">
        <p14:creationId xmlns:p14="http://schemas.microsoft.com/office/powerpoint/2010/main" val="408353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F614FF9-D9FD-0E6C-DADE-98982DF87BFD}"/>
              </a:ext>
            </a:extLst>
          </p:cNvPr>
          <p:cNvSpPr txBox="1"/>
          <p:nvPr/>
        </p:nvSpPr>
        <p:spPr>
          <a:xfrm>
            <a:off x="2628374" y="4478685"/>
            <a:ext cx="3682340" cy="6556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400" dirty="0">
                <a:solidFill>
                  <a:schemeClr val="tx1"/>
                </a:solidFill>
              </a:rPr>
              <a:t>We control this</a:t>
            </a:r>
          </a:p>
        </p:txBody>
      </p:sp>
      <p:sp>
        <p:nvSpPr>
          <p:cNvPr id="6" name="TextBox 5">
            <a:extLst>
              <a:ext uri="{FF2B5EF4-FFF2-40B4-BE49-F238E27FC236}">
                <a16:creationId xmlns:a16="http://schemas.microsoft.com/office/drawing/2014/main" id="{FC967023-F381-52CB-E3F8-E4CDFB44A11A}"/>
              </a:ext>
            </a:extLst>
          </p:cNvPr>
          <p:cNvSpPr txBox="1"/>
          <p:nvPr/>
        </p:nvSpPr>
        <p:spPr>
          <a:xfrm>
            <a:off x="2628374" y="2311151"/>
            <a:ext cx="3682340" cy="6556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400" dirty="0">
                <a:solidFill>
                  <a:schemeClr val="tx1"/>
                </a:solidFill>
              </a:rPr>
              <a:t>User controls this</a:t>
            </a:r>
          </a:p>
        </p:txBody>
      </p:sp>
      <p:sp>
        <p:nvSpPr>
          <p:cNvPr id="166" name="Example: Client/server application"/>
          <p:cNvSpPr txBox="1">
            <a:spLocks noGrp="1"/>
          </p:cNvSpPr>
          <p:nvPr>
            <p:ph type="title"/>
          </p:nvPr>
        </p:nvSpPr>
        <p:spPr>
          <a:prstGeom prst="rect">
            <a:avLst/>
          </a:prstGeom>
        </p:spPr>
        <p:txBody>
          <a:bodyPr>
            <a:normAutofit/>
          </a:bodyPr>
          <a:lstStyle/>
          <a:p>
            <a:r>
              <a:rPr lang="en-US" dirty="0"/>
              <a:t>Vulnerability 1 Example: authentication code in a web application</a:t>
            </a:r>
            <a:endParaRPr dirty="0"/>
          </a:p>
        </p:txBody>
      </p:sp>
      <p:sp>
        <p:nvSpPr>
          <p:cNvPr id="168" name="function checkPassword(inputPassword: string){…"/>
          <p:cNvSpPr txBox="1"/>
          <p:nvPr/>
        </p:nvSpPr>
        <p:spPr>
          <a:xfrm>
            <a:off x="7013962" y="1479451"/>
            <a:ext cx="5317298" cy="22057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ctr">
            <a:spAutoFit/>
          </a:bodyPr>
          <a:lstStyle/>
          <a:p>
            <a:pPr defTabSz="228600">
              <a:defRPr sz="3100">
                <a:solidFill>
                  <a:srgbClr val="000000"/>
                </a:solidFill>
                <a:latin typeface="Courier"/>
                <a:ea typeface="Courier"/>
                <a:cs typeface="Courier"/>
                <a:sym typeface="Courier"/>
              </a:defRPr>
            </a:pPr>
            <a:r>
              <a:rPr sz="2000" b="1" dirty="0">
                <a:solidFill>
                  <a:srgbClr val="011480"/>
                </a:solidFill>
                <a:latin typeface="Consolas" panose="020B0609020204030204" pitchFamily="49" charset="0"/>
              </a:rPr>
              <a:t>function </a:t>
            </a:r>
            <a:r>
              <a:rPr sz="2000" dirty="0">
                <a:latin typeface="Consolas" panose="020B0609020204030204" pitchFamily="49" charset="0"/>
              </a:rPr>
              <a:t>checkPassword(inputPassword: </a:t>
            </a:r>
            <a:r>
              <a:rPr sz="2000" b="1" dirty="0">
                <a:solidFill>
                  <a:srgbClr val="011480"/>
                </a:solidFill>
                <a:latin typeface="Consolas" panose="020B0609020204030204" pitchFamily="49" charset="0"/>
              </a:rPr>
              <a:t>string</a:t>
            </a:r>
            <a:r>
              <a:rPr sz="2000" dirty="0">
                <a:latin typeface="Consolas" panose="020B0609020204030204" pitchFamily="49" charset="0"/>
              </a:rPr>
              <a:t>){</a:t>
            </a:r>
          </a:p>
          <a:p>
            <a:pPr defTabSz="228600">
              <a:defRPr sz="3100">
                <a:solidFill>
                  <a:srgbClr val="000000"/>
                </a:solidFill>
                <a:latin typeface="Courier"/>
                <a:ea typeface="Courier"/>
                <a:cs typeface="Courier"/>
                <a:sym typeface="Courier"/>
              </a:defRPr>
            </a:pPr>
            <a:r>
              <a:rPr sz="2000" dirty="0">
                <a:latin typeface="Consolas" panose="020B0609020204030204" pitchFamily="49" charset="0"/>
              </a:rPr>
              <a:t>  </a:t>
            </a:r>
            <a:r>
              <a:rPr sz="2000" b="1" dirty="0">
                <a:solidFill>
                  <a:srgbClr val="011480"/>
                </a:solidFill>
                <a:latin typeface="Consolas" panose="020B0609020204030204" pitchFamily="49" charset="0"/>
              </a:rPr>
              <a:t>if</a:t>
            </a:r>
            <a:r>
              <a:rPr sz="2000" dirty="0">
                <a:latin typeface="Consolas" panose="020B0609020204030204" pitchFamily="49" charset="0"/>
              </a:rPr>
              <a:t>(inputPassword === </a:t>
            </a:r>
            <a:r>
              <a:rPr sz="2000" b="1" dirty="0">
                <a:solidFill>
                  <a:srgbClr val="018001"/>
                </a:solidFill>
                <a:latin typeface="Consolas" panose="020B0609020204030204" pitchFamily="49" charset="0"/>
              </a:rPr>
              <a:t>'letmein'</a:t>
            </a:r>
            <a:r>
              <a:rPr sz="2000" dirty="0">
                <a:latin typeface="Consolas" panose="020B0609020204030204" pitchFamily="49" charset="0"/>
              </a:rPr>
              <a:t>){</a:t>
            </a:r>
          </a:p>
          <a:p>
            <a:pPr defTabSz="228600">
              <a:defRPr sz="3100" b="1">
                <a:solidFill>
                  <a:srgbClr val="011480"/>
                </a:solidFill>
                <a:latin typeface="Courier"/>
                <a:ea typeface="Courier"/>
                <a:cs typeface="Courier"/>
                <a:sym typeface="Courier"/>
              </a:defRPr>
            </a:pPr>
            <a:r>
              <a:rPr sz="2000" dirty="0">
                <a:solidFill>
                  <a:srgbClr val="000000"/>
                </a:solidFill>
                <a:latin typeface="Consolas" panose="020B0609020204030204" pitchFamily="49" charset="0"/>
              </a:rPr>
              <a:t>    </a:t>
            </a:r>
            <a:r>
              <a:rPr sz="2000" dirty="0">
                <a:latin typeface="Consolas" panose="020B0609020204030204" pitchFamily="49" charset="0"/>
              </a:rPr>
              <a:t>return true</a:t>
            </a:r>
            <a:r>
              <a:rPr sz="2000" dirty="0">
                <a:solidFill>
                  <a:srgbClr val="000000"/>
                </a:solidFill>
                <a:latin typeface="Consolas" panose="020B0609020204030204" pitchFamily="49" charset="0"/>
              </a:rPr>
              <a:t>;</a:t>
            </a:r>
          </a:p>
          <a:p>
            <a:pPr defTabSz="228600">
              <a:defRPr sz="3100">
                <a:solidFill>
                  <a:srgbClr val="000000"/>
                </a:solidFill>
                <a:latin typeface="Courier"/>
                <a:ea typeface="Courier"/>
                <a:cs typeface="Courier"/>
                <a:sym typeface="Courier"/>
              </a:defRPr>
            </a:pPr>
            <a:r>
              <a:rPr sz="2000" dirty="0">
                <a:latin typeface="Consolas" panose="020B0609020204030204" pitchFamily="49" charset="0"/>
              </a:rPr>
              <a:t>  }</a:t>
            </a:r>
          </a:p>
          <a:p>
            <a:pPr defTabSz="228600">
              <a:defRPr sz="3100" b="1">
                <a:solidFill>
                  <a:srgbClr val="011480"/>
                </a:solidFill>
                <a:latin typeface="Courier"/>
                <a:ea typeface="Courier"/>
                <a:cs typeface="Courier"/>
                <a:sym typeface="Courier"/>
              </a:defRPr>
            </a:pPr>
            <a:r>
              <a:rPr sz="2000" dirty="0">
                <a:solidFill>
                  <a:srgbClr val="000000"/>
                </a:solidFill>
                <a:latin typeface="Consolas" panose="020B0609020204030204" pitchFamily="49" charset="0"/>
              </a:rPr>
              <a:t>  </a:t>
            </a:r>
            <a:r>
              <a:rPr sz="2000" dirty="0">
                <a:latin typeface="Consolas" panose="020B0609020204030204" pitchFamily="49" charset="0"/>
              </a:rPr>
              <a:t>return false</a:t>
            </a:r>
            <a:r>
              <a:rPr sz="2000" dirty="0">
                <a:solidFill>
                  <a:srgbClr val="000000"/>
                </a:solidFill>
                <a:latin typeface="Consolas" panose="020B0609020204030204" pitchFamily="49" charset="0"/>
              </a:rPr>
              <a:t>;</a:t>
            </a:r>
          </a:p>
          <a:p>
            <a:pPr defTabSz="228600">
              <a:defRPr sz="3100">
                <a:solidFill>
                  <a:srgbClr val="000000"/>
                </a:solidFill>
                <a:latin typeface="Courier"/>
                <a:ea typeface="Courier"/>
                <a:cs typeface="Courier"/>
                <a:sym typeface="Courier"/>
              </a:defRPr>
            </a:pPr>
            <a:r>
              <a:rPr sz="2000" dirty="0">
                <a:latin typeface="Consolas" panose="020B0609020204030204" pitchFamily="49" charset="0"/>
              </a:rPr>
              <a:t>}</a:t>
            </a:r>
          </a:p>
        </p:txBody>
      </p:sp>
      <p:sp>
        <p:nvSpPr>
          <p:cNvPr id="169" name="Frontend"/>
          <p:cNvSpPr/>
          <p:nvPr/>
        </p:nvSpPr>
        <p:spPr>
          <a:xfrm>
            <a:off x="5388162" y="1932788"/>
            <a:ext cx="1499526" cy="1496207"/>
          </a:xfrm>
          <a:prstGeom prst="rect">
            <a:avLst/>
          </a:prstGeom>
          <a:solidFill>
            <a:srgbClr val="34A5DA"/>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lstStyle>
            <a:lvl1pPr defTabSz="825500">
              <a:defRPr sz="3200">
                <a:solidFill>
                  <a:srgbClr val="FFFFFF"/>
                </a:solidFill>
                <a:latin typeface="Helvetica Neue Medium"/>
                <a:ea typeface="Helvetica Neue Medium"/>
                <a:cs typeface="Helvetica Neue Medium"/>
                <a:sym typeface="Helvetica Neue Medium"/>
              </a:defRPr>
            </a:lvl1pPr>
          </a:lstStyle>
          <a:p>
            <a:pPr algn="ctr"/>
            <a:r>
              <a:rPr sz="2400" dirty="0">
                <a:latin typeface="Helvetica" panose="020B0604020202020204" pitchFamily="34" charset="0"/>
                <a:cs typeface="Helvetica" panose="020B0604020202020204" pitchFamily="34" charset="0"/>
              </a:rPr>
              <a:t>Front</a:t>
            </a:r>
            <a:r>
              <a:rPr lang="en-US" sz="2400" dirty="0">
                <a:latin typeface="Helvetica" panose="020B0604020202020204" pitchFamily="34" charset="0"/>
                <a:cs typeface="Helvetica" panose="020B0604020202020204" pitchFamily="34" charset="0"/>
              </a:rPr>
              <a:t> E</a:t>
            </a:r>
            <a:r>
              <a:rPr sz="2400" dirty="0">
                <a:latin typeface="Helvetica" panose="020B0604020202020204" pitchFamily="34" charset="0"/>
                <a:cs typeface="Helvetica" panose="020B0604020202020204" pitchFamily="34" charset="0"/>
              </a:rPr>
              <a:t>nd</a:t>
            </a:r>
          </a:p>
        </p:txBody>
      </p:sp>
      <p:sp>
        <p:nvSpPr>
          <p:cNvPr id="171" name="Line"/>
          <p:cNvSpPr/>
          <p:nvPr/>
        </p:nvSpPr>
        <p:spPr>
          <a:xfrm>
            <a:off x="3350453" y="3756245"/>
            <a:ext cx="5491095" cy="1"/>
          </a:xfrm>
          <a:prstGeom prst="line">
            <a:avLst/>
          </a:prstGeom>
          <a:ln w="63500">
            <a:solidFill>
              <a:srgbClr val="F14C0E"/>
            </a:solidFill>
            <a:custDash>
              <a:ds d="600000" sp="600000"/>
            </a:custDash>
            <a:miter lim="400000"/>
          </a:ln>
        </p:spPr>
        <p:txBody>
          <a:bodyPr lIns="25400" tIns="25400" rIns="25400" bIns="25400" anchor="ctr"/>
          <a:lstStyle/>
          <a:p>
            <a:endParaRPr sz="900" dirty="0"/>
          </a:p>
        </p:txBody>
      </p:sp>
      <p:sp>
        <p:nvSpPr>
          <p:cNvPr id="172" name="Trust boundary"/>
          <p:cNvSpPr txBox="1"/>
          <p:nvPr/>
        </p:nvSpPr>
        <p:spPr>
          <a:xfrm>
            <a:off x="1758457" y="3607487"/>
            <a:ext cx="1349024" cy="2975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3200" b="1">
                <a:solidFill>
                  <a:srgbClr val="000000"/>
                </a:solidFill>
              </a:defRPr>
            </a:lvl1pPr>
          </a:lstStyle>
          <a:p>
            <a:r>
              <a:rPr sz="1600" dirty="0"/>
              <a:t>Trust boundary</a:t>
            </a:r>
          </a:p>
        </p:txBody>
      </p:sp>
      <p:sp>
        <p:nvSpPr>
          <p:cNvPr id="2" name="TextBox 1">
            <a:extLst>
              <a:ext uri="{FF2B5EF4-FFF2-40B4-BE49-F238E27FC236}">
                <a16:creationId xmlns:a16="http://schemas.microsoft.com/office/drawing/2014/main" id="{C17093FE-7D21-AA8E-AEE0-26F4040997DA}"/>
              </a:ext>
            </a:extLst>
          </p:cNvPr>
          <p:cNvSpPr txBox="1"/>
          <p:nvPr/>
        </p:nvSpPr>
        <p:spPr>
          <a:xfrm>
            <a:off x="1194875" y="4306340"/>
            <a:ext cx="3793787" cy="974626"/>
          </a:xfrm>
          <a:prstGeom prst="rect">
            <a:avLst/>
          </a:prstGeom>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25400" tIns="25400" rIns="25400" bIns="25400" numCol="1" spcCol="38100" rtlCol="0" anchor="ctr">
            <a:spAutoFit/>
          </a:bodyPr>
          <a:lstStyle/>
          <a:p>
            <a:pPr algn="ctr" defTabSz="1219169" hangingPunct="0"/>
            <a:r>
              <a:rPr lang="en-US" sz="3000" dirty="0">
                <a:solidFill>
                  <a:schemeClr val="tx1"/>
                </a:solidFill>
                <a:sym typeface="Helvetica Neue"/>
              </a:rPr>
              <a:t>Fix: Move code to back end (duh!)</a:t>
            </a:r>
          </a:p>
        </p:txBody>
      </p:sp>
      <p:pic>
        <p:nvPicPr>
          <p:cNvPr id="3074" name="Picture 2">
            <a:extLst>
              <a:ext uri="{FF2B5EF4-FFF2-40B4-BE49-F238E27FC236}">
                <a16:creationId xmlns:a16="http://schemas.microsoft.com/office/drawing/2014/main" id="{D4C64B66-3310-FDAF-80C1-3940717DE9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4237" y="1971173"/>
            <a:ext cx="1114425" cy="153828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C60605A-B21C-C256-7D58-CF6E2974C6B1}"/>
              </a:ext>
            </a:extLst>
          </p:cNvPr>
          <p:cNvSpPr txBox="1"/>
          <p:nvPr/>
        </p:nvSpPr>
        <p:spPr>
          <a:xfrm>
            <a:off x="496703" y="2311151"/>
            <a:ext cx="3200400" cy="605294"/>
          </a:xfrm>
          <a:prstGeom prst="rect">
            <a:avLst/>
          </a:prstGeom>
          <a:solidFill>
            <a:schemeClr val="accent4">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n-US" sz="3600" dirty="0">
                <a:solidFill>
                  <a:srgbClr val="5E5E5E"/>
                </a:solidFill>
                <a:latin typeface="Chiller" panose="04020404031007020602" pitchFamily="82" charset="0"/>
                <a:sym typeface="Helvetica Neue"/>
              </a:rPr>
              <a:t>Curses! Foiled Again!</a:t>
            </a:r>
          </a:p>
        </p:txBody>
      </p:sp>
      <p:sp>
        <p:nvSpPr>
          <p:cNvPr id="5" name="Frontend">
            <a:extLst>
              <a:ext uri="{FF2B5EF4-FFF2-40B4-BE49-F238E27FC236}">
                <a16:creationId xmlns:a16="http://schemas.microsoft.com/office/drawing/2014/main" id="{9D6A7F0C-0FBA-F834-14A6-4E25E0455D58}"/>
              </a:ext>
            </a:extLst>
          </p:cNvPr>
          <p:cNvSpPr/>
          <p:nvPr/>
        </p:nvSpPr>
        <p:spPr>
          <a:xfrm>
            <a:off x="5346237" y="4124888"/>
            <a:ext cx="1499526" cy="1496207"/>
          </a:xfrm>
          <a:prstGeom prst="rect">
            <a:avLst/>
          </a:prstGeom>
          <a:solidFill>
            <a:schemeClr val="accent5">
              <a:lumMod val="75000"/>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lstStyle>
            <a:lvl1pPr defTabSz="825500">
              <a:defRPr sz="3200">
                <a:solidFill>
                  <a:srgbClr val="FFFFFF"/>
                </a:solidFill>
                <a:latin typeface="Helvetica Neue Medium"/>
                <a:ea typeface="Helvetica Neue Medium"/>
                <a:cs typeface="Helvetica Neue Medium"/>
                <a:sym typeface="Helvetica Neue Medium"/>
              </a:defRPr>
            </a:lvl1pPr>
          </a:lstStyle>
          <a:p>
            <a:pPr algn="ctr"/>
            <a:r>
              <a:rPr lang="en-US" sz="2400" dirty="0">
                <a:latin typeface="Helvetica" panose="020B0604020202020204" pitchFamily="34" charset="0"/>
                <a:cs typeface="Helvetica" panose="020B0604020202020204" pitchFamily="34" charset="0"/>
              </a:rPr>
              <a:t>Back E</a:t>
            </a:r>
            <a:r>
              <a:rPr sz="2400" dirty="0">
                <a:latin typeface="Helvetica" panose="020B0604020202020204" pitchFamily="34" charset="0"/>
                <a:cs typeface="Helvetica" panose="020B0604020202020204" pitchFamily="34" charset="0"/>
              </a:rPr>
              <a:t>nd</a:t>
            </a:r>
          </a:p>
        </p:txBody>
      </p:sp>
    </p:spTree>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par>
                          <p:cTn id="11" fill="hold">
                            <p:stCondLst>
                              <p:cond delay="0"/>
                            </p:stCondLst>
                            <p:childTnLst>
                              <p:par>
                                <p:cTn id="12" presetID="42" presetClass="path" presetSubtype="0" accel="50000" decel="50000" fill="hold" grpId="0" nodeType="afterEffect">
                                  <p:stCondLst>
                                    <p:cond delay="0"/>
                                  </p:stCondLst>
                                  <p:childTnLst>
                                    <p:animMotion origin="layout" path="M 6.25E-7 1.11111E-6 L 0.00338 0.33704 " pathEditMode="relative" rAng="0" ptsTypes="AA">
                                      <p:cBhvr>
                                        <p:cTn id="13" dur="2000" fill="hold"/>
                                        <p:tgtEl>
                                          <p:spTgt spid="168"/>
                                        </p:tgtEl>
                                        <p:attrNameLst>
                                          <p:attrName>ppt_x</p:attrName>
                                          <p:attrName>ppt_y</p:attrName>
                                        </p:attrNameLst>
                                      </p:cBhvr>
                                      <p:rCtr x="169" y="16852"/>
                                    </p:animMotion>
                                  </p:childTnLst>
                                </p:cTn>
                              </p:par>
                            </p:childTnLst>
                          </p:cTn>
                        </p:par>
                        <p:par>
                          <p:cTn id="14" fill="hold">
                            <p:stCondLst>
                              <p:cond delay="2000"/>
                            </p:stCondLst>
                            <p:childTnLst>
                              <p:par>
                                <p:cTn id="15" presetID="1" presetClass="entr" presetSubtype="0"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 grpId="0" animBg="1"/>
      <p:bldP spid="2" grpId="0" animBg="1"/>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B8FDE-3673-2F21-3071-2EF3C10E7723}"/>
              </a:ext>
            </a:extLst>
          </p:cNvPr>
          <p:cNvSpPr>
            <a:spLocks noGrp="1"/>
          </p:cNvSpPr>
          <p:nvPr>
            <p:ph type="title"/>
          </p:nvPr>
        </p:nvSpPr>
        <p:spPr/>
        <p:txBody>
          <a:bodyPr>
            <a:normAutofit/>
          </a:bodyPr>
          <a:lstStyle/>
          <a:p>
            <a:r>
              <a:rPr lang="en-US" dirty="0"/>
              <a:t>Who would do such a silly thing?</a:t>
            </a:r>
          </a:p>
        </p:txBody>
      </p:sp>
      <p:sp>
        <p:nvSpPr>
          <p:cNvPr id="3" name="Slide Number Placeholder 2">
            <a:extLst>
              <a:ext uri="{FF2B5EF4-FFF2-40B4-BE49-F238E27FC236}">
                <a16:creationId xmlns:a16="http://schemas.microsoft.com/office/drawing/2014/main" id="{3CC27B18-F6EA-21AF-F190-7344D35AFA3E}"/>
              </a:ext>
            </a:extLst>
          </p:cNvPr>
          <p:cNvSpPr>
            <a:spLocks noGrp="1"/>
          </p:cNvSpPr>
          <p:nvPr>
            <p:ph type="sldNum" sz="quarter" idx="12"/>
          </p:nvPr>
        </p:nvSpPr>
        <p:spPr/>
        <p:txBody>
          <a:bodyPr/>
          <a:lstStyle/>
          <a:p>
            <a:fld id="{20F37917-FD3A-4669-9018-DA04BCDD3D75}" type="slidenum">
              <a:rPr lang="en-US" smtClean="0"/>
              <a:t>16</a:t>
            </a:fld>
            <a:endParaRPr lang="en-US" dirty="0"/>
          </a:p>
        </p:txBody>
      </p:sp>
      <p:pic>
        <p:nvPicPr>
          <p:cNvPr id="5" name="Picture 4" descr="A screenshot of a chat">
            <a:extLst>
              <a:ext uri="{FF2B5EF4-FFF2-40B4-BE49-F238E27FC236}">
                <a16:creationId xmlns:a16="http://schemas.microsoft.com/office/drawing/2014/main" id="{32F850EA-FFFC-D7A1-59C7-C959E05FF8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6979" y="1515073"/>
            <a:ext cx="4752021" cy="5174239"/>
          </a:xfrm>
          <a:prstGeom prst="rect">
            <a:avLst/>
          </a:prstGeom>
        </p:spPr>
      </p:pic>
    </p:spTree>
    <p:extLst>
      <p:ext uri="{BB962C8B-B14F-4D97-AF65-F5344CB8AC3E}">
        <p14:creationId xmlns:p14="http://schemas.microsoft.com/office/powerpoint/2010/main" val="3228097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8F157-4755-E145-A799-0CBEF192CD82}"/>
              </a:ext>
            </a:extLst>
          </p:cNvPr>
          <p:cNvSpPr>
            <a:spLocks noGrp="1"/>
          </p:cNvSpPr>
          <p:nvPr>
            <p:ph type="title"/>
          </p:nvPr>
        </p:nvSpPr>
        <p:spPr/>
        <p:txBody>
          <a:bodyPr>
            <a:normAutofit/>
          </a:bodyPr>
          <a:lstStyle/>
          <a:p>
            <a:r>
              <a:rPr lang="en-US" dirty="0"/>
              <a:t>Vulnerability 2: Data controlled by a user flowing into our trusted codebase</a:t>
            </a:r>
          </a:p>
        </p:txBody>
      </p:sp>
      <p:pic>
        <p:nvPicPr>
          <p:cNvPr id="5" name="Image" descr="Image">
            <a:extLst>
              <a:ext uri="{FF2B5EF4-FFF2-40B4-BE49-F238E27FC236}">
                <a16:creationId xmlns:a16="http://schemas.microsoft.com/office/drawing/2014/main" id="{400F9F0A-CCBB-A746-A394-7ACCBAE7A047}"/>
              </a:ext>
            </a:extLst>
          </p:cNvPr>
          <p:cNvPicPr>
            <a:picLocks noChangeAspect="1"/>
          </p:cNvPicPr>
          <p:nvPr/>
        </p:nvPicPr>
        <p:blipFill>
          <a:blip r:embed="rId3"/>
          <a:stretch>
            <a:fillRect/>
          </a:stretch>
        </p:blipFill>
        <p:spPr>
          <a:xfrm>
            <a:off x="911454" y="2003898"/>
            <a:ext cx="10555406" cy="3249038"/>
          </a:xfrm>
          <a:prstGeom prst="rect">
            <a:avLst/>
          </a:prstGeom>
          <a:ln w="12700">
            <a:miter lim="400000"/>
          </a:ln>
        </p:spPr>
      </p:pic>
      <p:sp>
        <p:nvSpPr>
          <p:cNvPr id="7" name="TextBox 6">
            <a:extLst>
              <a:ext uri="{FF2B5EF4-FFF2-40B4-BE49-F238E27FC236}">
                <a16:creationId xmlns:a16="http://schemas.microsoft.com/office/drawing/2014/main" id="{91341CC8-538C-8B4A-A342-755653F71426}"/>
              </a:ext>
            </a:extLst>
          </p:cNvPr>
          <p:cNvSpPr txBox="1"/>
          <p:nvPr/>
        </p:nvSpPr>
        <p:spPr>
          <a:xfrm>
            <a:off x="8198098" y="6216276"/>
            <a:ext cx="6096000"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600" dirty="0">
                <a:hlinkClick r:id="rId4"/>
              </a:rPr>
              <a:t>https://xkcd.com/327/</a:t>
            </a:r>
            <a:r>
              <a:rPr lang="en-US" sz="1600" dirty="0"/>
              <a:t> </a:t>
            </a:r>
          </a:p>
        </p:txBody>
      </p:sp>
    </p:spTree>
    <p:extLst>
      <p:ext uri="{BB962C8B-B14F-4D97-AF65-F5344CB8AC3E}">
        <p14:creationId xmlns:p14="http://schemas.microsoft.com/office/powerpoint/2010/main" val="552509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Code Injection Example"/>
          <p:cNvSpPr txBox="1">
            <a:spLocks noGrp="1"/>
          </p:cNvSpPr>
          <p:nvPr>
            <p:ph type="title"/>
          </p:nvPr>
        </p:nvSpPr>
        <p:spPr>
          <a:prstGeom prst="rect">
            <a:avLst/>
          </a:prstGeom>
        </p:spPr>
        <p:txBody>
          <a:bodyPr>
            <a:normAutofit/>
          </a:bodyPr>
          <a:lstStyle/>
          <a:p>
            <a:r>
              <a:rPr lang="en-US" dirty="0"/>
              <a:t>Example: code injection</a:t>
            </a:r>
            <a:endParaRPr dirty="0"/>
          </a:p>
        </p:txBody>
      </p:sp>
      <p:sp>
        <p:nvSpPr>
          <p:cNvPr id="136" name="OWASP A1:2017-Injection"/>
          <p:cNvSpPr txBox="1">
            <a:spLocks noGrp="1"/>
          </p:cNvSpPr>
          <p:nvPr>
            <p:ph type="body" idx="4294967295"/>
          </p:nvPr>
        </p:nvSpPr>
        <p:spPr>
          <a:xfrm>
            <a:off x="2311400" y="6237489"/>
            <a:ext cx="10985500" cy="46831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rmAutofit lnSpcReduction="10000"/>
          </a:bodyPr>
          <a:lstStyle>
            <a:lvl1pPr>
              <a:defRPr u="sng">
                <a:hlinkClick r:id="rId3"/>
              </a:defRPr>
            </a:lvl1pPr>
          </a:lstStyle>
          <a:p>
            <a:pPr>
              <a:defRPr u="none"/>
            </a:pPr>
            <a:r>
              <a:rPr u="sng" dirty="0">
                <a:hlinkClick r:id="rId3"/>
              </a:rPr>
              <a:t>OWASP </a:t>
            </a:r>
            <a:r>
              <a:rPr lang="en-US" u="sng" dirty="0">
                <a:hlinkClick r:id="rId4"/>
              </a:rPr>
              <a:t>https://owasp.org/Top10/2025/A05_2025-Injection/</a:t>
            </a:r>
            <a:endParaRPr u="sng" dirty="0">
              <a:hlinkClick r:id="rId3"/>
            </a:endParaRPr>
          </a:p>
        </p:txBody>
      </p:sp>
      <p:sp>
        <p:nvSpPr>
          <p:cNvPr id="137" name="String query = &quot;SELECT * FROM accounts WHERE        name='&quot; + request.getParameter(“name&quot;) + &quot;'&quot;;"/>
          <p:cNvSpPr txBox="1"/>
          <p:nvPr/>
        </p:nvSpPr>
        <p:spPr>
          <a:xfrm>
            <a:off x="491235" y="1575372"/>
            <a:ext cx="9866703" cy="7899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p>
            <a:pPr defTabSz="412750">
              <a:spcBef>
                <a:spcPts val="1950"/>
              </a:spcBef>
              <a:buClr>
                <a:srgbClr val="34A5DA"/>
              </a:buClr>
              <a:buFont typeface="Avenir Next Regular"/>
              <a:defRPr sz="4800">
                <a:solidFill>
                  <a:srgbClr val="838787"/>
                </a:solidFill>
                <a:latin typeface="Menlo Regular"/>
                <a:ea typeface="Menlo Regular"/>
                <a:cs typeface="Menlo Regular"/>
                <a:sym typeface="Menlo Regular"/>
              </a:defRPr>
            </a:pPr>
            <a:r>
              <a:rPr sz="2400" dirty="0">
                <a:solidFill>
                  <a:srgbClr val="005493"/>
                </a:solidFill>
                <a:latin typeface="Consolas" panose="020B0609020204030204" pitchFamily="49" charset="0"/>
              </a:rPr>
              <a:t>String query = "SELECT * FROM accounts WHERE</a:t>
            </a:r>
            <a:br>
              <a:rPr sz="2400" dirty="0">
                <a:solidFill>
                  <a:srgbClr val="005493"/>
                </a:solidFill>
                <a:latin typeface="Consolas" panose="020B0609020204030204" pitchFamily="49" charset="0"/>
              </a:rPr>
            </a:br>
            <a:r>
              <a:rPr sz="2400" dirty="0">
                <a:solidFill>
                  <a:srgbClr val="005493"/>
                </a:solidFill>
                <a:latin typeface="Consolas" panose="020B0609020204030204" pitchFamily="49" charset="0"/>
              </a:rPr>
              <a:t>       name='" + </a:t>
            </a:r>
            <a:r>
              <a:rPr sz="2400" dirty="0">
                <a:solidFill>
                  <a:srgbClr val="A64B28"/>
                </a:solidFill>
                <a:latin typeface="Consolas" panose="020B0609020204030204" pitchFamily="49" charset="0"/>
              </a:rPr>
              <a:t>request.getParameter(“name")</a:t>
            </a:r>
            <a:r>
              <a:rPr sz="2400" dirty="0">
                <a:solidFill>
                  <a:srgbClr val="005493"/>
                </a:solidFill>
                <a:latin typeface="Consolas" panose="020B0609020204030204" pitchFamily="49" charset="0"/>
              </a:rPr>
              <a:t> + "'";</a:t>
            </a:r>
          </a:p>
        </p:txBody>
      </p:sp>
      <p:graphicFrame>
        <p:nvGraphicFramePr>
          <p:cNvPr id="138" name="Table"/>
          <p:cNvGraphicFramePr/>
          <p:nvPr>
            <p:extLst>
              <p:ext uri="{D42A27DB-BD31-4B8C-83A1-F6EECF244321}">
                <p14:modId xmlns:p14="http://schemas.microsoft.com/office/powerpoint/2010/main" val="2391401300"/>
              </p:ext>
            </p:extLst>
          </p:nvPr>
        </p:nvGraphicFramePr>
        <p:xfrm>
          <a:off x="380999" y="2365332"/>
          <a:ext cx="11430001" cy="3722364"/>
        </p:xfrm>
        <a:graphic>
          <a:graphicData uri="http://schemas.openxmlformats.org/drawingml/2006/table">
            <a:tbl>
              <a:tblPr bandRow="1"/>
              <a:tblGrid>
                <a:gridCol w="2273938">
                  <a:extLst>
                    <a:ext uri="{9D8B030D-6E8A-4147-A177-3AD203B41FA5}">
                      <a16:colId xmlns:a16="http://schemas.microsoft.com/office/drawing/2014/main" val="20000"/>
                    </a:ext>
                  </a:extLst>
                </a:gridCol>
                <a:gridCol w="5215578">
                  <a:extLst>
                    <a:ext uri="{9D8B030D-6E8A-4147-A177-3AD203B41FA5}">
                      <a16:colId xmlns:a16="http://schemas.microsoft.com/office/drawing/2014/main" val="20001"/>
                    </a:ext>
                  </a:extLst>
                </a:gridCol>
                <a:gridCol w="3940485">
                  <a:extLst>
                    <a:ext uri="{9D8B030D-6E8A-4147-A177-3AD203B41FA5}">
                      <a16:colId xmlns:a16="http://schemas.microsoft.com/office/drawing/2014/main" val="20002"/>
                    </a:ext>
                  </a:extLst>
                </a:gridCol>
              </a:tblGrid>
              <a:tr h="930591">
                <a:tc>
                  <a:txBody>
                    <a:bodyPr/>
                    <a:lstStyle/>
                    <a:p>
                      <a:pPr defTabSz="825500">
                        <a:defRPr sz="5200">
                          <a:solidFill>
                            <a:srgbClr val="34A5DA"/>
                          </a:solidFill>
                          <a:latin typeface="Avenir Next Medium"/>
                          <a:ea typeface="Avenir Next Medium"/>
                          <a:cs typeface="Avenir Next Medium"/>
                          <a:sym typeface="Avenir Next Medium"/>
                        </a:defRPr>
                      </a:pPr>
                      <a:r>
                        <a:rPr sz="2600" dirty="0">
                          <a:solidFill>
                            <a:srgbClr val="005493"/>
                          </a:solidFill>
                          <a:latin typeface="Consolas" panose="020B0609020204030204" pitchFamily="49" charset="0"/>
                        </a:rPr>
                        <a:t>Parameter</a:t>
                      </a:r>
                      <a:r>
                        <a:rPr sz="2600" dirty="0">
                          <a:latin typeface="Consolas" panose="020B0609020204030204" pitchFamily="49" charset="0"/>
                        </a:rPr>
                        <a:t> </a:t>
                      </a:r>
                      <a:r>
                        <a:rPr sz="2600" dirty="0">
                          <a:solidFill>
                            <a:srgbClr val="8C1818"/>
                          </a:solidFill>
                          <a:latin typeface="Consolas" panose="020B0609020204030204" pitchFamily="49" charset="0"/>
                          <a:ea typeface="Menlo Regular"/>
                          <a:cs typeface="Menlo Regular"/>
                          <a:sym typeface="Menlo Regular"/>
                        </a:rPr>
                        <a:t>name</a:t>
                      </a:r>
                    </a:p>
                  </a:txBody>
                  <a:tcPr marL="25400" marR="25400" marT="25400" marB="25400" anchor="ctr" horzOverflow="overflow">
                    <a:lnL w="12700">
                      <a:miter lim="400000"/>
                    </a:lnL>
                    <a:lnR w="12700">
                      <a:miter lim="400000"/>
                    </a:lnR>
                    <a:lnT w="12700">
                      <a:miter lim="400000"/>
                    </a:lnT>
                    <a:lnB w="25400">
                      <a:solidFill>
                        <a:srgbClr val="5F6568"/>
                      </a:solidFill>
                      <a:miter lim="400000"/>
                    </a:lnB>
                  </a:tcPr>
                </a:tc>
                <a:tc>
                  <a:txBody>
                    <a:bodyPr/>
                    <a:lstStyle/>
                    <a:p>
                      <a:pPr defTabSz="825500"/>
                      <a:r>
                        <a:rPr sz="2600" dirty="0">
                          <a:solidFill>
                            <a:srgbClr val="005493"/>
                          </a:solidFill>
                          <a:latin typeface="Consolas" panose="020B0609020204030204" pitchFamily="49" charset="0"/>
                          <a:ea typeface="Avenir Next Medium"/>
                          <a:cs typeface="Avenir Next Medium"/>
                          <a:sym typeface="Avenir Next Medium"/>
                        </a:rPr>
                        <a:t>Constructed Query</a:t>
                      </a:r>
                    </a:p>
                  </a:txBody>
                  <a:tcPr marL="25400" marR="25400" marT="25400" marB="25400" anchor="ctr" horzOverflow="overflow">
                    <a:lnL w="12700">
                      <a:miter lim="400000"/>
                    </a:lnL>
                    <a:lnR w="12700">
                      <a:miter lim="400000"/>
                    </a:lnR>
                    <a:lnT w="12700">
                      <a:miter lim="400000"/>
                    </a:lnT>
                    <a:lnB w="25400">
                      <a:solidFill>
                        <a:srgbClr val="5F6568"/>
                      </a:solidFill>
                      <a:miter lim="400000"/>
                    </a:lnB>
                  </a:tcPr>
                </a:tc>
                <a:tc>
                  <a:txBody>
                    <a:bodyPr/>
                    <a:lstStyle/>
                    <a:p>
                      <a:pPr defTabSz="825500"/>
                      <a:r>
                        <a:rPr sz="2600" dirty="0">
                          <a:solidFill>
                            <a:srgbClr val="005493"/>
                          </a:solidFill>
                          <a:latin typeface="Consolas" panose="020B0609020204030204" pitchFamily="49" charset="0"/>
                          <a:ea typeface="Avenir Next Medium"/>
                          <a:cs typeface="Avenir Next Medium"/>
                          <a:sym typeface="Avenir Next Medium"/>
                        </a:rPr>
                        <a:t>Effect</a:t>
                      </a:r>
                    </a:p>
                  </a:txBody>
                  <a:tcPr marL="25400" marR="25400" marT="25400" marB="25400" anchor="ctr" horzOverflow="overflow">
                    <a:lnL w="12700">
                      <a:miter lim="400000"/>
                    </a:lnL>
                    <a:lnR w="12700">
                      <a:miter lim="400000"/>
                    </a:lnR>
                    <a:lnT w="12700">
                      <a:miter lim="400000"/>
                    </a:lnT>
                    <a:lnB w="25400">
                      <a:solidFill>
                        <a:srgbClr val="5F6568"/>
                      </a:solidFill>
                      <a:miter lim="400000"/>
                    </a:lnB>
                  </a:tcPr>
                </a:tc>
                <a:extLst>
                  <a:ext uri="{0D108BD9-81ED-4DB2-BD59-A6C34878D82A}">
                    <a16:rowId xmlns:a16="http://schemas.microsoft.com/office/drawing/2014/main" val="10000"/>
                  </a:ext>
                </a:extLst>
              </a:tr>
              <a:tr h="930591">
                <a:tc>
                  <a:txBody>
                    <a:bodyPr/>
                    <a:lstStyle/>
                    <a:p>
                      <a:pPr defTabSz="825500"/>
                      <a:r>
                        <a:rPr sz="2600" dirty="0">
                          <a:solidFill>
                            <a:srgbClr val="005493"/>
                          </a:solidFill>
                          <a:latin typeface="Consolas" panose="020B0609020204030204" pitchFamily="49" charset="0"/>
                          <a:ea typeface="Avenir Next Medium"/>
                          <a:cs typeface="Avenir Next Medium"/>
                          <a:sym typeface="Avenir Next Medium"/>
                        </a:rPr>
                        <a:t>Alice</a:t>
                      </a:r>
                    </a:p>
                  </a:txBody>
                  <a:tcPr marL="25400" marR="25400" marT="25400" marB="25400" anchor="ctr" horzOverflow="overflow">
                    <a:lnL w="12700">
                      <a:miter lim="400000"/>
                    </a:lnL>
                    <a:lnR w="12700">
                      <a:miter lim="400000"/>
                    </a:lnR>
                    <a:lnT w="25400">
                      <a:solidFill>
                        <a:srgbClr val="5F6568"/>
                      </a:solidFill>
                      <a:miter lim="400000"/>
                    </a:lnT>
                    <a:lnB w="25400">
                      <a:solidFill>
                        <a:srgbClr val="5F6568"/>
                      </a:solidFill>
                      <a:miter lim="400000"/>
                    </a:lnB>
                    <a:solidFill>
                      <a:srgbClr val="2E87BB">
                        <a:alpha val="29000"/>
                      </a:srgbClr>
                    </a:solidFill>
                  </a:tcPr>
                </a:tc>
                <a:tc>
                  <a:txBody>
                    <a:bodyPr/>
                    <a:lstStyle/>
                    <a:p>
                      <a:pPr lvl="1" indent="0" algn="l" defTabSz="825500">
                        <a:spcBef>
                          <a:spcPts val="3900"/>
                        </a:spcBef>
                        <a:buClr>
                          <a:srgbClr val="34A5DA"/>
                        </a:buClr>
                        <a:buFont typeface="Avenir Next Regular"/>
                        <a:defRPr sz="4800">
                          <a:solidFill>
                            <a:srgbClr val="8BD1D9"/>
                          </a:solidFill>
                          <a:latin typeface="Menlo Regular"/>
                          <a:ea typeface="Menlo Regular"/>
                          <a:cs typeface="Menlo Regular"/>
                          <a:sym typeface="Menlo Regular"/>
                        </a:defRPr>
                      </a:pPr>
                      <a:r>
                        <a:rPr sz="2400" dirty="0">
                          <a:solidFill>
                            <a:srgbClr val="005493"/>
                          </a:solidFill>
                          <a:latin typeface="Consolas" panose="020B0609020204030204" pitchFamily="49" charset="0"/>
                        </a:rPr>
                        <a:t>SELECT * FROM accounts WHERE name=‘</a:t>
                      </a:r>
                      <a:r>
                        <a:rPr sz="2400" dirty="0">
                          <a:solidFill>
                            <a:srgbClr val="A64B28"/>
                          </a:solidFill>
                          <a:latin typeface="Consolas" panose="020B0609020204030204" pitchFamily="49" charset="0"/>
                        </a:rPr>
                        <a:t>Alice</a:t>
                      </a:r>
                      <a:r>
                        <a:rPr sz="2400" dirty="0">
                          <a:solidFill>
                            <a:srgbClr val="005493"/>
                          </a:solidFill>
                          <a:latin typeface="Consolas" panose="020B0609020204030204" pitchFamily="49" charset="0"/>
                        </a:rPr>
                        <a:t>’;</a:t>
                      </a:r>
                    </a:p>
                  </a:txBody>
                  <a:tcPr marL="25400" marR="25400" marT="25400" marB="25400" anchor="ctr" horzOverflow="overflow">
                    <a:lnL w="12700">
                      <a:miter lim="400000"/>
                    </a:lnL>
                    <a:lnR w="12700">
                      <a:miter lim="400000"/>
                    </a:lnR>
                    <a:lnT w="25400">
                      <a:solidFill>
                        <a:srgbClr val="5F6568"/>
                      </a:solidFill>
                      <a:miter lim="400000"/>
                    </a:lnT>
                    <a:lnB w="25400">
                      <a:solidFill>
                        <a:srgbClr val="5F6568"/>
                      </a:solidFill>
                      <a:miter lim="400000"/>
                    </a:lnB>
                    <a:solidFill>
                      <a:srgbClr val="2E87BB">
                        <a:alpha val="29000"/>
                      </a:srgbClr>
                    </a:solidFill>
                  </a:tcPr>
                </a:tc>
                <a:tc>
                  <a:txBody>
                    <a:bodyPr/>
                    <a:lstStyle/>
                    <a:p>
                      <a:pPr defTabSz="825500"/>
                      <a:r>
                        <a:rPr sz="2600" dirty="0">
                          <a:solidFill>
                            <a:srgbClr val="005493"/>
                          </a:solidFill>
                          <a:latin typeface="Consolas" panose="020B0609020204030204" pitchFamily="49" charset="0"/>
                          <a:ea typeface="Avenir Next Medium"/>
                          <a:cs typeface="Avenir Next Medium"/>
                          <a:sym typeface="Avenir Next Medium"/>
                        </a:rPr>
                        <a:t>Select a single account</a:t>
                      </a:r>
                    </a:p>
                  </a:txBody>
                  <a:tcPr marL="25400" marR="25400" marT="25400" marB="25400" anchor="ctr" horzOverflow="overflow">
                    <a:lnL w="12700">
                      <a:miter lim="400000"/>
                    </a:lnL>
                    <a:lnR w="12700">
                      <a:miter lim="400000"/>
                    </a:lnR>
                    <a:lnT w="25400">
                      <a:solidFill>
                        <a:srgbClr val="5F6568"/>
                      </a:solidFill>
                      <a:miter lim="400000"/>
                    </a:lnT>
                    <a:lnB w="25400">
                      <a:solidFill>
                        <a:srgbClr val="5F6568"/>
                      </a:solidFill>
                      <a:miter lim="400000"/>
                    </a:lnB>
                    <a:solidFill>
                      <a:srgbClr val="2E87BB">
                        <a:alpha val="29000"/>
                      </a:srgbClr>
                    </a:solidFill>
                  </a:tcPr>
                </a:tc>
                <a:extLst>
                  <a:ext uri="{0D108BD9-81ED-4DB2-BD59-A6C34878D82A}">
                    <a16:rowId xmlns:a16="http://schemas.microsoft.com/office/drawing/2014/main" val="10001"/>
                  </a:ext>
                </a:extLst>
              </a:tr>
              <a:tr h="930591">
                <a:tc>
                  <a:txBody>
                    <a:bodyPr/>
                    <a:lstStyle/>
                    <a:p>
                      <a:pPr defTabSz="825500"/>
                      <a:r>
                        <a:rPr sz="2600" dirty="0">
                          <a:solidFill>
                            <a:srgbClr val="005493"/>
                          </a:solidFill>
                          <a:latin typeface="Consolas" panose="020B0609020204030204" pitchFamily="49" charset="0"/>
                          <a:ea typeface="Avenir Next Medium"/>
                          <a:cs typeface="Avenir Next Medium"/>
                          <a:sym typeface="Avenir Next Medium"/>
                        </a:rPr>
                        <a:t>Alice O’Neal</a:t>
                      </a:r>
                    </a:p>
                  </a:txBody>
                  <a:tcPr marL="25400" marR="25400" marT="25400" marB="25400" anchor="ctr" horzOverflow="overflow">
                    <a:lnL w="12700">
                      <a:miter lim="400000"/>
                    </a:lnL>
                    <a:lnR w="12700">
                      <a:miter lim="400000"/>
                    </a:lnR>
                    <a:lnT w="25400">
                      <a:solidFill>
                        <a:srgbClr val="5F6568"/>
                      </a:solidFill>
                      <a:miter lim="400000"/>
                    </a:lnT>
                    <a:lnB w="25400">
                      <a:solidFill>
                        <a:srgbClr val="5F6568"/>
                      </a:solidFill>
                      <a:miter lim="400000"/>
                    </a:lnB>
                  </a:tcPr>
                </a:tc>
                <a:tc>
                  <a:txBody>
                    <a:bodyPr/>
                    <a:lstStyle/>
                    <a:p>
                      <a:pPr lvl="1" indent="0" algn="l" defTabSz="825500">
                        <a:spcBef>
                          <a:spcPts val="3900"/>
                        </a:spcBef>
                        <a:buClr>
                          <a:srgbClr val="34A5DA"/>
                        </a:buClr>
                        <a:buFont typeface="Avenir Next Regular"/>
                        <a:defRPr sz="4800">
                          <a:solidFill>
                            <a:srgbClr val="8BD1D9"/>
                          </a:solidFill>
                          <a:latin typeface="Menlo Regular"/>
                          <a:ea typeface="Menlo Regular"/>
                          <a:cs typeface="Menlo Regular"/>
                          <a:sym typeface="Menlo Regular"/>
                        </a:defRPr>
                      </a:pPr>
                      <a:r>
                        <a:rPr sz="2400" dirty="0">
                          <a:solidFill>
                            <a:srgbClr val="005493"/>
                          </a:solidFill>
                          <a:latin typeface="Consolas" panose="020B0609020204030204" pitchFamily="49" charset="0"/>
                        </a:rPr>
                        <a:t>SELECT * FROM accounts WHERE name=‘</a:t>
                      </a:r>
                      <a:r>
                        <a:rPr sz="2400" dirty="0">
                          <a:solidFill>
                            <a:srgbClr val="A64B28"/>
                          </a:solidFill>
                          <a:latin typeface="Consolas" panose="020B0609020204030204" pitchFamily="49" charset="0"/>
                        </a:rPr>
                        <a:t>Alice O</a:t>
                      </a:r>
                      <a:r>
                        <a:rPr sz="2400" dirty="0">
                          <a:solidFill>
                            <a:srgbClr val="FF2600"/>
                          </a:solidFill>
                          <a:latin typeface="Consolas" panose="020B0609020204030204" pitchFamily="49" charset="0"/>
                        </a:rPr>
                        <a:t>’Neal’;</a:t>
                      </a:r>
                    </a:p>
                  </a:txBody>
                  <a:tcPr marL="25400" marR="25400" marT="25400" marB="25400" anchor="ctr" horzOverflow="overflow">
                    <a:lnL w="12700">
                      <a:miter lim="400000"/>
                    </a:lnL>
                    <a:lnR w="12700">
                      <a:miter lim="400000"/>
                    </a:lnR>
                    <a:lnT w="25400">
                      <a:solidFill>
                        <a:srgbClr val="5F6568"/>
                      </a:solidFill>
                      <a:miter lim="400000"/>
                    </a:lnT>
                    <a:lnB w="25400">
                      <a:solidFill>
                        <a:srgbClr val="5F6568"/>
                      </a:solidFill>
                      <a:miter lim="400000"/>
                    </a:lnB>
                  </a:tcPr>
                </a:tc>
                <a:tc>
                  <a:txBody>
                    <a:bodyPr/>
                    <a:lstStyle/>
                    <a:p>
                      <a:pPr defTabSz="825500"/>
                      <a:r>
                        <a:rPr sz="2600" dirty="0">
                          <a:solidFill>
                            <a:srgbClr val="005493"/>
                          </a:solidFill>
                          <a:latin typeface="Consolas" panose="020B0609020204030204" pitchFamily="49" charset="0"/>
                          <a:ea typeface="Avenir Next Medium"/>
                          <a:cs typeface="Avenir Next Medium"/>
                          <a:sym typeface="Avenir Next Medium"/>
                        </a:rPr>
                        <a:t>SQL Error</a:t>
                      </a:r>
                    </a:p>
                  </a:txBody>
                  <a:tcPr marL="25400" marR="25400" marT="25400" marB="25400" anchor="ctr" horzOverflow="overflow">
                    <a:lnL w="12700">
                      <a:miter lim="400000"/>
                    </a:lnL>
                    <a:lnR w="12700">
                      <a:miter lim="400000"/>
                    </a:lnR>
                    <a:lnT w="25400">
                      <a:solidFill>
                        <a:srgbClr val="5F6568"/>
                      </a:solidFill>
                      <a:miter lim="400000"/>
                    </a:lnT>
                    <a:lnB w="25400">
                      <a:solidFill>
                        <a:srgbClr val="5F6568"/>
                      </a:solidFill>
                      <a:miter lim="400000"/>
                    </a:lnB>
                  </a:tcPr>
                </a:tc>
                <a:extLst>
                  <a:ext uri="{0D108BD9-81ED-4DB2-BD59-A6C34878D82A}">
                    <a16:rowId xmlns:a16="http://schemas.microsoft.com/office/drawing/2014/main" val="10002"/>
                  </a:ext>
                </a:extLst>
              </a:tr>
              <a:tr h="930591">
                <a:tc>
                  <a:txBody>
                    <a:bodyPr/>
                    <a:lstStyle/>
                    <a:p>
                      <a:pPr defTabSz="825500"/>
                      <a:r>
                        <a:rPr sz="2600" dirty="0">
                          <a:solidFill>
                            <a:srgbClr val="005493"/>
                          </a:solidFill>
                          <a:latin typeface="Consolas" panose="020B0609020204030204" pitchFamily="49" charset="0"/>
                          <a:ea typeface="Avenir Next Medium"/>
                          <a:cs typeface="Avenir Next Medium"/>
                          <a:sym typeface="Avenir Next Medium"/>
                        </a:rPr>
                        <a:t>5’ OR ‘1’=‘1</a:t>
                      </a:r>
                    </a:p>
                  </a:txBody>
                  <a:tcPr marL="25400" marR="25400" marT="25400" marB="25400" anchor="ctr" horzOverflow="overflow">
                    <a:lnL w="12700">
                      <a:miter lim="400000"/>
                    </a:lnL>
                    <a:lnR w="12700">
                      <a:miter lim="400000"/>
                    </a:lnR>
                    <a:lnT w="25400">
                      <a:solidFill>
                        <a:srgbClr val="5F6568"/>
                      </a:solidFill>
                      <a:miter lim="400000"/>
                    </a:lnT>
                    <a:lnB w="12700">
                      <a:miter lim="400000"/>
                    </a:lnB>
                    <a:solidFill>
                      <a:srgbClr val="2E87BB">
                        <a:alpha val="29000"/>
                      </a:srgbClr>
                    </a:solidFill>
                  </a:tcPr>
                </a:tc>
                <a:tc>
                  <a:txBody>
                    <a:bodyPr/>
                    <a:lstStyle/>
                    <a:p>
                      <a:pPr lvl="1" indent="0" algn="l" defTabSz="825500">
                        <a:spcBef>
                          <a:spcPts val="3900"/>
                        </a:spcBef>
                        <a:buClr>
                          <a:srgbClr val="34A5DA"/>
                        </a:buClr>
                        <a:buFont typeface="Avenir Next Regular"/>
                        <a:defRPr sz="4800">
                          <a:solidFill>
                            <a:srgbClr val="8BD1D9"/>
                          </a:solidFill>
                          <a:latin typeface="Menlo Regular"/>
                          <a:ea typeface="Menlo Regular"/>
                          <a:cs typeface="Menlo Regular"/>
                          <a:sym typeface="Menlo Regular"/>
                        </a:defRPr>
                      </a:pPr>
                      <a:r>
                        <a:rPr sz="2400" dirty="0">
                          <a:solidFill>
                            <a:srgbClr val="005493"/>
                          </a:solidFill>
                          <a:latin typeface="Consolas" panose="020B0609020204030204" pitchFamily="49" charset="0"/>
                        </a:rPr>
                        <a:t>SELECT * FROM accounts WHERE name=‘</a:t>
                      </a:r>
                      <a:r>
                        <a:rPr sz="2400" dirty="0">
                          <a:solidFill>
                            <a:srgbClr val="FF2600"/>
                          </a:solidFill>
                          <a:latin typeface="Consolas" panose="020B0609020204030204" pitchFamily="49" charset="0"/>
                        </a:rPr>
                        <a:t>5’ OR ‘1’=‘1</a:t>
                      </a:r>
                      <a:r>
                        <a:rPr sz="2400" dirty="0">
                          <a:solidFill>
                            <a:srgbClr val="005493"/>
                          </a:solidFill>
                          <a:latin typeface="Consolas" panose="020B0609020204030204" pitchFamily="49" charset="0"/>
                        </a:rPr>
                        <a:t>’;</a:t>
                      </a:r>
                    </a:p>
                  </a:txBody>
                  <a:tcPr marL="25400" marR="25400" marT="25400" marB="25400" anchor="ctr" horzOverflow="overflow">
                    <a:lnL w="12700">
                      <a:miter lim="400000"/>
                    </a:lnL>
                    <a:lnR w="12700">
                      <a:miter lim="400000"/>
                    </a:lnR>
                    <a:lnT w="25400">
                      <a:solidFill>
                        <a:srgbClr val="5F6568"/>
                      </a:solidFill>
                      <a:miter lim="400000"/>
                    </a:lnT>
                    <a:lnB w="12700">
                      <a:miter lim="400000"/>
                    </a:lnB>
                    <a:solidFill>
                      <a:srgbClr val="2E87BB">
                        <a:alpha val="29000"/>
                      </a:srgbClr>
                    </a:solidFill>
                  </a:tcPr>
                </a:tc>
                <a:tc>
                  <a:txBody>
                    <a:bodyPr/>
                    <a:lstStyle/>
                    <a:p>
                      <a:pPr defTabSz="825500"/>
                      <a:r>
                        <a:rPr sz="2600" b="1" dirty="0">
                          <a:solidFill>
                            <a:srgbClr val="FF0000"/>
                          </a:solidFill>
                          <a:latin typeface="Consolas" panose="020B0609020204030204" pitchFamily="49" charset="0"/>
                          <a:ea typeface="Avenir Next Medium"/>
                          <a:cs typeface="Avenir Next Medium"/>
                          <a:sym typeface="Avenir Next Medium"/>
                        </a:rPr>
                        <a:t>Select all accounts</a:t>
                      </a:r>
                    </a:p>
                  </a:txBody>
                  <a:tcPr marL="25400" marR="25400" marT="25400" marB="25400" anchor="ctr" horzOverflow="overflow">
                    <a:lnL w="12700">
                      <a:miter lim="400000"/>
                    </a:lnL>
                    <a:lnR w="12700">
                      <a:miter lim="400000"/>
                    </a:lnR>
                    <a:lnT w="25400">
                      <a:solidFill>
                        <a:srgbClr val="5F6568"/>
                      </a:solidFill>
                      <a:miter lim="400000"/>
                    </a:lnT>
                    <a:lnB w="12700">
                      <a:miter lim="400000"/>
                    </a:lnB>
                    <a:solidFill>
                      <a:srgbClr val="2E87BB">
                        <a:alpha val="29000"/>
                      </a:srgbClr>
                    </a:solidFill>
                  </a:tcPr>
                </a:tc>
                <a:extLst>
                  <a:ext uri="{0D108BD9-81ED-4DB2-BD59-A6C34878D82A}">
                    <a16:rowId xmlns:a16="http://schemas.microsoft.com/office/drawing/2014/main" val="10003"/>
                  </a:ext>
                </a:extLst>
              </a:tr>
            </a:tbl>
          </a:graphicData>
        </a:graphic>
      </p:graphicFrame>
      <p:grpSp>
        <p:nvGrpSpPr>
          <p:cNvPr id="141" name="Group"/>
          <p:cNvGrpSpPr/>
          <p:nvPr/>
        </p:nvGrpSpPr>
        <p:grpSpPr>
          <a:xfrm>
            <a:off x="354207" y="5241661"/>
            <a:ext cx="11572511" cy="1552111"/>
            <a:chOff x="0" y="0"/>
            <a:chExt cx="23145020" cy="3104222"/>
          </a:xfrm>
        </p:grpSpPr>
        <p:sp>
          <p:nvSpPr>
            <p:cNvPr id="140" name="Rectangle"/>
            <p:cNvSpPr/>
            <p:nvPr/>
          </p:nvSpPr>
          <p:spPr>
            <a:xfrm>
              <a:off x="0" y="0"/>
              <a:ext cx="22459454" cy="1524001"/>
            </a:xfrm>
            <a:prstGeom prst="rect">
              <a:avLst/>
            </a:prstGeom>
            <a:noFill/>
            <a:ln w="63500" cap="flat">
              <a:solidFill>
                <a:srgbClr val="8C1818"/>
              </a:solidFill>
              <a:prstDash val="solid"/>
              <a:miter lim="400000"/>
            </a:ln>
            <a:effectLst/>
          </p:spPr>
          <p:txBody>
            <a:bodyPr wrap="square" lIns="25400" tIns="25400" rIns="25400" bIns="25400" numCol="1" anchor="ctr">
              <a:noAutofit/>
            </a:bodyPr>
            <a:lstStyle/>
            <a:p>
              <a:pPr defTabSz="412750">
                <a:lnSpc>
                  <a:spcPct val="80000"/>
                </a:lnSpc>
                <a:defRPr sz="4000" b="1" cap="all">
                  <a:solidFill>
                    <a:srgbClr val="FFFFFF"/>
                  </a:solidFill>
                  <a:latin typeface="Avenir Next Regular"/>
                  <a:ea typeface="Avenir Next Regular"/>
                  <a:cs typeface="Avenir Next Regular"/>
                  <a:sym typeface="Avenir Next Regular"/>
                </a:defRPr>
              </a:pPr>
              <a:endParaRPr sz="2000" dirty="0">
                <a:latin typeface="Helvetica" panose="020B0604020202020204" pitchFamily="34" charset="0"/>
                <a:cs typeface="Helvetica" panose="020B0604020202020204" pitchFamily="34" charset="0"/>
              </a:endParaRPr>
            </a:p>
          </p:txBody>
        </p:sp>
        <p:sp>
          <p:nvSpPr>
            <p:cNvPr id="139" name="This is an attack"/>
            <p:cNvSpPr txBox="1"/>
            <p:nvPr/>
          </p:nvSpPr>
          <p:spPr>
            <a:xfrm>
              <a:off x="18043608" y="970304"/>
              <a:ext cx="5101412" cy="213391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ctr">
              <a:spAutoFit/>
            </a:bodyPr>
            <a:lstStyle>
              <a:lvl1pPr algn="l" defTabSz="825500">
                <a:spcBef>
                  <a:spcPts val="3400"/>
                </a:spcBef>
                <a:defRPr sz="4900" cap="all">
                  <a:solidFill>
                    <a:srgbClr val="8C1818"/>
                  </a:solidFill>
                  <a:latin typeface="Ronnia Cond Bold"/>
                  <a:ea typeface="Ronnia Cond Bold"/>
                  <a:cs typeface="Ronnia Cond Bold"/>
                  <a:sym typeface="Ronnia Cond Bold"/>
                </a:defRPr>
              </a:lvl1pPr>
            </a:lstStyle>
            <a:p>
              <a:r>
                <a:rPr lang="en-US" sz="6600" dirty="0">
                  <a:highlight>
                    <a:srgbClr val="FFFF00"/>
                  </a:highlight>
                  <a:latin typeface="Algerian" panose="04020705040A02060702" pitchFamily="82" charset="0"/>
                </a:rPr>
                <a:t>OOPs! </a:t>
              </a:r>
              <a:endParaRPr sz="6600" dirty="0">
                <a:highlight>
                  <a:srgbClr val="FFFF00"/>
                </a:highlight>
                <a:latin typeface="Algerian" panose="04020705040A02060702" pitchFamily="82" charset="0"/>
              </a:endParaRPr>
            </a:p>
          </p:txBody>
        </p:sp>
      </p:grpSp>
    </p:spTree>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animBg="1" advAuto="0"/>
      <p:bldP spid="141" grpId="0" animBg="1" advAuto="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Code Injection Example"/>
          <p:cNvSpPr txBox="1">
            <a:spLocks noGrp="1"/>
          </p:cNvSpPr>
          <p:nvPr>
            <p:ph type="title"/>
          </p:nvPr>
        </p:nvSpPr>
        <p:spPr>
          <a:prstGeom prst="rect">
            <a:avLst/>
          </a:prstGeom>
        </p:spPr>
        <p:txBody>
          <a:bodyPr>
            <a:normAutofit/>
          </a:bodyPr>
          <a:lstStyle/>
          <a:p>
            <a:r>
              <a:rPr lang="en-US" sz="3600" dirty="0"/>
              <a:t>A code injection attack (in Apache struts) cost Equifax $1.4 Billion</a:t>
            </a:r>
            <a:endParaRPr sz="3600" dirty="0"/>
          </a:p>
        </p:txBody>
      </p:sp>
      <p:pic>
        <p:nvPicPr>
          <p:cNvPr id="200" name="Image" descr="Image"/>
          <p:cNvPicPr>
            <a:picLocks noChangeAspect="1"/>
          </p:cNvPicPr>
          <p:nvPr/>
        </p:nvPicPr>
        <p:blipFill>
          <a:blip r:embed="rId3"/>
          <a:stretch>
            <a:fillRect/>
          </a:stretch>
        </p:blipFill>
        <p:spPr>
          <a:xfrm>
            <a:off x="1025525" y="2029826"/>
            <a:ext cx="10140950" cy="2908301"/>
          </a:xfrm>
          <a:prstGeom prst="rect">
            <a:avLst/>
          </a:prstGeom>
          <a:ln w="12700">
            <a:miter lim="400000"/>
          </a:ln>
        </p:spPr>
      </p:pic>
      <p:pic>
        <p:nvPicPr>
          <p:cNvPr id="201" name="Image" descr="Image"/>
          <p:cNvPicPr>
            <a:picLocks noChangeAspect="1"/>
          </p:cNvPicPr>
          <p:nvPr/>
        </p:nvPicPr>
        <p:blipFill>
          <a:blip r:embed="rId4"/>
          <a:stretch>
            <a:fillRect/>
          </a:stretch>
        </p:blipFill>
        <p:spPr>
          <a:xfrm>
            <a:off x="7145139" y="3639542"/>
            <a:ext cx="4692651" cy="1193801"/>
          </a:xfrm>
          <a:prstGeom prst="rect">
            <a:avLst/>
          </a:prstGeom>
          <a:ln w="12700">
            <a:solidFill>
              <a:schemeClr val="tx1"/>
            </a:solidFill>
            <a:miter lim="400000"/>
          </a:ln>
        </p:spPr>
      </p:pic>
      <p:sp>
        <p:nvSpPr>
          <p:cNvPr id="202" name="CVE-2017-5638 Detail…"/>
          <p:cNvSpPr txBox="1"/>
          <p:nvPr/>
        </p:nvSpPr>
        <p:spPr>
          <a:xfrm>
            <a:off x="1701667" y="4719497"/>
            <a:ext cx="8788666" cy="1580241"/>
          </a:xfrm>
          <a:prstGeom prst="rect">
            <a:avLst/>
          </a:prstGeom>
          <a:solidFill>
            <a:srgbClr val="FFFFFF"/>
          </a:solidFill>
          <a:ln w="12700">
            <a:solidFill>
              <a:schemeClr val="tx1"/>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spAutoFit/>
          </a:bodyPr>
          <a:lstStyle/>
          <a:p>
            <a:pPr defTabSz="321469">
              <a:defRPr sz="4600" b="1">
                <a:solidFill>
                  <a:srgbClr val="333333"/>
                </a:solidFill>
                <a:latin typeface="Avenir Next Regular"/>
                <a:ea typeface="Avenir Next Regular"/>
                <a:cs typeface="Avenir Next Regular"/>
                <a:sym typeface="Avenir Next Regular"/>
              </a:defRPr>
            </a:pPr>
            <a:r>
              <a:rPr sz="2300" dirty="0">
                <a:latin typeface="Helvetica" panose="020B0604020202020204" pitchFamily="34" charset="0"/>
                <a:cs typeface="Helvetica" panose="020B0604020202020204" pitchFamily="34" charset="0"/>
              </a:rPr>
              <a:t>CVE-2017-5638 Detail</a:t>
            </a:r>
          </a:p>
          <a:p>
            <a:pPr defTabSz="321469">
              <a:defRPr sz="4200" b="1">
                <a:solidFill>
                  <a:srgbClr val="333333"/>
                </a:solidFill>
                <a:latin typeface="Avenir Next Regular"/>
                <a:ea typeface="Avenir Next Regular"/>
                <a:cs typeface="Avenir Next Regular"/>
                <a:sym typeface="Avenir Next Regular"/>
              </a:defRPr>
            </a:pPr>
            <a:r>
              <a:rPr sz="2100" dirty="0">
                <a:latin typeface="Helvetica" panose="020B0604020202020204" pitchFamily="34" charset="0"/>
                <a:cs typeface="Helvetica" panose="020B0604020202020204" pitchFamily="34" charset="0"/>
              </a:rPr>
              <a:t>Current Description</a:t>
            </a:r>
          </a:p>
          <a:p>
            <a:pPr defTabSz="321469">
              <a:defRPr sz="2200">
                <a:solidFill>
                  <a:srgbClr val="333333"/>
                </a:solidFill>
                <a:latin typeface="Avenir Next Regular"/>
                <a:ea typeface="Avenir Next Regular"/>
                <a:cs typeface="Avenir Next Regular"/>
                <a:sym typeface="Avenir Next Regular"/>
              </a:defRPr>
            </a:pPr>
            <a:r>
              <a:rPr sz="1100" dirty="0">
                <a:latin typeface="Helvetica" panose="020B0604020202020204" pitchFamily="34" charset="0"/>
                <a:cs typeface="Helvetica" panose="020B0604020202020204" pitchFamily="34" charset="0"/>
              </a:rPr>
              <a:t>The Jakarta Multipart parser in Apache Struts 2 2.3.x before 2.3.32 and 2.5.x before 2.5.10.1 has incorrect exception handling and error-message generation during file-upload attempts, which allows remote attackers to </a:t>
            </a:r>
            <a:r>
              <a:rPr sz="1600" dirty="0">
                <a:latin typeface="Helvetica" panose="020B0604020202020204" pitchFamily="34" charset="0"/>
                <a:cs typeface="Helvetica" panose="020B0604020202020204" pitchFamily="34" charset="0"/>
              </a:rPr>
              <a:t>execute arbitrary commands via a crafted Content-Type, Content-Disposition, or Content-Length HTTP header</a:t>
            </a:r>
            <a:r>
              <a:rPr sz="1100" dirty="0">
                <a:latin typeface="Helvetica" panose="020B0604020202020204" pitchFamily="34" charset="0"/>
                <a:cs typeface="Helvetica" panose="020B0604020202020204" pitchFamily="34" charset="0"/>
              </a:rPr>
              <a:t>, as exploited in the wild in March 2017 with a Content-Type header containing a #cmd= string.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87481-3B23-3A8F-3346-CBCC467E4B1B}"/>
              </a:ext>
            </a:extLst>
          </p:cNvPr>
          <p:cNvSpPr>
            <a:spLocks noGrp="1"/>
          </p:cNvSpPr>
          <p:nvPr>
            <p:ph type="title"/>
          </p:nvPr>
        </p:nvSpPr>
        <p:spPr/>
        <p:txBody>
          <a:bodyPr/>
          <a:lstStyle/>
          <a:p>
            <a:r>
              <a:rPr lang="en-US" dirty="0"/>
              <a:t>Bypassing airport security via SQL injection (2024!)</a:t>
            </a:r>
          </a:p>
        </p:txBody>
      </p:sp>
      <p:sp>
        <p:nvSpPr>
          <p:cNvPr id="6" name="Content Placeholder 5">
            <a:extLst>
              <a:ext uri="{FF2B5EF4-FFF2-40B4-BE49-F238E27FC236}">
                <a16:creationId xmlns:a16="http://schemas.microsoft.com/office/drawing/2014/main" id="{DC060260-B5F0-94BA-83F0-139B42495D4D}"/>
              </a:ext>
            </a:extLst>
          </p:cNvPr>
          <p:cNvSpPr>
            <a:spLocks noGrp="1"/>
          </p:cNvSpPr>
          <p:nvPr>
            <p:ph idx="1"/>
          </p:nvPr>
        </p:nvSpPr>
        <p:spPr>
          <a:xfrm>
            <a:off x="838200" y="1500160"/>
            <a:ext cx="5514474" cy="4351338"/>
          </a:xfrm>
        </p:spPr>
        <p:txBody>
          <a:bodyPr>
            <a:normAutofit fontScale="92500" lnSpcReduction="10000"/>
          </a:bodyPr>
          <a:lstStyle/>
          <a:p>
            <a:r>
              <a:rPr lang="en-US" dirty="0"/>
              <a:t>"Known Crewmembers" can get to the cockpit without inspection.</a:t>
            </a:r>
          </a:p>
          <a:p>
            <a:r>
              <a:rPr lang="en-US" dirty="0"/>
              <a:t>Large airlines: Each airline runs its own authorization system, but small airlines rely on a vendor</a:t>
            </a:r>
          </a:p>
          <a:p>
            <a:r>
              <a:rPr lang="en-US" dirty="0"/>
              <a:t>The authors found one such vendor that had an SQL injection error </a:t>
            </a:r>
          </a:p>
          <a:p>
            <a:r>
              <a:rPr lang="en-US" dirty="0"/>
              <a:t>Using the username of </a:t>
            </a:r>
            <a:r>
              <a:rPr lang="en-US" dirty="0">
                <a:highlight>
                  <a:srgbClr val="FFFF00"/>
                </a:highlight>
              </a:rPr>
              <a:t>' or '1'='1</a:t>
            </a:r>
            <a:r>
              <a:rPr lang="en-US" dirty="0"/>
              <a:t> and password of ') </a:t>
            </a:r>
            <a:r>
              <a:rPr lang="en-US" dirty="0">
                <a:highlight>
                  <a:srgbClr val="FFFF00"/>
                </a:highlight>
              </a:rPr>
              <a:t>OR MD5('1')=MD5('1</a:t>
            </a:r>
            <a:r>
              <a:rPr lang="en-US" dirty="0"/>
              <a:t>, we were able to login to </a:t>
            </a:r>
            <a:r>
              <a:rPr lang="en-US" dirty="0" err="1"/>
              <a:t>FlyCASS</a:t>
            </a:r>
            <a:r>
              <a:rPr lang="en-US" dirty="0"/>
              <a:t> as an administrator of Air Transport International!</a:t>
            </a:r>
          </a:p>
          <a:p>
            <a:endParaRPr lang="en-US" dirty="0"/>
          </a:p>
          <a:p>
            <a:endParaRPr lang="en-US" dirty="0"/>
          </a:p>
        </p:txBody>
      </p:sp>
      <p:sp>
        <p:nvSpPr>
          <p:cNvPr id="3" name="Slide Number Placeholder 2">
            <a:extLst>
              <a:ext uri="{FF2B5EF4-FFF2-40B4-BE49-F238E27FC236}">
                <a16:creationId xmlns:a16="http://schemas.microsoft.com/office/drawing/2014/main" id="{62C9ABA1-B52F-6B1B-24D5-70C67F5CD5BD}"/>
              </a:ext>
            </a:extLst>
          </p:cNvPr>
          <p:cNvSpPr>
            <a:spLocks noGrp="1"/>
          </p:cNvSpPr>
          <p:nvPr>
            <p:ph type="sldNum" sz="quarter" idx="12"/>
          </p:nvPr>
        </p:nvSpPr>
        <p:spPr/>
        <p:txBody>
          <a:bodyPr/>
          <a:lstStyle/>
          <a:p>
            <a:fld id="{20F37917-FD3A-4669-9018-DA04BCDD3D75}" type="slidenum">
              <a:rPr lang="en-US" smtClean="0"/>
              <a:t>20</a:t>
            </a:fld>
            <a:endParaRPr lang="en-US"/>
          </a:p>
        </p:txBody>
      </p:sp>
      <p:pic>
        <p:nvPicPr>
          <p:cNvPr id="16" name="Picture 15">
            <a:extLst>
              <a:ext uri="{FF2B5EF4-FFF2-40B4-BE49-F238E27FC236}">
                <a16:creationId xmlns:a16="http://schemas.microsoft.com/office/drawing/2014/main" id="{EEEBA1C6-5F24-4E10-4017-13DFD896C704}"/>
              </a:ext>
            </a:extLst>
          </p:cNvPr>
          <p:cNvPicPr>
            <a:picLocks noChangeAspect="1"/>
          </p:cNvPicPr>
          <p:nvPr/>
        </p:nvPicPr>
        <p:blipFill>
          <a:blip r:embed="rId3"/>
          <a:stretch>
            <a:fillRect/>
          </a:stretch>
        </p:blipFill>
        <p:spPr>
          <a:xfrm>
            <a:off x="6845968" y="1857643"/>
            <a:ext cx="4187536" cy="3885550"/>
          </a:xfrm>
          <a:prstGeom prst="rect">
            <a:avLst/>
          </a:prstGeom>
        </p:spPr>
      </p:pic>
      <p:sp>
        <p:nvSpPr>
          <p:cNvPr id="17" name="This is an attack">
            <a:extLst>
              <a:ext uri="{FF2B5EF4-FFF2-40B4-BE49-F238E27FC236}">
                <a16:creationId xmlns:a16="http://schemas.microsoft.com/office/drawing/2014/main" id="{3FC768A9-BAAC-0F97-AF82-89D2AD35F66C}"/>
              </a:ext>
            </a:extLst>
          </p:cNvPr>
          <p:cNvSpPr txBox="1"/>
          <p:nvPr/>
        </p:nvSpPr>
        <p:spPr>
          <a:xfrm>
            <a:off x="8976092" y="3800418"/>
            <a:ext cx="2550706" cy="106695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ctr">
            <a:spAutoFit/>
          </a:bodyPr>
          <a:lstStyle>
            <a:lvl1pPr algn="l" defTabSz="825500">
              <a:spcBef>
                <a:spcPts val="3400"/>
              </a:spcBef>
              <a:defRPr sz="4900" cap="all">
                <a:solidFill>
                  <a:srgbClr val="8C1818"/>
                </a:solidFill>
                <a:latin typeface="Ronnia Cond Bold"/>
                <a:ea typeface="Ronnia Cond Bold"/>
                <a:cs typeface="Ronnia Cond Bold"/>
                <a:sym typeface="Ronnia Cond Bold"/>
              </a:defRPr>
            </a:lvl1pPr>
          </a:lstStyle>
          <a:p>
            <a:r>
              <a:rPr lang="en-US" sz="6600" dirty="0">
                <a:highlight>
                  <a:srgbClr val="FFFF00"/>
                </a:highlight>
                <a:latin typeface="Algerian" panose="04020705040A02060702" pitchFamily="82" charset="0"/>
              </a:rPr>
              <a:t>OOPs! </a:t>
            </a:r>
            <a:endParaRPr sz="6600" dirty="0">
              <a:highlight>
                <a:srgbClr val="FFFF00"/>
              </a:highlight>
              <a:latin typeface="Algerian" panose="04020705040A02060702" pitchFamily="82" charset="0"/>
            </a:endParaRPr>
          </a:p>
        </p:txBody>
      </p:sp>
      <p:sp>
        <p:nvSpPr>
          <p:cNvPr id="20" name="TextBox 19">
            <a:extLst>
              <a:ext uri="{FF2B5EF4-FFF2-40B4-BE49-F238E27FC236}">
                <a16:creationId xmlns:a16="http://schemas.microsoft.com/office/drawing/2014/main" id="{3FDF1518-31EE-7CDC-460B-1DBAA87CFD4B}"/>
              </a:ext>
            </a:extLst>
          </p:cNvPr>
          <p:cNvSpPr txBox="1"/>
          <p:nvPr/>
        </p:nvSpPr>
        <p:spPr>
          <a:xfrm>
            <a:off x="8289758" y="5900290"/>
            <a:ext cx="2907632" cy="5974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dirty="0">
                <a:solidFill>
                  <a:schemeClr val="accent1"/>
                </a:solidFill>
                <a:hlinkClick r:id="rId4"/>
              </a:rPr>
              <a:t>https://ian.sh/tsa</a:t>
            </a:r>
            <a:endParaRPr lang="en-US" dirty="0">
              <a:solidFill>
                <a:schemeClr val="accent1"/>
              </a:solidFill>
            </a:endParaRPr>
          </a:p>
        </p:txBody>
      </p:sp>
    </p:spTree>
    <p:extLst>
      <p:ext uri="{BB962C8B-B14F-4D97-AF65-F5344CB8AC3E}">
        <p14:creationId xmlns:p14="http://schemas.microsoft.com/office/powerpoint/2010/main" val="2772166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99567-945A-A649-A6D6-B4FE1391686D}"/>
              </a:ext>
            </a:extLst>
          </p:cNvPr>
          <p:cNvSpPr>
            <a:spLocks noGrp="1"/>
          </p:cNvSpPr>
          <p:nvPr>
            <p:ph type="title"/>
          </p:nvPr>
        </p:nvSpPr>
        <p:spPr/>
        <p:txBody>
          <a:bodyPr/>
          <a:lstStyle/>
          <a:p>
            <a:r>
              <a:rPr lang="en-US" dirty="0"/>
              <a:t>SE-level mitigations for code injection attacks</a:t>
            </a:r>
          </a:p>
        </p:txBody>
      </p:sp>
      <p:sp>
        <p:nvSpPr>
          <p:cNvPr id="4" name="Text Placeholder 3">
            <a:extLst>
              <a:ext uri="{FF2B5EF4-FFF2-40B4-BE49-F238E27FC236}">
                <a16:creationId xmlns:a16="http://schemas.microsoft.com/office/drawing/2014/main" id="{DFB0884D-C5F8-7A45-A1EE-D0FC67BD9897}"/>
              </a:ext>
            </a:extLst>
          </p:cNvPr>
          <p:cNvSpPr>
            <a:spLocks noGrp="1"/>
          </p:cNvSpPr>
          <p:nvPr>
            <p:ph idx="1"/>
          </p:nvPr>
        </p:nvSpPr>
        <p:spPr/>
        <p:txBody>
          <a:bodyPr>
            <a:normAutofit fontScale="92500" lnSpcReduction="10000"/>
          </a:bodyPr>
          <a:lstStyle/>
          <a:p>
            <a:r>
              <a:rPr lang="en-US" dirty="0"/>
              <a:t>Use packages like Zod to sanitize inputs</a:t>
            </a:r>
          </a:p>
          <a:p>
            <a:pPr lvl="1"/>
            <a:r>
              <a:rPr lang="en-US" dirty="0"/>
              <a:t>don't do this yourself!</a:t>
            </a:r>
          </a:p>
          <a:p>
            <a:r>
              <a:rPr lang="en-US" dirty="0"/>
              <a:t>Use </a:t>
            </a:r>
            <a:r>
              <a:rPr lang="en-US" dirty="0" err="1"/>
              <a:t>eslint</a:t>
            </a:r>
            <a:r>
              <a:rPr lang="en-US" dirty="0"/>
              <a:t> rules to check that Zod is used on every input flow</a:t>
            </a:r>
          </a:p>
          <a:p>
            <a:r>
              <a:rPr lang="en-US" dirty="0"/>
              <a:t>Avoid unsafe query languages (e.g. SQL, LDAP, language-specific languages like OGNL in java).  Use “safe” subsets instead. </a:t>
            </a:r>
          </a:p>
          <a:p>
            <a:r>
              <a:rPr lang="en-US" dirty="0"/>
              <a:t>Avoid use of languages (like C or C++) that allow code to construct arbitrary pointers or write beyond a valid array index</a:t>
            </a:r>
          </a:p>
          <a:p>
            <a:r>
              <a:rPr lang="en-US" dirty="0"/>
              <a:t>Never use eval() in JS – executes a string as JS code</a:t>
            </a:r>
          </a:p>
          <a:p>
            <a:pPr lvl="1"/>
            <a:endParaRPr lang="en-US" dirty="0"/>
          </a:p>
          <a:p>
            <a:pPr lvl="1"/>
            <a:endParaRPr lang="en-US" dirty="0"/>
          </a:p>
        </p:txBody>
      </p:sp>
    </p:spTree>
    <p:extLst>
      <p:ext uri="{BB962C8B-B14F-4D97-AF65-F5344CB8AC3E}">
        <p14:creationId xmlns:p14="http://schemas.microsoft.com/office/powerpoint/2010/main" val="29717724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20EAC-9F80-D299-0D73-80B52D781EA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1A88AD4-8F43-883B-EBAD-E5D43BA25E05}"/>
              </a:ext>
            </a:extLst>
          </p:cNvPr>
          <p:cNvSpPr>
            <a:spLocks noGrp="1"/>
          </p:cNvSpPr>
          <p:nvPr>
            <p:ph type="title"/>
          </p:nvPr>
        </p:nvSpPr>
        <p:spPr/>
        <p:txBody>
          <a:bodyPr/>
          <a:lstStyle/>
          <a:p>
            <a:r>
              <a:rPr lang="en-US" dirty="0"/>
              <a:t>Vulnerability 3: Bad Authentication </a:t>
            </a:r>
          </a:p>
        </p:txBody>
      </p:sp>
      <p:sp>
        <p:nvSpPr>
          <p:cNvPr id="7" name="Content Placeholder 6">
            <a:extLst>
              <a:ext uri="{FF2B5EF4-FFF2-40B4-BE49-F238E27FC236}">
                <a16:creationId xmlns:a16="http://schemas.microsoft.com/office/drawing/2014/main" id="{42E244A5-CAD1-883D-3770-560681AE5514}"/>
              </a:ext>
            </a:extLst>
          </p:cNvPr>
          <p:cNvSpPr>
            <a:spLocks noGrp="1"/>
          </p:cNvSpPr>
          <p:nvPr>
            <p:ph idx="1"/>
          </p:nvPr>
        </p:nvSpPr>
        <p:spPr/>
        <p:txBody>
          <a:bodyPr/>
          <a:lstStyle/>
          <a:p>
            <a:r>
              <a:rPr lang="en-US" dirty="0"/>
              <a:t>This is mostly about password management</a:t>
            </a:r>
          </a:p>
          <a:p>
            <a:r>
              <a:rPr lang="en-US" dirty="0"/>
              <a:t>Attack surface: </a:t>
            </a:r>
          </a:p>
          <a:p>
            <a:pPr lvl="1"/>
            <a:r>
              <a:rPr lang="en-US" dirty="0"/>
              <a:t>your password system</a:t>
            </a:r>
          </a:p>
          <a:p>
            <a:pPr lvl="1"/>
            <a:r>
              <a:rPr lang="en-US" dirty="0"/>
              <a:t>the attacker may use lists of passwords stolen from other sites</a:t>
            </a:r>
          </a:p>
          <a:p>
            <a:endParaRPr lang="en-US" dirty="0"/>
          </a:p>
        </p:txBody>
      </p:sp>
    </p:spTree>
    <p:extLst>
      <p:ext uri="{BB962C8B-B14F-4D97-AF65-F5344CB8AC3E}">
        <p14:creationId xmlns:p14="http://schemas.microsoft.com/office/powerpoint/2010/main" val="40222617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E235E-736D-386C-6EC7-A4C81AE94C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D29129-ED1D-923E-1CC6-09FE8634EC7A}"/>
              </a:ext>
            </a:extLst>
          </p:cNvPr>
          <p:cNvSpPr>
            <a:spLocks noGrp="1"/>
          </p:cNvSpPr>
          <p:nvPr>
            <p:ph type="title"/>
          </p:nvPr>
        </p:nvSpPr>
        <p:spPr>
          <a:xfrm>
            <a:off x="838200" y="18255"/>
            <a:ext cx="10515600" cy="1325563"/>
          </a:xfrm>
        </p:spPr>
        <p:txBody>
          <a:bodyPr/>
          <a:lstStyle/>
          <a:p>
            <a:r>
              <a:rPr lang="en-US" dirty="0"/>
              <a:t>(Inadequate) Mitigation: Don't keep passwords; keep their hashes instead</a:t>
            </a:r>
          </a:p>
        </p:txBody>
      </p:sp>
      <p:sp>
        <p:nvSpPr>
          <p:cNvPr id="3" name="Content Placeholder 2">
            <a:extLst>
              <a:ext uri="{FF2B5EF4-FFF2-40B4-BE49-F238E27FC236}">
                <a16:creationId xmlns:a16="http://schemas.microsoft.com/office/drawing/2014/main" id="{833EF6A1-EA90-8F73-24A8-8CD13F0A9EE1}"/>
              </a:ext>
            </a:extLst>
          </p:cNvPr>
          <p:cNvSpPr>
            <a:spLocks noGrp="1"/>
          </p:cNvSpPr>
          <p:nvPr>
            <p:ph idx="1"/>
          </p:nvPr>
        </p:nvSpPr>
        <p:spPr>
          <a:xfrm>
            <a:off x="838200" y="1500160"/>
            <a:ext cx="7887346" cy="4351338"/>
          </a:xfrm>
        </p:spPr>
        <p:txBody>
          <a:bodyPr>
            <a:normAutofit fontScale="92500" lnSpcReduction="10000"/>
          </a:bodyPr>
          <a:lstStyle/>
          <a:p>
            <a:r>
              <a:rPr lang="en-US" dirty="0"/>
              <a:t>Cryptographic hash:</a:t>
            </a:r>
          </a:p>
          <a:p>
            <a:pPr lvl="1"/>
            <a:r>
              <a:rPr lang="en-US" dirty="0"/>
              <a:t>Space of hash values is very large (NOT what you'd use for a hash table)</a:t>
            </a:r>
          </a:p>
          <a:p>
            <a:pPr lvl="1"/>
            <a:r>
              <a:rPr lang="en-US" dirty="0"/>
              <a:t>hash collisions should be so rare as to be negligible</a:t>
            </a:r>
          </a:p>
          <a:p>
            <a:pPr lvl="1"/>
            <a:r>
              <a:rPr lang="en-US" dirty="0"/>
              <a:t>can't go from hash code to original</a:t>
            </a:r>
          </a:p>
          <a:p>
            <a:r>
              <a:rPr lang="en-US" dirty="0"/>
              <a:t>Your table consists of (username, </a:t>
            </a:r>
            <a:r>
              <a:rPr lang="en-US" dirty="0" err="1"/>
              <a:t>savedHash</a:t>
            </a:r>
            <a:r>
              <a:rPr lang="en-US" dirty="0"/>
              <a:t>) where </a:t>
            </a:r>
            <a:r>
              <a:rPr lang="en-US" dirty="0" err="1"/>
              <a:t>savedHash</a:t>
            </a:r>
            <a:r>
              <a:rPr lang="en-US" dirty="0"/>
              <a:t> is the hash of the password they created when they signed up for the site.</a:t>
            </a:r>
          </a:p>
          <a:p>
            <a:r>
              <a:rPr lang="en-US" dirty="0"/>
              <a:t>Afterwards, the user logs in with (username, </a:t>
            </a:r>
            <a:r>
              <a:rPr lang="en-US" dirty="0" err="1"/>
              <a:t>maybePassword</a:t>
            </a:r>
            <a:r>
              <a:rPr lang="en-US" dirty="0"/>
              <a:t>).</a:t>
            </a:r>
          </a:p>
          <a:p>
            <a:r>
              <a:rPr lang="en-US" dirty="0"/>
              <a:t>You compare hash(</a:t>
            </a:r>
            <a:r>
              <a:rPr lang="en-US" dirty="0" err="1"/>
              <a:t>maybePassword</a:t>
            </a:r>
            <a:r>
              <a:rPr lang="en-US" dirty="0"/>
              <a:t>) vs </a:t>
            </a:r>
            <a:r>
              <a:rPr lang="en-US" dirty="0" err="1"/>
              <a:t>savedHash</a:t>
            </a:r>
            <a:r>
              <a:rPr lang="en-US" dirty="0"/>
              <a:t>.</a:t>
            </a:r>
          </a:p>
        </p:txBody>
      </p:sp>
      <p:sp>
        <p:nvSpPr>
          <p:cNvPr id="4" name="Slide Number Placeholder 3">
            <a:extLst>
              <a:ext uri="{FF2B5EF4-FFF2-40B4-BE49-F238E27FC236}">
                <a16:creationId xmlns:a16="http://schemas.microsoft.com/office/drawing/2014/main" id="{05C5BE6C-3E1D-0D4C-8298-2CACBA08A0E9}"/>
              </a:ext>
            </a:extLst>
          </p:cNvPr>
          <p:cNvSpPr>
            <a:spLocks noGrp="1"/>
          </p:cNvSpPr>
          <p:nvPr>
            <p:ph type="sldNum" sz="quarter" idx="12"/>
          </p:nvPr>
        </p:nvSpPr>
        <p:spPr>
          <a:xfrm>
            <a:off x="8610600" y="6356350"/>
            <a:ext cx="2743200" cy="365125"/>
          </a:xfrm>
        </p:spPr>
        <p:txBody>
          <a:bodyPr/>
          <a:lstStyle/>
          <a:p>
            <a:pPr lvl="0"/>
            <a:fld id="{20F37917-FD3A-4669-9018-DA04BCDD3D75}" type="slidenum">
              <a:rPr lang="en-US" noProof="0" smtClean="0"/>
              <a:pPr lvl="0"/>
              <a:t>23</a:t>
            </a:fld>
            <a:endParaRPr lang="en-US" noProof="0"/>
          </a:p>
        </p:txBody>
      </p:sp>
    </p:spTree>
    <p:extLst>
      <p:ext uri="{BB962C8B-B14F-4D97-AF65-F5344CB8AC3E}">
        <p14:creationId xmlns:p14="http://schemas.microsoft.com/office/powerpoint/2010/main" val="19007329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E7C9D-F383-7048-0184-FD4B6CA5110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0EBEFF0-D648-D28E-3641-01386C072A59}"/>
              </a:ext>
            </a:extLst>
          </p:cNvPr>
          <p:cNvSpPr>
            <a:spLocks noGrp="1"/>
          </p:cNvSpPr>
          <p:nvPr>
            <p:ph type="title"/>
          </p:nvPr>
        </p:nvSpPr>
        <p:spPr/>
        <p:txBody>
          <a:bodyPr/>
          <a:lstStyle/>
          <a:p>
            <a:r>
              <a:rPr lang="en-US" dirty="0"/>
              <a:t>Is this good enough?</a:t>
            </a:r>
          </a:p>
        </p:txBody>
      </p:sp>
      <p:sp>
        <p:nvSpPr>
          <p:cNvPr id="2" name="Content Placeholder 1">
            <a:extLst>
              <a:ext uri="{FF2B5EF4-FFF2-40B4-BE49-F238E27FC236}">
                <a16:creationId xmlns:a16="http://schemas.microsoft.com/office/drawing/2014/main" id="{A806A152-E8E7-7C3B-6CC5-5FB017D34DB1}"/>
              </a:ext>
            </a:extLst>
          </p:cNvPr>
          <p:cNvSpPr>
            <a:spLocks noGrp="1"/>
          </p:cNvSpPr>
          <p:nvPr>
            <p:ph idx="1"/>
          </p:nvPr>
        </p:nvSpPr>
        <p:spPr>
          <a:xfrm>
            <a:off x="7572374" y="1500160"/>
            <a:ext cx="3781425" cy="4351338"/>
          </a:xfrm>
        </p:spPr>
        <p:txBody>
          <a:bodyPr/>
          <a:lstStyle/>
          <a:p>
            <a:pPr marL="0" indent="0">
              <a:buNone/>
            </a:pPr>
            <a:r>
              <a:rPr lang="en-US" dirty="0"/>
              <a:t>…people reuse passwords all the time.  Could an attacker take advantage of that?</a:t>
            </a:r>
          </a:p>
        </p:txBody>
      </p:sp>
      <p:sp>
        <p:nvSpPr>
          <p:cNvPr id="4" name="Slide Number Placeholder 3">
            <a:extLst>
              <a:ext uri="{FF2B5EF4-FFF2-40B4-BE49-F238E27FC236}">
                <a16:creationId xmlns:a16="http://schemas.microsoft.com/office/drawing/2014/main" id="{100A4AA0-3FCB-0E75-1DF4-372346B099C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5AE1C4FF-7FED-110B-F128-3AFEBE6E81D2}"/>
              </a:ext>
            </a:extLst>
          </p:cNvPr>
          <p:cNvSpPr txBox="1"/>
          <p:nvPr/>
        </p:nvSpPr>
        <p:spPr>
          <a:xfrm>
            <a:off x="838200" y="6383893"/>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https://</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xkcd.com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/2176/</a:t>
            </a:r>
          </a:p>
        </p:txBody>
      </p:sp>
      <p:pic>
        <p:nvPicPr>
          <p:cNvPr id="2050" name="Picture 2" descr="How Hacking Works">
            <a:extLst>
              <a:ext uri="{FF2B5EF4-FFF2-40B4-BE49-F238E27FC236}">
                <a16:creationId xmlns:a16="http://schemas.microsoft.com/office/drawing/2014/main" id="{F7516269-46FE-F05A-C49D-974692F3D3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492250"/>
            <a:ext cx="6502400" cy="486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86563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65CE1-4ED5-4EB9-538E-A90C486325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FA9F46-896F-5092-8940-9C4F8DC864C7}"/>
              </a:ext>
            </a:extLst>
          </p:cNvPr>
          <p:cNvSpPr>
            <a:spLocks noGrp="1"/>
          </p:cNvSpPr>
          <p:nvPr>
            <p:ph type="title"/>
          </p:nvPr>
        </p:nvSpPr>
        <p:spPr/>
        <p:txBody>
          <a:bodyPr/>
          <a:lstStyle/>
          <a:p>
            <a:r>
              <a:rPr lang="en-US" dirty="0"/>
              <a:t>Is it safe to store the hashes instead of the passwords themselves?</a:t>
            </a:r>
          </a:p>
        </p:txBody>
      </p:sp>
      <p:sp>
        <p:nvSpPr>
          <p:cNvPr id="3" name="Content Placeholder 2">
            <a:extLst>
              <a:ext uri="{FF2B5EF4-FFF2-40B4-BE49-F238E27FC236}">
                <a16:creationId xmlns:a16="http://schemas.microsoft.com/office/drawing/2014/main" id="{511EE8FE-FC1D-796F-6DDC-F6BB4B54447F}"/>
              </a:ext>
            </a:extLst>
          </p:cNvPr>
          <p:cNvSpPr>
            <a:spLocks noGrp="1"/>
          </p:cNvSpPr>
          <p:nvPr>
            <p:ph idx="1"/>
          </p:nvPr>
        </p:nvSpPr>
        <p:spPr>
          <a:xfrm>
            <a:off x="838199" y="1500160"/>
            <a:ext cx="9452675" cy="4351338"/>
          </a:xfrm>
        </p:spPr>
        <p:txBody>
          <a:bodyPr>
            <a:noAutofit/>
          </a:bodyPr>
          <a:lstStyle/>
          <a:p>
            <a:r>
              <a:rPr lang="en-US" sz="2400" dirty="0"/>
              <a:t>Imagine that the attacker has stolen your password </a:t>
            </a:r>
            <a:r>
              <a:rPr lang="en-US" sz="2400" dirty="0" err="1"/>
              <a:t>db</a:t>
            </a:r>
            <a:r>
              <a:rPr lang="en-US" sz="2400" dirty="0"/>
              <a:t>, which looks like</a:t>
            </a:r>
          </a:p>
          <a:p>
            <a:pPr marL="457200" lvl="1" indent="0">
              <a:buNone/>
            </a:pPr>
            <a:r>
              <a:rPr lang="en-US" dirty="0"/>
              <a:t>(username, </a:t>
            </a:r>
            <a:r>
              <a:rPr lang="en-US" dirty="0" err="1"/>
              <a:t>hashedpassword</a:t>
            </a:r>
            <a:r>
              <a:rPr lang="en-US" dirty="0"/>
              <a:t>)</a:t>
            </a:r>
          </a:p>
          <a:p>
            <a:r>
              <a:rPr lang="en-US" sz="2400" dirty="0"/>
              <a:t>Next, imagine that the attacker has stolen a table that looks like</a:t>
            </a:r>
          </a:p>
          <a:p>
            <a:pPr marL="0" indent="0">
              <a:buNone/>
            </a:pPr>
            <a:r>
              <a:rPr lang="en-US" sz="2400" dirty="0"/>
              <a:t>	(username, password)</a:t>
            </a:r>
          </a:p>
          <a:p>
            <a:pPr lvl="1"/>
            <a:r>
              <a:rPr lang="en-US" dirty="0"/>
              <a:t>this happens all the time!</a:t>
            </a:r>
          </a:p>
          <a:p>
            <a:r>
              <a:rPr lang="en-US" sz="2400" dirty="0"/>
              <a:t>So they can easily construct a table that looks like</a:t>
            </a:r>
          </a:p>
          <a:p>
            <a:pPr marL="457200" lvl="1" indent="0">
              <a:buNone/>
            </a:pPr>
            <a:r>
              <a:rPr lang="en-US" dirty="0"/>
              <a:t>(username, password, hash(password))</a:t>
            </a:r>
          </a:p>
          <a:p>
            <a:pPr lvl="1"/>
            <a:r>
              <a:rPr lang="en-US" dirty="0"/>
              <a:t>This is sometimes called a "rainbow table"</a:t>
            </a:r>
          </a:p>
          <a:p>
            <a:r>
              <a:rPr lang="en-US" sz="2400" dirty="0"/>
              <a:t>And now they can run a join and retrieve a table that looks like</a:t>
            </a:r>
          </a:p>
          <a:p>
            <a:pPr marL="457200" lvl="1" indent="0">
              <a:buNone/>
            </a:pPr>
            <a:r>
              <a:rPr lang="en-US" dirty="0"/>
              <a:t>(username, password)</a:t>
            </a:r>
          </a:p>
          <a:p>
            <a:pPr marL="0" indent="0">
              <a:buNone/>
            </a:pPr>
            <a:r>
              <a:rPr lang="en-US" sz="2400" dirty="0"/>
              <a:t>   for each username that is in both tables</a:t>
            </a:r>
          </a:p>
        </p:txBody>
      </p:sp>
      <p:sp>
        <p:nvSpPr>
          <p:cNvPr id="4" name="Slide Number Placeholder 3">
            <a:extLst>
              <a:ext uri="{FF2B5EF4-FFF2-40B4-BE49-F238E27FC236}">
                <a16:creationId xmlns:a16="http://schemas.microsoft.com/office/drawing/2014/main" id="{F9C62420-8D8D-8B91-91A1-1AA08447F1E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his is an attack">
            <a:extLst>
              <a:ext uri="{FF2B5EF4-FFF2-40B4-BE49-F238E27FC236}">
                <a16:creationId xmlns:a16="http://schemas.microsoft.com/office/drawing/2014/main" id="{9DEA0B03-677B-1370-3A1D-59B824950C6D}"/>
              </a:ext>
            </a:extLst>
          </p:cNvPr>
          <p:cNvSpPr txBox="1"/>
          <p:nvPr/>
        </p:nvSpPr>
        <p:spPr>
          <a:xfrm>
            <a:off x="8976092" y="3800418"/>
            <a:ext cx="2550706" cy="106695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ctr">
            <a:spAutoFit/>
          </a:bodyPr>
          <a:lstStyle>
            <a:lvl1pPr algn="l" defTabSz="825500">
              <a:spcBef>
                <a:spcPts val="3400"/>
              </a:spcBef>
              <a:defRPr sz="4900" cap="all">
                <a:solidFill>
                  <a:srgbClr val="8C1818"/>
                </a:solidFill>
                <a:latin typeface="Ronnia Cond Bold"/>
                <a:ea typeface="Ronnia Cond Bold"/>
                <a:cs typeface="Ronnia Cond Bold"/>
                <a:sym typeface="Ronnia Cond Bold"/>
              </a:defRPr>
            </a:lvl1pPr>
          </a:lstStyle>
          <a:p>
            <a:r>
              <a:rPr lang="en-US" sz="6600" dirty="0">
                <a:highlight>
                  <a:srgbClr val="FFFF00"/>
                </a:highlight>
                <a:latin typeface="Algerian" panose="04020705040A02060702" pitchFamily="82" charset="0"/>
              </a:rPr>
              <a:t>OOPs! </a:t>
            </a:r>
            <a:endParaRPr sz="6600" dirty="0">
              <a:highlight>
                <a:srgbClr val="FFFF00"/>
              </a:highlight>
              <a:latin typeface="Algerian" panose="04020705040A02060702" pitchFamily="82" charset="0"/>
            </a:endParaRPr>
          </a:p>
        </p:txBody>
      </p:sp>
    </p:spTree>
    <p:extLst>
      <p:ext uri="{BB962C8B-B14F-4D97-AF65-F5344CB8AC3E}">
        <p14:creationId xmlns:p14="http://schemas.microsoft.com/office/powerpoint/2010/main" val="3238827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898AE-CBFC-B5B2-324D-825CC3A1B67D}"/>
              </a:ext>
            </a:extLst>
          </p:cNvPr>
          <p:cNvSpPr>
            <a:spLocks noGrp="1"/>
          </p:cNvSpPr>
          <p:nvPr>
            <p:ph type="title"/>
          </p:nvPr>
        </p:nvSpPr>
        <p:spPr/>
        <p:txBody>
          <a:bodyPr/>
          <a:lstStyle/>
          <a:p>
            <a:r>
              <a:rPr lang="en-US" dirty="0"/>
              <a:t>Actual Mitigation: always salt your passwords</a:t>
            </a:r>
          </a:p>
        </p:txBody>
      </p:sp>
      <p:sp>
        <p:nvSpPr>
          <p:cNvPr id="3" name="Content Placeholder 2">
            <a:extLst>
              <a:ext uri="{FF2B5EF4-FFF2-40B4-BE49-F238E27FC236}">
                <a16:creationId xmlns:a16="http://schemas.microsoft.com/office/drawing/2014/main" id="{789FDE61-9076-0E8D-69B9-FD4BE34BF29B}"/>
              </a:ext>
            </a:extLst>
          </p:cNvPr>
          <p:cNvSpPr>
            <a:spLocks noGrp="1"/>
          </p:cNvSpPr>
          <p:nvPr>
            <p:ph idx="1"/>
          </p:nvPr>
        </p:nvSpPr>
        <p:spPr/>
        <p:txBody>
          <a:bodyPr/>
          <a:lstStyle/>
          <a:p>
            <a:r>
              <a:rPr lang="en-US" dirty="0"/>
              <a:t>For each user, generate a random number called the "salt" </a:t>
            </a:r>
          </a:p>
          <a:p>
            <a:pPr lvl="1"/>
            <a:r>
              <a:rPr lang="en-US" dirty="0"/>
              <a:t>typically 128 bits (16 bytes)</a:t>
            </a:r>
          </a:p>
          <a:p>
            <a:r>
              <a:rPr lang="en-US" dirty="0"/>
              <a:t>Your password </a:t>
            </a:r>
            <a:r>
              <a:rPr lang="en-US" dirty="0" err="1"/>
              <a:t>db</a:t>
            </a:r>
            <a:r>
              <a:rPr lang="en-US" dirty="0"/>
              <a:t> should now look like</a:t>
            </a:r>
          </a:p>
          <a:p>
            <a:pPr lvl="1"/>
            <a:r>
              <a:rPr lang="en-US" dirty="0"/>
              <a:t>(username, salt, hash(</a:t>
            </a:r>
            <a:r>
              <a:rPr lang="en-US" dirty="0" err="1"/>
              <a:t>password+salt</a:t>
            </a:r>
            <a:r>
              <a:rPr lang="en-US" dirty="0"/>
              <a:t>)</a:t>
            </a:r>
          </a:p>
          <a:p>
            <a:r>
              <a:rPr lang="en-US" dirty="0"/>
              <a:t>There's no connection between hash(</a:t>
            </a:r>
            <a:r>
              <a:rPr lang="en-US" dirty="0" err="1"/>
              <a:t>password+salt</a:t>
            </a:r>
            <a:r>
              <a:rPr lang="en-US" dirty="0"/>
              <a:t>) and hash(password)</a:t>
            </a:r>
          </a:p>
          <a:p>
            <a:r>
              <a:rPr lang="en-US" dirty="0"/>
              <a:t>So the rainbow table won't work.</a:t>
            </a:r>
          </a:p>
        </p:txBody>
      </p:sp>
      <p:sp>
        <p:nvSpPr>
          <p:cNvPr id="4" name="Slide Number Placeholder 3">
            <a:extLst>
              <a:ext uri="{FF2B5EF4-FFF2-40B4-BE49-F238E27FC236}">
                <a16:creationId xmlns:a16="http://schemas.microsoft.com/office/drawing/2014/main" id="{3DA698E1-FFB6-3C9A-A301-15050A95E8AC}"/>
              </a:ext>
            </a:extLst>
          </p:cNvPr>
          <p:cNvSpPr>
            <a:spLocks noGrp="1"/>
          </p:cNvSpPr>
          <p:nvPr>
            <p:ph type="sldNum" sz="quarter" idx="12"/>
          </p:nvPr>
        </p:nvSpPr>
        <p:spPr/>
        <p:txBody>
          <a:bodyPr/>
          <a:lstStyle/>
          <a:p>
            <a:fld id="{20F37917-FD3A-4669-9018-DA04BCDD3D75}" type="slidenum">
              <a:rPr lang="en-US" smtClean="0"/>
              <a:t>26</a:t>
            </a:fld>
            <a:endParaRPr lang="en-US"/>
          </a:p>
        </p:txBody>
      </p:sp>
    </p:spTree>
    <p:extLst>
      <p:ext uri="{BB962C8B-B14F-4D97-AF65-F5344CB8AC3E}">
        <p14:creationId xmlns:p14="http://schemas.microsoft.com/office/powerpoint/2010/main" val="2447825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FB7A5-5D23-2B66-4D32-5F3D753396CB}"/>
              </a:ext>
            </a:extLst>
          </p:cNvPr>
          <p:cNvSpPr>
            <a:spLocks noGrp="1"/>
          </p:cNvSpPr>
          <p:nvPr>
            <p:ph type="title"/>
          </p:nvPr>
        </p:nvSpPr>
        <p:spPr/>
        <p:txBody>
          <a:bodyPr/>
          <a:lstStyle/>
          <a:p>
            <a:r>
              <a:rPr lang="en-US" dirty="0"/>
              <a:t>Security Principle #2: Don't try this at home; use an established solution instead</a:t>
            </a:r>
          </a:p>
        </p:txBody>
      </p:sp>
      <p:sp>
        <p:nvSpPr>
          <p:cNvPr id="3" name="Content Placeholder 2">
            <a:extLst>
              <a:ext uri="{FF2B5EF4-FFF2-40B4-BE49-F238E27FC236}">
                <a16:creationId xmlns:a16="http://schemas.microsoft.com/office/drawing/2014/main" id="{97B1C699-F548-7F32-BCA2-46D50E203635}"/>
              </a:ext>
            </a:extLst>
          </p:cNvPr>
          <p:cNvSpPr>
            <a:spLocks noGrp="1"/>
          </p:cNvSpPr>
          <p:nvPr>
            <p:ph idx="1"/>
          </p:nvPr>
        </p:nvSpPr>
        <p:spPr/>
        <p:txBody>
          <a:bodyPr/>
          <a:lstStyle/>
          <a:p>
            <a:r>
              <a:rPr lang="en-US" dirty="0"/>
              <a:t>Use established, well-studied crypto packages</a:t>
            </a:r>
          </a:p>
          <a:p>
            <a:r>
              <a:rPr lang="en-US" dirty="0"/>
              <a:t> This is a general security principle</a:t>
            </a:r>
          </a:p>
        </p:txBody>
      </p:sp>
      <p:sp>
        <p:nvSpPr>
          <p:cNvPr id="4" name="Slide Number Placeholder 3">
            <a:extLst>
              <a:ext uri="{FF2B5EF4-FFF2-40B4-BE49-F238E27FC236}">
                <a16:creationId xmlns:a16="http://schemas.microsoft.com/office/drawing/2014/main" id="{6AE85DAE-5CCB-02CA-8D62-1EB94EDD9CCB}"/>
              </a:ext>
            </a:extLst>
          </p:cNvPr>
          <p:cNvSpPr>
            <a:spLocks noGrp="1"/>
          </p:cNvSpPr>
          <p:nvPr>
            <p:ph type="sldNum" sz="quarter" idx="12"/>
          </p:nvPr>
        </p:nvSpPr>
        <p:spPr/>
        <p:txBody>
          <a:bodyPr/>
          <a:lstStyle/>
          <a:p>
            <a:fld id="{20F37917-FD3A-4669-9018-DA04BCDD3D75}" type="slidenum">
              <a:rPr lang="en-US" smtClean="0"/>
              <a:t>27</a:t>
            </a:fld>
            <a:endParaRPr lang="en-US"/>
          </a:p>
        </p:txBody>
      </p:sp>
      <p:pic>
        <p:nvPicPr>
          <p:cNvPr id="5" name="Picture 4">
            <a:extLst>
              <a:ext uri="{FF2B5EF4-FFF2-40B4-BE49-F238E27FC236}">
                <a16:creationId xmlns:a16="http://schemas.microsoft.com/office/drawing/2014/main" id="{7105F699-7EA6-599A-41A2-B878BD1C3B1C}"/>
              </a:ext>
            </a:extLst>
          </p:cNvPr>
          <p:cNvPicPr>
            <a:picLocks noChangeAspect="1"/>
          </p:cNvPicPr>
          <p:nvPr/>
        </p:nvPicPr>
        <p:blipFill>
          <a:blip r:embed="rId2"/>
          <a:stretch>
            <a:fillRect/>
          </a:stretch>
        </p:blipFill>
        <p:spPr>
          <a:xfrm>
            <a:off x="687124" y="3038828"/>
            <a:ext cx="11073223" cy="3500084"/>
          </a:xfrm>
          <a:prstGeom prst="rect">
            <a:avLst/>
          </a:prstGeom>
        </p:spPr>
      </p:pic>
    </p:spTree>
    <p:extLst>
      <p:ext uri="{BB962C8B-B14F-4D97-AF65-F5344CB8AC3E}">
        <p14:creationId xmlns:p14="http://schemas.microsoft.com/office/powerpoint/2010/main" val="37939315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0DF76-386D-3C7A-7E47-3D99278CCEE6}"/>
              </a:ext>
            </a:extLst>
          </p:cNvPr>
          <p:cNvSpPr>
            <a:spLocks noGrp="1"/>
          </p:cNvSpPr>
          <p:nvPr>
            <p:ph type="title"/>
          </p:nvPr>
        </p:nvSpPr>
        <p:spPr/>
        <p:txBody>
          <a:bodyPr/>
          <a:lstStyle/>
          <a:p>
            <a:r>
              <a:rPr lang="en-US" dirty="0"/>
              <a:t>Vulnerability 4: Supply-Chain Attacks</a:t>
            </a:r>
          </a:p>
        </p:txBody>
      </p:sp>
      <p:sp>
        <p:nvSpPr>
          <p:cNvPr id="3" name="Content Placeholder 2">
            <a:extLst>
              <a:ext uri="{FF2B5EF4-FFF2-40B4-BE49-F238E27FC236}">
                <a16:creationId xmlns:a16="http://schemas.microsoft.com/office/drawing/2014/main" id="{60B71892-19E8-4563-4834-8C1CE1C46F4F}"/>
              </a:ext>
            </a:extLst>
          </p:cNvPr>
          <p:cNvSpPr>
            <a:spLocks noGrp="1"/>
          </p:cNvSpPr>
          <p:nvPr>
            <p:ph idx="1"/>
          </p:nvPr>
        </p:nvSpPr>
        <p:spPr>
          <a:xfrm>
            <a:off x="838199" y="1500160"/>
            <a:ext cx="6551423" cy="4351338"/>
          </a:xfrm>
        </p:spPr>
        <p:txBody>
          <a:bodyPr/>
          <a:lstStyle/>
          <a:p>
            <a:r>
              <a:rPr lang="en-US" dirty="0"/>
              <a:t>Our code probably has lots of dependencies.</a:t>
            </a:r>
          </a:p>
          <a:p>
            <a:r>
              <a:rPr lang="en-US" dirty="0"/>
              <a:t>Every third-party dependency is a </a:t>
            </a:r>
            <a:r>
              <a:rPr lang="en-US" dirty="0" err="1"/>
              <a:t>potetial</a:t>
            </a:r>
            <a:r>
              <a:rPr lang="en-US" dirty="0"/>
              <a:t> attack surface.</a:t>
            </a:r>
          </a:p>
        </p:txBody>
      </p:sp>
    </p:spTree>
    <p:extLst>
      <p:ext uri="{BB962C8B-B14F-4D97-AF65-F5344CB8AC3E}">
        <p14:creationId xmlns:p14="http://schemas.microsoft.com/office/powerpoint/2010/main" val="25948901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99567-945A-A649-A6D6-B4FE1391686D}"/>
              </a:ext>
            </a:extLst>
          </p:cNvPr>
          <p:cNvSpPr>
            <a:spLocks noGrp="1"/>
          </p:cNvSpPr>
          <p:nvPr>
            <p:ph type="title"/>
          </p:nvPr>
        </p:nvSpPr>
        <p:spPr/>
        <p:txBody>
          <a:bodyPr>
            <a:normAutofit/>
          </a:bodyPr>
          <a:lstStyle/>
          <a:p>
            <a:r>
              <a:rPr lang="en-US" sz="3600" dirty="0"/>
              <a:t>Third-party dependencies show up throughout the development process</a:t>
            </a:r>
          </a:p>
        </p:txBody>
      </p:sp>
      <p:sp>
        <p:nvSpPr>
          <p:cNvPr id="7" name="In-house code">
            <a:extLst>
              <a:ext uri="{FF2B5EF4-FFF2-40B4-BE49-F238E27FC236}">
                <a16:creationId xmlns:a16="http://schemas.microsoft.com/office/drawing/2014/main" id="{D1E1B8A0-3925-C448-8330-AC7A6EAEE4D0}"/>
              </a:ext>
            </a:extLst>
          </p:cNvPr>
          <p:cNvSpPr/>
          <p:nvPr/>
        </p:nvSpPr>
        <p:spPr>
          <a:xfrm>
            <a:off x="1651339" y="4211067"/>
            <a:ext cx="1596047" cy="1159380"/>
          </a:xfrm>
          <a:prstGeom prst="rect">
            <a:avLst/>
          </a:prstGeom>
          <a:solidFill>
            <a:srgbClr val="00A1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lstStyle>
            <a:lvl1pPr defTabSz="825500">
              <a:defRPr sz="3200">
                <a:solidFill>
                  <a:srgbClr val="000000"/>
                </a:solidFill>
                <a:latin typeface="Helvetica Neue Medium"/>
                <a:ea typeface="Helvetica Neue Medium"/>
                <a:cs typeface="Helvetica Neue Medium"/>
                <a:sym typeface="Helvetica Neue Medium"/>
              </a:defRPr>
            </a:lvl1pPr>
          </a:lstStyle>
          <a:p>
            <a:pPr algn="ctr"/>
            <a:r>
              <a:rPr sz="1600" dirty="0">
                <a:latin typeface="Helvetica" panose="020B0604020202020204" pitchFamily="34" charset="0"/>
                <a:cs typeface="Helvetica" panose="020B0604020202020204" pitchFamily="34" charset="0"/>
              </a:rPr>
              <a:t>In-house code</a:t>
            </a:r>
          </a:p>
        </p:txBody>
      </p:sp>
      <p:sp>
        <p:nvSpPr>
          <p:cNvPr id="8" name="Line">
            <a:extLst>
              <a:ext uri="{FF2B5EF4-FFF2-40B4-BE49-F238E27FC236}">
                <a16:creationId xmlns:a16="http://schemas.microsoft.com/office/drawing/2014/main" id="{254D5A7A-06FC-E94D-8F35-1718B25ACEDE}"/>
              </a:ext>
            </a:extLst>
          </p:cNvPr>
          <p:cNvSpPr/>
          <p:nvPr/>
        </p:nvSpPr>
        <p:spPr>
          <a:xfrm>
            <a:off x="5984368" y="4016283"/>
            <a:ext cx="864751" cy="1"/>
          </a:xfrm>
          <a:prstGeom prst="line">
            <a:avLst/>
          </a:prstGeom>
          <a:ln w="127000">
            <a:solidFill>
              <a:srgbClr val="000000"/>
            </a:solidFill>
            <a:miter lim="400000"/>
            <a:tailEnd type="triangle"/>
          </a:ln>
        </p:spPr>
        <p:txBody>
          <a:bodyPr lIns="25400" tIns="25400" rIns="25400" bIns="25400" anchor="ctr"/>
          <a:lstStyle/>
          <a:p>
            <a:endParaRPr sz="900"/>
          </a:p>
        </p:txBody>
      </p:sp>
      <p:sp>
        <p:nvSpPr>
          <p:cNvPr id="9" name="External dependencies">
            <a:extLst>
              <a:ext uri="{FF2B5EF4-FFF2-40B4-BE49-F238E27FC236}">
                <a16:creationId xmlns:a16="http://schemas.microsoft.com/office/drawing/2014/main" id="{477771BA-0037-A54A-B32B-8D506F4C4D90}"/>
              </a:ext>
            </a:extLst>
          </p:cNvPr>
          <p:cNvSpPr/>
          <p:nvPr/>
        </p:nvSpPr>
        <p:spPr>
          <a:xfrm>
            <a:off x="1651339" y="2659223"/>
            <a:ext cx="1596047" cy="1159380"/>
          </a:xfrm>
          <a:prstGeom prst="rect">
            <a:avLst/>
          </a:prstGeom>
          <a:solidFill>
            <a:srgbClr val="00A1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lstStyle>
            <a:lvl1pPr defTabSz="825500">
              <a:defRPr sz="3200">
                <a:solidFill>
                  <a:srgbClr val="000000"/>
                </a:solidFill>
                <a:latin typeface="Helvetica Neue Medium"/>
                <a:ea typeface="Helvetica Neue Medium"/>
                <a:cs typeface="Helvetica Neue Medium"/>
                <a:sym typeface="Helvetica Neue Medium"/>
              </a:defRPr>
            </a:lvl1pPr>
          </a:lstStyle>
          <a:p>
            <a:pPr algn="ctr"/>
            <a:r>
              <a:rPr sz="1600" dirty="0">
                <a:latin typeface="Helvetica" panose="020B0604020202020204" pitchFamily="34" charset="0"/>
                <a:cs typeface="Helvetica" panose="020B0604020202020204" pitchFamily="34" charset="0"/>
              </a:rPr>
              <a:t>External dependencies</a:t>
            </a:r>
          </a:p>
        </p:txBody>
      </p:sp>
      <p:sp>
        <p:nvSpPr>
          <p:cNvPr id="10" name="Build process">
            <a:extLst>
              <a:ext uri="{FF2B5EF4-FFF2-40B4-BE49-F238E27FC236}">
                <a16:creationId xmlns:a16="http://schemas.microsoft.com/office/drawing/2014/main" id="{5B4211AD-CD04-C24E-8406-ED7FA2E66A83}"/>
              </a:ext>
            </a:extLst>
          </p:cNvPr>
          <p:cNvSpPr/>
          <p:nvPr/>
        </p:nvSpPr>
        <p:spPr>
          <a:xfrm>
            <a:off x="4381439" y="3436594"/>
            <a:ext cx="1596047" cy="1159380"/>
          </a:xfrm>
          <a:prstGeom prst="rect">
            <a:avLst/>
          </a:prstGeom>
          <a:solidFill>
            <a:srgbClr val="00A1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lstStyle>
            <a:lvl1pPr defTabSz="825500">
              <a:defRPr sz="3200">
                <a:solidFill>
                  <a:srgbClr val="000000"/>
                </a:solidFill>
                <a:latin typeface="Helvetica Neue Medium"/>
                <a:ea typeface="Helvetica Neue Medium"/>
                <a:cs typeface="Helvetica Neue Medium"/>
                <a:sym typeface="Helvetica Neue Medium"/>
              </a:defRPr>
            </a:lvl1pPr>
          </a:lstStyle>
          <a:p>
            <a:pPr algn="ctr"/>
            <a:r>
              <a:rPr sz="1600" dirty="0">
                <a:latin typeface="Helvetica" panose="020B0604020202020204" pitchFamily="34" charset="0"/>
                <a:cs typeface="Helvetica" panose="020B0604020202020204" pitchFamily="34" charset="0"/>
              </a:rPr>
              <a:t>Build process</a:t>
            </a:r>
          </a:p>
        </p:txBody>
      </p:sp>
      <p:sp>
        <p:nvSpPr>
          <p:cNvPr id="11" name="Operating environment">
            <a:extLst>
              <a:ext uri="{FF2B5EF4-FFF2-40B4-BE49-F238E27FC236}">
                <a16:creationId xmlns:a16="http://schemas.microsoft.com/office/drawing/2014/main" id="{6424DA7B-2403-B346-892B-0E7281781E3D}"/>
              </a:ext>
            </a:extLst>
          </p:cNvPr>
          <p:cNvSpPr/>
          <p:nvPr/>
        </p:nvSpPr>
        <p:spPr>
          <a:xfrm>
            <a:off x="9214917" y="3436594"/>
            <a:ext cx="1596047" cy="1159380"/>
          </a:xfrm>
          <a:prstGeom prst="rect">
            <a:avLst/>
          </a:prstGeom>
          <a:solidFill>
            <a:srgbClr val="00A1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lstStyle>
            <a:lvl1pPr defTabSz="825500">
              <a:defRPr sz="3200">
                <a:solidFill>
                  <a:srgbClr val="000000"/>
                </a:solidFill>
                <a:latin typeface="Helvetica Neue Medium"/>
                <a:ea typeface="Helvetica Neue Medium"/>
                <a:cs typeface="Helvetica Neue Medium"/>
                <a:sym typeface="Helvetica Neue Medium"/>
              </a:defRPr>
            </a:lvl1pPr>
          </a:lstStyle>
          <a:p>
            <a:pPr algn="ctr"/>
            <a:r>
              <a:rPr sz="1600" dirty="0">
                <a:latin typeface="Helvetica" panose="020B0604020202020204" pitchFamily="34" charset="0"/>
                <a:cs typeface="Helvetica" panose="020B0604020202020204" pitchFamily="34" charset="0"/>
              </a:rPr>
              <a:t>Operating environment</a:t>
            </a:r>
          </a:p>
        </p:txBody>
      </p:sp>
      <p:sp>
        <p:nvSpPr>
          <p:cNvPr id="12" name="Line">
            <a:extLst>
              <a:ext uri="{FF2B5EF4-FFF2-40B4-BE49-F238E27FC236}">
                <a16:creationId xmlns:a16="http://schemas.microsoft.com/office/drawing/2014/main" id="{1C26C454-DC36-674A-BC0E-C3CD20203DD6}"/>
              </a:ext>
            </a:extLst>
          </p:cNvPr>
          <p:cNvSpPr/>
          <p:nvPr/>
        </p:nvSpPr>
        <p:spPr>
          <a:xfrm>
            <a:off x="3240247" y="3238913"/>
            <a:ext cx="1166722" cy="690701"/>
          </a:xfrm>
          <a:prstGeom prst="line">
            <a:avLst/>
          </a:prstGeom>
          <a:ln w="127000">
            <a:solidFill>
              <a:srgbClr val="000000"/>
            </a:solidFill>
            <a:miter lim="400000"/>
            <a:tailEnd type="triangle"/>
          </a:ln>
        </p:spPr>
        <p:txBody>
          <a:bodyPr lIns="25400" tIns="25400" rIns="25400" bIns="25400" anchor="ctr"/>
          <a:lstStyle/>
          <a:p>
            <a:endParaRPr sz="900"/>
          </a:p>
        </p:txBody>
      </p:sp>
      <p:sp>
        <p:nvSpPr>
          <p:cNvPr id="13" name="Line">
            <a:extLst>
              <a:ext uri="{FF2B5EF4-FFF2-40B4-BE49-F238E27FC236}">
                <a16:creationId xmlns:a16="http://schemas.microsoft.com/office/drawing/2014/main" id="{E5F109F0-90DE-044D-A85C-F52BE94CDFCD}"/>
              </a:ext>
            </a:extLst>
          </p:cNvPr>
          <p:cNvSpPr/>
          <p:nvPr/>
        </p:nvSpPr>
        <p:spPr>
          <a:xfrm>
            <a:off x="8355502" y="4016283"/>
            <a:ext cx="864751" cy="1"/>
          </a:xfrm>
          <a:prstGeom prst="line">
            <a:avLst/>
          </a:prstGeom>
          <a:ln w="127000">
            <a:solidFill>
              <a:srgbClr val="000000"/>
            </a:solidFill>
            <a:miter lim="400000"/>
            <a:tailEnd type="triangle"/>
          </a:ln>
        </p:spPr>
        <p:txBody>
          <a:bodyPr lIns="25400" tIns="25400" rIns="25400" bIns="25400" anchor="ctr"/>
          <a:lstStyle/>
          <a:p>
            <a:endParaRPr sz="900"/>
          </a:p>
        </p:txBody>
      </p:sp>
      <p:sp>
        <p:nvSpPr>
          <p:cNvPr id="14" name="Distribution process (including updates)">
            <a:extLst>
              <a:ext uri="{FF2B5EF4-FFF2-40B4-BE49-F238E27FC236}">
                <a16:creationId xmlns:a16="http://schemas.microsoft.com/office/drawing/2014/main" id="{9C85A987-13DA-4644-955F-64725AF0DDF4}"/>
              </a:ext>
            </a:extLst>
          </p:cNvPr>
          <p:cNvSpPr/>
          <p:nvPr/>
        </p:nvSpPr>
        <p:spPr>
          <a:xfrm>
            <a:off x="6829928" y="3442944"/>
            <a:ext cx="1596047" cy="1159380"/>
          </a:xfrm>
          <a:prstGeom prst="rect">
            <a:avLst/>
          </a:prstGeom>
          <a:solidFill>
            <a:srgbClr val="00A1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lstStyle>
            <a:lvl1pPr defTabSz="825500">
              <a:defRPr sz="3200">
                <a:solidFill>
                  <a:srgbClr val="000000"/>
                </a:solidFill>
                <a:latin typeface="Helvetica Neue Medium"/>
                <a:ea typeface="Helvetica Neue Medium"/>
                <a:cs typeface="Helvetica Neue Medium"/>
                <a:sym typeface="Helvetica Neue Medium"/>
              </a:defRPr>
            </a:lvl1pPr>
          </a:lstStyle>
          <a:p>
            <a:pPr algn="ctr"/>
            <a:r>
              <a:rPr sz="1600" dirty="0">
                <a:latin typeface="Helvetica" panose="020B0604020202020204" pitchFamily="34" charset="0"/>
                <a:cs typeface="Helvetica" panose="020B0604020202020204" pitchFamily="34" charset="0"/>
              </a:rPr>
              <a:t>Distribution process (including updates)</a:t>
            </a:r>
          </a:p>
        </p:txBody>
      </p:sp>
      <p:sp>
        <p:nvSpPr>
          <p:cNvPr id="15" name="Line">
            <a:extLst>
              <a:ext uri="{FF2B5EF4-FFF2-40B4-BE49-F238E27FC236}">
                <a16:creationId xmlns:a16="http://schemas.microsoft.com/office/drawing/2014/main" id="{23464F13-DF10-5C4F-871B-E25B8E58262D}"/>
              </a:ext>
            </a:extLst>
          </p:cNvPr>
          <p:cNvSpPr/>
          <p:nvPr/>
        </p:nvSpPr>
        <p:spPr>
          <a:xfrm flipV="1">
            <a:off x="3274969" y="3967473"/>
            <a:ext cx="1099751" cy="787711"/>
          </a:xfrm>
          <a:prstGeom prst="line">
            <a:avLst/>
          </a:prstGeom>
          <a:ln w="127000">
            <a:solidFill>
              <a:srgbClr val="000000"/>
            </a:solidFill>
            <a:miter lim="400000"/>
            <a:tailEnd type="triangle"/>
          </a:ln>
        </p:spPr>
        <p:txBody>
          <a:bodyPr lIns="25400" tIns="25400" rIns="25400" bIns="25400" anchor="ctr"/>
          <a:lstStyle/>
          <a:p>
            <a:endParaRPr sz="900"/>
          </a:p>
        </p:txBody>
      </p:sp>
    </p:spTree>
    <p:extLst>
      <p:ext uri="{BB962C8B-B14F-4D97-AF65-F5344CB8AC3E}">
        <p14:creationId xmlns:p14="http://schemas.microsoft.com/office/powerpoint/2010/main" val="13136699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34E01-2FA1-197A-5356-A65E7B0A2B57}"/>
              </a:ext>
            </a:extLst>
          </p:cNvPr>
          <p:cNvSpPr>
            <a:spLocks noGrp="1"/>
          </p:cNvSpPr>
          <p:nvPr>
            <p:ph type="title"/>
          </p:nvPr>
        </p:nvSpPr>
        <p:spPr>
          <a:xfrm>
            <a:off x="838200" y="18255"/>
            <a:ext cx="6176375" cy="1325563"/>
          </a:xfrm>
        </p:spPr>
        <p:txBody>
          <a:bodyPr/>
          <a:lstStyle/>
          <a:p>
            <a:r>
              <a:rPr lang="en-US" dirty="0"/>
              <a:t>Example: the </a:t>
            </a:r>
            <a:r>
              <a:rPr lang="en-US" dirty="0" err="1"/>
              <a:t>eslint</a:t>
            </a:r>
            <a:r>
              <a:rPr lang="en-US" dirty="0"/>
              <a:t>-scope attack (2018)</a:t>
            </a:r>
          </a:p>
        </p:txBody>
      </p:sp>
      <p:sp>
        <p:nvSpPr>
          <p:cNvPr id="5" name="Content Placeholder 4">
            <a:extLst>
              <a:ext uri="{FF2B5EF4-FFF2-40B4-BE49-F238E27FC236}">
                <a16:creationId xmlns:a16="http://schemas.microsoft.com/office/drawing/2014/main" id="{A9C9FA64-1787-F504-C428-FB53B1BE993D}"/>
              </a:ext>
            </a:extLst>
          </p:cNvPr>
          <p:cNvSpPr>
            <a:spLocks noGrp="1"/>
          </p:cNvSpPr>
          <p:nvPr>
            <p:ph idx="1"/>
          </p:nvPr>
        </p:nvSpPr>
        <p:spPr>
          <a:xfrm>
            <a:off x="838200" y="1500160"/>
            <a:ext cx="6176375" cy="4351338"/>
          </a:xfrm>
        </p:spPr>
        <p:txBody>
          <a:bodyPr/>
          <a:lstStyle/>
          <a:p>
            <a:r>
              <a:rPr lang="en-US" dirty="0"/>
              <a:t>On 7/12/2018, a malicious version of </a:t>
            </a:r>
            <a:r>
              <a:rPr lang="en-US" dirty="0" err="1"/>
              <a:t>eslint</a:t>
            </a:r>
            <a:r>
              <a:rPr lang="en-US" dirty="0"/>
              <a:t>-scope was published to </a:t>
            </a:r>
            <a:r>
              <a:rPr lang="en-US" dirty="0" err="1"/>
              <a:t>npm</a:t>
            </a:r>
            <a:r>
              <a:rPr lang="en-US" dirty="0"/>
              <a:t>.</a:t>
            </a:r>
          </a:p>
          <a:p>
            <a:r>
              <a:rPr lang="en-US" dirty="0" err="1"/>
              <a:t>eslint</a:t>
            </a:r>
            <a:r>
              <a:rPr lang="en-US" dirty="0"/>
              <a:t>-scope is a core element of </a:t>
            </a:r>
            <a:r>
              <a:rPr lang="en-US" dirty="0" err="1"/>
              <a:t>eslint</a:t>
            </a:r>
            <a:r>
              <a:rPr lang="en-US" dirty="0"/>
              <a:t>, so many </a:t>
            </a:r>
            <a:r>
              <a:rPr lang="en-US" dirty="0" err="1"/>
              <a:t>many</a:t>
            </a:r>
            <a:r>
              <a:rPr lang="en-US" dirty="0"/>
              <a:t> users were affected.</a:t>
            </a:r>
          </a:p>
          <a:p>
            <a:r>
              <a:rPr lang="en-US" dirty="0"/>
              <a:t>Let’s analyze this… </a:t>
            </a:r>
          </a:p>
        </p:txBody>
      </p:sp>
      <p:sp>
        <p:nvSpPr>
          <p:cNvPr id="3" name="Slide Number Placeholder 2">
            <a:extLst>
              <a:ext uri="{FF2B5EF4-FFF2-40B4-BE49-F238E27FC236}">
                <a16:creationId xmlns:a16="http://schemas.microsoft.com/office/drawing/2014/main" id="{5D1E638C-6458-EB71-28AF-84F2B3E36786}"/>
              </a:ext>
            </a:extLst>
          </p:cNvPr>
          <p:cNvSpPr>
            <a:spLocks noGrp="1"/>
          </p:cNvSpPr>
          <p:nvPr>
            <p:ph type="sldNum" sz="quarter" idx="12"/>
          </p:nvPr>
        </p:nvSpPr>
        <p:spPr/>
        <p:txBody>
          <a:bodyPr/>
          <a:lstStyle/>
          <a:p>
            <a:fld id="{20F37917-FD3A-4669-9018-DA04BCDD3D75}" type="slidenum">
              <a:rPr lang="en-US" smtClean="0"/>
              <a:t>30</a:t>
            </a:fld>
            <a:endParaRPr lang="en-US"/>
          </a:p>
        </p:txBody>
      </p:sp>
      <p:pic>
        <p:nvPicPr>
          <p:cNvPr id="4" name="Image" descr="Postmortem for Malicious Packages Published on July 12th, 2018">
            <a:extLst>
              <a:ext uri="{FF2B5EF4-FFF2-40B4-BE49-F238E27FC236}">
                <a16:creationId xmlns:a16="http://schemas.microsoft.com/office/drawing/2014/main" id="{EB23FF2B-CFCE-F533-2699-C61E4E800B27}"/>
              </a:ext>
            </a:extLst>
          </p:cNvPr>
          <p:cNvPicPr>
            <a:picLocks noChangeAspect="1"/>
          </p:cNvPicPr>
          <p:nvPr/>
        </p:nvPicPr>
        <p:blipFill>
          <a:blip r:embed="rId3"/>
          <a:stretch>
            <a:fillRect/>
          </a:stretch>
        </p:blipFill>
        <p:spPr>
          <a:xfrm>
            <a:off x="7226299" y="463505"/>
            <a:ext cx="4127501" cy="5480051"/>
          </a:xfrm>
          <a:prstGeom prst="rect">
            <a:avLst/>
          </a:prstGeom>
          <a:ln w="12700">
            <a:solidFill>
              <a:schemeClr val="tx1"/>
            </a:solidFill>
            <a:miter lim="400000"/>
          </a:ln>
        </p:spPr>
      </p:pic>
      <p:sp>
        <p:nvSpPr>
          <p:cNvPr id="6" name="TextBox 5">
            <a:extLst>
              <a:ext uri="{FF2B5EF4-FFF2-40B4-BE49-F238E27FC236}">
                <a16:creationId xmlns:a16="http://schemas.microsoft.com/office/drawing/2014/main" id="{C23F348B-9F00-D08F-6BAB-D3B733FE22E1}"/>
              </a:ext>
            </a:extLst>
          </p:cNvPr>
          <p:cNvSpPr txBox="1"/>
          <p:nvPr/>
        </p:nvSpPr>
        <p:spPr>
          <a:xfrm>
            <a:off x="5298510" y="6225436"/>
            <a:ext cx="5210827" cy="4960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dirty="0">
                <a:solidFill>
                  <a:schemeClr val="tx1"/>
                </a:solidFill>
                <a:hlinkClick r:id="rId4"/>
              </a:rPr>
              <a:t>https://eslint.org/blog/2018/07/postmortem-for-malicious-package-publishes/</a:t>
            </a:r>
            <a:endParaRPr lang="en-US" dirty="0">
              <a:solidFill>
                <a:schemeClr val="tx1"/>
              </a:solidFill>
            </a:endParaRPr>
          </a:p>
        </p:txBody>
      </p:sp>
    </p:spTree>
    <p:extLst>
      <p:ext uri="{BB962C8B-B14F-4D97-AF65-F5344CB8AC3E}">
        <p14:creationId xmlns:p14="http://schemas.microsoft.com/office/powerpoint/2010/main" val="1675522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D1994-237B-BE56-8908-9DA25FD66ACC}"/>
              </a:ext>
            </a:extLst>
          </p:cNvPr>
          <p:cNvSpPr>
            <a:spLocks noGrp="1"/>
          </p:cNvSpPr>
          <p:nvPr>
            <p:ph type="title"/>
          </p:nvPr>
        </p:nvSpPr>
        <p:spPr/>
        <p:txBody>
          <a:bodyPr/>
          <a:lstStyle/>
          <a:p>
            <a:r>
              <a:rPr lang="en-US" dirty="0"/>
              <a:t>This incident leveraged several small security failures </a:t>
            </a:r>
          </a:p>
        </p:txBody>
      </p:sp>
      <p:sp>
        <p:nvSpPr>
          <p:cNvPr id="4" name="Content Placeholder 3">
            <a:extLst>
              <a:ext uri="{FF2B5EF4-FFF2-40B4-BE49-F238E27FC236}">
                <a16:creationId xmlns:a16="http://schemas.microsoft.com/office/drawing/2014/main" id="{8E569D0B-8C4C-D5F3-F633-5C5EE23755FD}"/>
              </a:ext>
            </a:extLst>
          </p:cNvPr>
          <p:cNvSpPr>
            <a:spLocks noGrp="1"/>
          </p:cNvSpPr>
          <p:nvPr>
            <p:ph idx="1"/>
          </p:nvPr>
        </p:nvSpPr>
        <p:spPr/>
        <p:txBody>
          <a:bodyPr>
            <a:normAutofit fontScale="92500" lnSpcReduction="10000"/>
          </a:bodyPr>
          <a:lstStyle/>
          <a:p>
            <a:r>
              <a:rPr lang="en-US" dirty="0"/>
              <a:t>An </a:t>
            </a:r>
            <a:r>
              <a:rPr lang="en-US" dirty="0" err="1"/>
              <a:t>eslint</a:t>
            </a:r>
            <a:r>
              <a:rPr lang="en-US" dirty="0"/>
              <a:t>-scope developer used their same password on another site.</a:t>
            </a:r>
          </a:p>
          <a:p>
            <a:r>
              <a:rPr lang="en-US" dirty="0"/>
              <a:t>The other site did not use 2FA</a:t>
            </a:r>
          </a:p>
          <a:p>
            <a:r>
              <a:rPr lang="en-US" dirty="0"/>
              <a:t>Password was leaked from the other site.</a:t>
            </a:r>
          </a:p>
          <a:p>
            <a:r>
              <a:rPr lang="en-US" dirty="0"/>
              <a:t>Attacker created malicious version of </a:t>
            </a:r>
            <a:r>
              <a:rPr lang="en-US" dirty="0" err="1"/>
              <a:t>eslint</a:t>
            </a:r>
            <a:r>
              <a:rPr lang="en-US" dirty="0"/>
              <a:t>-scope</a:t>
            </a:r>
          </a:p>
          <a:p>
            <a:r>
              <a:rPr lang="en-US" dirty="0"/>
              <a:t>Many users did not use package-</a:t>
            </a:r>
            <a:r>
              <a:rPr lang="en-US" dirty="0" err="1"/>
              <a:t>lock.json</a:t>
            </a:r>
            <a:r>
              <a:rPr lang="en-US" dirty="0"/>
              <a:t>, so their packages automatically installed the new (evil) version.</a:t>
            </a:r>
          </a:p>
          <a:p>
            <a:r>
              <a:rPr lang="en-US" dirty="0"/>
              <a:t>The malicious version sent copies of the user’s .</a:t>
            </a:r>
            <a:r>
              <a:rPr lang="en-US" dirty="0" err="1"/>
              <a:t>npmrc</a:t>
            </a:r>
            <a:r>
              <a:rPr lang="en-US" dirty="0"/>
              <a:t> to the attacker.   This file typically contains user tokens.</a:t>
            </a:r>
          </a:p>
          <a:p>
            <a:r>
              <a:rPr lang="en-US" dirty="0"/>
              <a:t>Estimated 4500 tokens were leaked and needed to be revoked.</a:t>
            </a:r>
          </a:p>
        </p:txBody>
      </p:sp>
      <p:sp>
        <p:nvSpPr>
          <p:cNvPr id="3" name="Slide Number Placeholder 2">
            <a:extLst>
              <a:ext uri="{FF2B5EF4-FFF2-40B4-BE49-F238E27FC236}">
                <a16:creationId xmlns:a16="http://schemas.microsoft.com/office/drawing/2014/main" id="{C097C4AA-9C32-07BB-74FC-2B25EE6B8A79}"/>
              </a:ext>
            </a:extLst>
          </p:cNvPr>
          <p:cNvSpPr>
            <a:spLocks noGrp="1"/>
          </p:cNvSpPr>
          <p:nvPr>
            <p:ph type="sldNum" sz="quarter" idx="12"/>
          </p:nvPr>
        </p:nvSpPr>
        <p:spPr/>
        <p:txBody>
          <a:bodyPr/>
          <a:lstStyle/>
          <a:p>
            <a:fld id="{20F37917-FD3A-4669-9018-DA04BCDD3D75}" type="slidenum">
              <a:rPr lang="en-US" smtClean="0"/>
              <a:t>31</a:t>
            </a:fld>
            <a:endParaRPr lang="en-US"/>
          </a:p>
        </p:txBody>
      </p:sp>
    </p:spTree>
    <p:extLst>
      <p:ext uri="{BB962C8B-B14F-4D97-AF65-F5344CB8AC3E}">
        <p14:creationId xmlns:p14="http://schemas.microsoft.com/office/powerpoint/2010/main" val="25082703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A4458-24F6-F446-96F3-4DF95030A4AD}"/>
              </a:ext>
            </a:extLst>
          </p:cNvPr>
          <p:cNvSpPr>
            <a:spLocks noGrp="1"/>
          </p:cNvSpPr>
          <p:nvPr>
            <p:ph type="title"/>
          </p:nvPr>
        </p:nvSpPr>
        <p:spPr/>
        <p:txBody>
          <a:bodyPr>
            <a:normAutofit fontScale="90000"/>
          </a:bodyPr>
          <a:lstStyle/>
          <a:p>
            <a:r>
              <a:rPr lang="en-US" dirty="0"/>
              <a:t>A 2021 NCSU/Microsoft found that many of the top 1% of </a:t>
            </a:r>
            <a:r>
              <a:rPr lang="en-US" dirty="0" err="1"/>
              <a:t>npm</a:t>
            </a:r>
            <a:r>
              <a:rPr lang="en-US" dirty="0"/>
              <a:t> packages had vulnerabilities</a:t>
            </a:r>
          </a:p>
        </p:txBody>
      </p:sp>
      <p:sp>
        <p:nvSpPr>
          <p:cNvPr id="4" name="Text Placeholder 3">
            <a:extLst>
              <a:ext uri="{FF2B5EF4-FFF2-40B4-BE49-F238E27FC236}">
                <a16:creationId xmlns:a16="http://schemas.microsoft.com/office/drawing/2014/main" id="{99AB75F7-3C56-454D-A9C5-791FE839064A}"/>
              </a:ext>
            </a:extLst>
          </p:cNvPr>
          <p:cNvSpPr>
            <a:spLocks noGrp="1"/>
          </p:cNvSpPr>
          <p:nvPr>
            <p:ph idx="1"/>
          </p:nvPr>
        </p:nvSpPr>
        <p:spPr>
          <a:xfrm>
            <a:off x="838200" y="1630496"/>
            <a:ext cx="4611296" cy="4221002"/>
          </a:xfrm>
        </p:spPr>
        <p:txBody>
          <a:bodyPr>
            <a:normAutofit/>
          </a:bodyPr>
          <a:lstStyle/>
          <a:p>
            <a:r>
              <a:rPr lang="en-US" dirty="0"/>
              <a:t>Package inactive or deprecated, yet still in use</a:t>
            </a:r>
          </a:p>
          <a:p>
            <a:r>
              <a:rPr lang="en-US" dirty="0"/>
              <a:t>No active maintainers</a:t>
            </a:r>
          </a:p>
        </p:txBody>
      </p:sp>
      <p:sp>
        <p:nvSpPr>
          <p:cNvPr id="6" name="TextBox 5">
            <a:extLst>
              <a:ext uri="{FF2B5EF4-FFF2-40B4-BE49-F238E27FC236}">
                <a16:creationId xmlns:a16="http://schemas.microsoft.com/office/drawing/2014/main" id="{4976423B-E78F-124B-8556-A26CC43B69A1}"/>
              </a:ext>
            </a:extLst>
          </p:cNvPr>
          <p:cNvSpPr txBox="1"/>
          <p:nvPr/>
        </p:nvSpPr>
        <p:spPr>
          <a:xfrm>
            <a:off x="5279642" y="6007840"/>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900" dirty="0"/>
              <a:t>“What are Weak Links in the </a:t>
            </a:r>
            <a:r>
              <a:rPr lang="en-US" sz="900" dirty="0" err="1"/>
              <a:t>npm</a:t>
            </a:r>
            <a:r>
              <a:rPr lang="en-US" sz="900" dirty="0"/>
              <a:t> Supply Chain?” By: Nusrat </a:t>
            </a:r>
            <a:r>
              <a:rPr lang="en-US" sz="900" dirty="0" err="1"/>
              <a:t>Zahan</a:t>
            </a:r>
            <a:r>
              <a:rPr lang="en-US" sz="900" dirty="0"/>
              <a:t>, Thomas Zimmermann, Patrice </a:t>
            </a:r>
            <a:r>
              <a:rPr lang="en-US" sz="900" dirty="0" err="1"/>
              <a:t>Godefroid</a:t>
            </a:r>
            <a:r>
              <a:rPr lang="en-US" sz="900" dirty="0"/>
              <a:t>, Brendan Murphy, Chandra </a:t>
            </a:r>
            <a:r>
              <a:rPr lang="en-US" sz="900" dirty="0" err="1"/>
              <a:t>Maddila</a:t>
            </a:r>
            <a:r>
              <a:rPr lang="en-US" sz="900" dirty="0"/>
              <a:t>, Laurie Williams </a:t>
            </a:r>
            <a:r>
              <a:rPr lang="en-US" sz="900" dirty="0">
                <a:hlinkClick r:id="rId3"/>
              </a:rPr>
              <a:t>https://arxiv.org/abs/2112.10165</a:t>
            </a:r>
            <a:r>
              <a:rPr lang="en-US" sz="900" dirty="0"/>
              <a:t> </a:t>
            </a:r>
          </a:p>
        </p:txBody>
      </p:sp>
      <p:pic>
        <p:nvPicPr>
          <p:cNvPr id="3" name="Image" descr="Image">
            <a:extLst>
              <a:ext uri="{FF2B5EF4-FFF2-40B4-BE49-F238E27FC236}">
                <a16:creationId xmlns:a16="http://schemas.microsoft.com/office/drawing/2014/main" id="{65782A2A-AA5B-8BE0-717E-1D37D7C1A135}"/>
              </a:ext>
            </a:extLst>
          </p:cNvPr>
          <p:cNvPicPr>
            <a:picLocks noChangeAspect="1"/>
          </p:cNvPicPr>
          <p:nvPr/>
        </p:nvPicPr>
        <p:blipFill>
          <a:blip r:embed="rId4"/>
          <a:stretch>
            <a:fillRect/>
          </a:stretch>
        </p:blipFill>
        <p:spPr>
          <a:xfrm>
            <a:off x="5279642" y="1500160"/>
            <a:ext cx="6439341" cy="1588257"/>
          </a:xfrm>
          <a:prstGeom prst="rect">
            <a:avLst/>
          </a:prstGeom>
          <a:ln w="12700">
            <a:miter lim="400000"/>
          </a:ln>
        </p:spPr>
      </p:pic>
      <p:sp>
        <p:nvSpPr>
          <p:cNvPr id="5" name="Text Placeholder 3">
            <a:extLst>
              <a:ext uri="{FF2B5EF4-FFF2-40B4-BE49-F238E27FC236}">
                <a16:creationId xmlns:a16="http://schemas.microsoft.com/office/drawing/2014/main" id="{D38AB2AC-29C6-91EE-6155-A86D5C68A5BF}"/>
              </a:ext>
            </a:extLst>
          </p:cNvPr>
          <p:cNvSpPr txBox="1">
            <a:spLocks/>
          </p:cNvSpPr>
          <p:nvPr/>
        </p:nvSpPr>
        <p:spPr>
          <a:xfrm>
            <a:off x="838200" y="3088417"/>
            <a:ext cx="9484605" cy="31077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At least one maintainer with an inactive (purchasable) email domain</a:t>
            </a:r>
          </a:p>
          <a:p>
            <a:r>
              <a:rPr lang="en-US" dirty="0"/>
              <a:t>Too many maintainers or contributors to make effective maintenance or code control</a:t>
            </a:r>
          </a:p>
          <a:p>
            <a:r>
              <a:rPr lang="en-US" dirty="0"/>
              <a:t>Maintainers are maintaining too many packages</a:t>
            </a:r>
          </a:p>
          <a:p>
            <a:r>
              <a:rPr lang="en-US" dirty="0"/>
              <a:t>Many statistics/combinations: see the paper for details.</a:t>
            </a:r>
          </a:p>
        </p:txBody>
      </p:sp>
    </p:spTree>
    <p:extLst>
      <p:ext uri="{BB962C8B-B14F-4D97-AF65-F5344CB8AC3E}">
        <p14:creationId xmlns:p14="http://schemas.microsoft.com/office/powerpoint/2010/main" val="39266433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91383-52F9-C14B-5664-7E82333614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AF9101-7294-16F4-A039-2327D86FA99F}"/>
              </a:ext>
            </a:extLst>
          </p:cNvPr>
          <p:cNvSpPr>
            <a:spLocks noGrp="1"/>
          </p:cNvSpPr>
          <p:nvPr>
            <p:ph type="title"/>
          </p:nvPr>
        </p:nvSpPr>
        <p:spPr/>
        <p:txBody>
          <a:bodyPr/>
          <a:lstStyle/>
          <a:p>
            <a:r>
              <a:rPr lang="en-US" dirty="0"/>
              <a:t>Your suppliers' risks are your risks</a:t>
            </a:r>
          </a:p>
        </p:txBody>
      </p:sp>
      <p:sp>
        <p:nvSpPr>
          <p:cNvPr id="6" name="Content Placeholder 5">
            <a:extLst>
              <a:ext uri="{FF2B5EF4-FFF2-40B4-BE49-F238E27FC236}">
                <a16:creationId xmlns:a16="http://schemas.microsoft.com/office/drawing/2014/main" id="{0C6EAECE-80CB-C34A-AA3B-81C6922BB7D5}"/>
              </a:ext>
            </a:extLst>
          </p:cNvPr>
          <p:cNvSpPr>
            <a:spLocks noGrp="1"/>
          </p:cNvSpPr>
          <p:nvPr>
            <p:ph idx="1"/>
          </p:nvPr>
        </p:nvSpPr>
        <p:spPr>
          <a:xfrm>
            <a:off x="838200" y="1500160"/>
            <a:ext cx="5514474" cy="4351338"/>
          </a:xfrm>
        </p:spPr>
        <p:txBody>
          <a:bodyPr>
            <a:normAutofit fontScale="92500" lnSpcReduction="10000"/>
          </a:bodyPr>
          <a:lstStyle/>
          <a:p>
            <a:r>
              <a:rPr lang="en-US" dirty="0"/>
              <a:t>"Known Crewmembers" can get to the cockpit without inspection.</a:t>
            </a:r>
          </a:p>
          <a:p>
            <a:r>
              <a:rPr lang="en-US" dirty="0">
                <a:highlight>
                  <a:srgbClr val="00FF00"/>
                </a:highlight>
              </a:rPr>
              <a:t>Large airlines: Each airline runs its own authorization system, but small airlines rely on a vendor</a:t>
            </a:r>
          </a:p>
          <a:p>
            <a:r>
              <a:rPr lang="en-US" dirty="0"/>
              <a:t>The authors found one such vendor that had an SQL injection error </a:t>
            </a:r>
          </a:p>
          <a:p>
            <a:r>
              <a:rPr lang="en-US" dirty="0"/>
              <a:t>Using the username of </a:t>
            </a:r>
            <a:r>
              <a:rPr lang="en-US" dirty="0">
                <a:highlight>
                  <a:srgbClr val="FFFF00"/>
                </a:highlight>
              </a:rPr>
              <a:t>' or '1'='1</a:t>
            </a:r>
            <a:r>
              <a:rPr lang="en-US" dirty="0"/>
              <a:t> and password of ') </a:t>
            </a:r>
            <a:r>
              <a:rPr lang="en-US" dirty="0">
                <a:highlight>
                  <a:srgbClr val="FFFF00"/>
                </a:highlight>
              </a:rPr>
              <a:t>OR MD5('1')=MD5('1</a:t>
            </a:r>
            <a:r>
              <a:rPr lang="en-US" dirty="0"/>
              <a:t>, we were able to login to </a:t>
            </a:r>
            <a:r>
              <a:rPr lang="en-US" dirty="0" err="1"/>
              <a:t>FlyCASS</a:t>
            </a:r>
            <a:r>
              <a:rPr lang="en-US" dirty="0"/>
              <a:t> as an administrator of Air Transport International!</a:t>
            </a:r>
          </a:p>
          <a:p>
            <a:endParaRPr lang="en-US" dirty="0"/>
          </a:p>
          <a:p>
            <a:endParaRPr lang="en-US" dirty="0"/>
          </a:p>
        </p:txBody>
      </p:sp>
      <p:sp>
        <p:nvSpPr>
          <p:cNvPr id="3" name="Slide Number Placeholder 2">
            <a:extLst>
              <a:ext uri="{FF2B5EF4-FFF2-40B4-BE49-F238E27FC236}">
                <a16:creationId xmlns:a16="http://schemas.microsoft.com/office/drawing/2014/main" id="{A4CE092E-96CB-AB67-A87C-D4EFD3A95BBA}"/>
              </a:ext>
            </a:extLst>
          </p:cNvPr>
          <p:cNvSpPr>
            <a:spLocks noGrp="1"/>
          </p:cNvSpPr>
          <p:nvPr>
            <p:ph type="sldNum" sz="quarter" idx="12"/>
          </p:nvPr>
        </p:nvSpPr>
        <p:spPr/>
        <p:txBody>
          <a:bodyPr/>
          <a:lstStyle/>
          <a:p>
            <a:fld id="{20F37917-FD3A-4669-9018-DA04BCDD3D75}" type="slidenum">
              <a:rPr lang="en-US" smtClean="0"/>
              <a:t>33</a:t>
            </a:fld>
            <a:endParaRPr lang="en-US"/>
          </a:p>
        </p:txBody>
      </p:sp>
      <p:pic>
        <p:nvPicPr>
          <p:cNvPr id="16" name="Picture 15">
            <a:extLst>
              <a:ext uri="{FF2B5EF4-FFF2-40B4-BE49-F238E27FC236}">
                <a16:creationId xmlns:a16="http://schemas.microsoft.com/office/drawing/2014/main" id="{C5632CF3-E27F-81B5-30D5-FA9F47CBDE24}"/>
              </a:ext>
            </a:extLst>
          </p:cNvPr>
          <p:cNvPicPr>
            <a:picLocks noChangeAspect="1"/>
          </p:cNvPicPr>
          <p:nvPr/>
        </p:nvPicPr>
        <p:blipFill>
          <a:blip r:embed="rId3"/>
          <a:stretch>
            <a:fillRect/>
          </a:stretch>
        </p:blipFill>
        <p:spPr>
          <a:xfrm>
            <a:off x="6845968" y="1857643"/>
            <a:ext cx="4187536" cy="3885550"/>
          </a:xfrm>
          <a:prstGeom prst="rect">
            <a:avLst/>
          </a:prstGeom>
        </p:spPr>
      </p:pic>
      <p:sp>
        <p:nvSpPr>
          <p:cNvPr id="17" name="This is an attack">
            <a:extLst>
              <a:ext uri="{FF2B5EF4-FFF2-40B4-BE49-F238E27FC236}">
                <a16:creationId xmlns:a16="http://schemas.microsoft.com/office/drawing/2014/main" id="{0DE017EC-167D-86BE-DC6B-82885B3F760A}"/>
              </a:ext>
            </a:extLst>
          </p:cNvPr>
          <p:cNvSpPr txBox="1"/>
          <p:nvPr/>
        </p:nvSpPr>
        <p:spPr>
          <a:xfrm>
            <a:off x="8976092" y="3800418"/>
            <a:ext cx="2550706" cy="106695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numCol="1" anchor="ctr">
            <a:spAutoFit/>
          </a:bodyPr>
          <a:lstStyle>
            <a:lvl1pPr algn="l" defTabSz="825500">
              <a:spcBef>
                <a:spcPts val="3400"/>
              </a:spcBef>
              <a:defRPr sz="4900" cap="all">
                <a:solidFill>
                  <a:srgbClr val="8C1818"/>
                </a:solidFill>
                <a:latin typeface="Ronnia Cond Bold"/>
                <a:ea typeface="Ronnia Cond Bold"/>
                <a:cs typeface="Ronnia Cond Bold"/>
                <a:sym typeface="Ronnia Cond Bold"/>
              </a:defRPr>
            </a:lvl1pPr>
          </a:lstStyle>
          <a:p>
            <a:r>
              <a:rPr lang="en-US" sz="6600" dirty="0">
                <a:highlight>
                  <a:srgbClr val="FFFF00"/>
                </a:highlight>
                <a:latin typeface="Algerian" panose="04020705040A02060702" pitchFamily="82" charset="0"/>
              </a:rPr>
              <a:t>OOPs! </a:t>
            </a:r>
            <a:endParaRPr sz="6600" dirty="0">
              <a:highlight>
                <a:srgbClr val="FFFF00"/>
              </a:highlight>
              <a:latin typeface="Algerian" panose="04020705040A02060702" pitchFamily="82" charset="0"/>
            </a:endParaRPr>
          </a:p>
        </p:txBody>
      </p:sp>
      <p:sp>
        <p:nvSpPr>
          <p:cNvPr id="20" name="TextBox 19">
            <a:extLst>
              <a:ext uri="{FF2B5EF4-FFF2-40B4-BE49-F238E27FC236}">
                <a16:creationId xmlns:a16="http://schemas.microsoft.com/office/drawing/2014/main" id="{8D822A5D-EE2A-4F1F-663A-45974AAE8D94}"/>
              </a:ext>
            </a:extLst>
          </p:cNvPr>
          <p:cNvSpPr txBox="1"/>
          <p:nvPr/>
        </p:nvSpPr>
        <p:spPr>
          <a:xfrm>
            <a:off x="8289758" y="5900290"/>
            <a:ext cx="2907632" cy="5974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dirty="0">
                <a:solidFill>
                  <a:schemeClr val="accent1"/>
                </a:solidFill>
                <a:hlinkClick r:id="rId4"/>
              </a:rPr>
              <a:t>https://ian.sh/tsa</a:t>
            </a:r>
            <a:endParaRPr lang="en-US" dirty="0">
              <a:solidFill>
                <a:schemeClr val="accent1"/>
              </a:solidFill>
            </a:endParaRPr>
          </a:p>
        </p:txBody>
      </p:sp>
    </p:spTree>
    <p:extLst>
      <p:ext uri="{BB962C8B-B14F-4D97-AF65-F5344CB8AC3E}">
        <p14:creationId xmlns:p14="http://schemas.microsoft.com/office/powerpoint/2010/main" val="30296688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B6DA8-70D1-303D-18E3-71FE5D07324D}"/>
              </a:ext>
            </a:extLst>
          </p:cNvPr>
          <p:cNvSpPr>
            <a:spLocks noGrp="1"/>
          </p:cNvSpPr>
          <p:nvPr>
            <p:ph type="title"/>
          </p:nvPr>
        </p:nvSpPr>
        <p:spPr/>
        <p:txBody>
          <a:bodyPr/>
          <a:lstStyle/>
          <a:p>
            <a:r>
              <a:rPr lang="en-US" dirty="0"/>
              <a:t>Your suppliers' risks are your risks.</a:t>
            </a:r>
          </a:p>
        </p:txBody>
      </p:sp>
      <p:sp>
        <p:nvSpPr>
          <p:cNvPr id="3" name="Content Placeholder 2">
            <a:extLst>
              <a:ext uri="{FF2B5EF4-FFF2-40B4-BE49-F238E27FC236}">
                <a16:creationId xmlns:a16="http://schemas.microsoft.com/office/drawing/2014/main" id="{10FAE709-2436-0732-FAA7-C4EA9A4DCFB1}"/>
              </a:ext>
            </a:extLst>
          </p:cNvPr>
          <p:cNvSpPr>
            <a:spLocks noGrp="1"/>
          </p:cNvSpPr>
          <p:nvPr>
            <p:ph idx="1"/>
          </p:nvPr>
        </p:nvSpPr>
        <p:spPr/>
        <p:txBody>
          <a:bodyPr>
            <a:normAutofit/>
          </a:bodyPr>
          <a:lstStyle/>
          <a:p>
            <a:r>
              <a:rPr lang="en-US" dirty="0" err="1"/>
              <a:t>MOVEit</a:t>
            </a:r>
            <a:r>
              <a:rPr lang="en-US" dirty="0"/>
              <a:t> is a file transfer program owned by Progress Software. </a:t>
            </a:r>
          </a:p>
          <a:p>
            <a:r>
              <a:rPr lang="en-US" dirty="0"/>
              <a:t>Over 2500 organizations used the program to move sensitive personal data. </a:t>
            </a:r>
          </a:p>
          <a:p>
            <a:r>
              <a:rPr lang="en-US" dirty="0"/>
              <a:t>They were attacked in May 2023.</a:t>
            </a:r>
          </a:p>
          <a:p>
            <a:r>
              <a:rPr lang="en-US" dirty="0"/>
              <a:t>Prof. Wand says: my bank didn't use </a:t>
            </a:r>
            <a:r>
              <a:rPr lang="en-US" dirty="0" err="1"/>
              <a:t>MOVEit</a:t>
            </a:r>
            <a:r>
              <a:rPr lang="en-US" dirty="0"/>
              <a:t>, but they used a supplier who did.</a:t>
            </a:r>
          </a:p>
          <a:p>
            <a:r>
              <a:rPr lang="en-US" dirty="0"/>
              <a:t>Now, they have to take expensive steps to offer me identity-protection services, etc.</a:t>
            </a:r>
          </a:p>
          <a:p>
            <a:endParaRPr lang="en-US" dirty="0"/>
          </a:p>
        </p:txBody>
      </p:sp>
      <p:sp>
        <p:nvSpPr>
          <p:cNvPr id="4" name="Slide Number Placeholder 3">
            <a:extLst>
              <a:ext uri="{FF2B5EF4-FFF2-40B4-BE49-F238E27FC236}">
                <a16:creationId xmlns:a16="http://schemas.microsoft.com/office/drawing/2014/main" id="{E732DF74-5669-03C0-F310-01ED4E39CCA7}"/>
              </a:ext>
            </a:extLst>
          </p:cNvPr>
          <p:cNvSpPr>
            <a:spLocks noGrp="1"/>
          </p:cNvSpPr>
          <p:nvPr>
            <p:ph type="sldNum" sz="quarter" idx="12"/>
          </p:nvPr>
        </p:nvSpPr>
        <p:spPr/>
        <p:txBody>
          <a:bodyPr/>
          <a:lstStyle/>
          <a:p>
            <a:fld id="{20F37917-FD3A-4669-9018-DA04BCDD3D75}" type="slidenum">
              <a:rPr lang="en-US" smtClean="0"/>
              <a:t>34</a:t>
            </a:fld>
            <a:endParaRPr lang="en-US"/>
          </a:p>
        </p:txBody>
      </p:sp>
    </p:spTree>
    <p:extLst>
      <p:ext uri="{BB962C8B-B14F-4D97-AF65-F5344CB8AC3E}">
        <p14:creationId xmlns:p14="http://schemas.microsoft.com/office/powerpoint/2010/main" val="42572510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9776D-DB45-252B-5756-0D37A351E452}"/>
              </a:ext>
            </a:extLst>
          </p:cNvPr>
          <p:cNvSpPr>
            <a:spLocks noGrp="1"/>
          </p:cNvSpPr>
          <p:nvPr>
            <p:ph type="title"/>
          </p:nvPr>
        </p:nvSpPr>
        <p:spPr/>
        <p:txBody>
          <a:bodyPr/>
          <a:lstStyle/>
          <a:p>
            <a:r>
              <a:rPr lang="en-US" dirty="0"/>
              <a:t>Supply-chain risks include more than just software.</a:t>
            </a:r>
          </a:p>
        </p:txBody>
      </p:sp>
      <p:sp>
        <p:nvSpPr>
          <p:cNvPr id="4" name="Slide Number Placeholder 3">
            <a:extLst>
              <a:ext uri="{FF2B5EF4-FFF2-40B4-BE49-F238E27FC236}">
                <a16:creationId xmlns:a16="http://schemas.microsoft.com/office/drawing/2014/main" id="{96BAA69D-60B3-5A05-B18A-7ADC7ACFED1F}"/>
              </a:ext>
            </a:extLst>
          </p:cNvPr>
          <p:cNvSpPr>
            <a:spLocks noGrp="1"/>
          </p:cNvSpPr>
          <p:nvPr>
            <p:ph type="sldNum" sz="quarter" idx="12"/>
          </p:nvPr>
        </p:nvSpPr>
        <p:spPr/>
        <p:txBody>
          <a:bodyPr/>
          <a:lstStyle/>
          <a:p>
            <a:fld id="{20F37917-FD3A-4669-9018-DA04BCDD3D75}" type="slidenum">
              <a:rPr lang="en-US" smtClean="0"/>
              <a:t>35</a:t>
            </a:fld>
            <a:endParaRPr lang="en-US"/>
          </a:p>
        </p:txBody>
      </p:sp>
      <p:pic>
        <p:nvPicPr>
          <p:cNvPr id="6" name="Picture 5">
            <a:extLst>
              <a:ext uri="{FF2B5EF4-FFF2-40B4-BE49-F238E27FC236}">
                <a16:creationId xmlns:a16="http://schemas.microsoft.com/office/drawing/2014/main" id="{53B08F41-D9C1-3E2F-DC94-74185B683F58}"/>
              </a:ext>
            </a:extLst>
          </p:cNvPr>
          <p:cNvPicPr>
            <a:picLocks noChangeAspect="1"/>
          </p:cNvPicPr>
          <p:nvPr/>
        </p:nvPicPr>
        <p:blipFill>
          <a:blip r:embed="rId3"/>
          <a:stretch>
            <a:fillRect/>
          </a:stretch>
        </p:blipFill>
        <p:spPr>
          <a:xfrm>
            <a:off x="0" y="1500160"/>
            <a:ext cx="6210300" cy="5676900"/>
          </a:xfrm>
          <a:prstGeom prst="rect">
            <a:avLst/>
          </a:prstGeom>
          <a:ln>
            <a:solidFill>
              <a:schemeClr val="tx1"/>
            </a:solidFill>
          </a:ln>
        </p:spPr>
      </p:pic>
      <p:pic>
        <p:nvPicPr>
          <p:cNvPr id="8" name="Picture 7">
            <a:extLst>
              <a:ext uri="{FF2B5EF4-FFF2-40B4-BE49-F238E27FC236}">
                <a16:creationId xmlns:a16="http://schemas.microsoft.com/office/drawing/2014/main" id="{96EE0982-B2B3-FBE1-A5DA-B8A6A9CD8CAD}"/>
              </a:ext>
            </a:extLst>
          </p:cNvPr>
          <p:cNvPicPr>
            <a:picLocks noChangeAspect="1"/>
          </p:cNvPicPr>
          <p:nvPr/>
        </p:nvPicPr>
        <p:blipFill rotWithShape="1">
          <a:blip r:embed="rId4"/>
          <a:srcRect b="45524"/>
          <a:stretch/>
        </p:blipFill>
        <p:spPr>
          <a:xfrm>
            <a:off x="5838825" y="5400445"/>
            <a:ext cx="6353175" cy="1125987"/>
          </a:xfrm>
          <a:prstGeom prst="rect">
            <a:avLst/>
          </a:prstGeom>
          <a:ln>
            <a:solidFill>
              <a:schemeClr val="tx1"/>
            </a:solidFill>
          </a:ln>
        </p:spPr>
      </p:pic>
    </p:spTree>
    <p:extLst>
      <p:ext uri="{BB962C8B-B14F-4D97-AF65-F5344CB8AC3E}">
        <p14:creationId xmlns:p14="http://schemas.microsoft.com/office/powerpoint/2010/main" val="6125192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99567-945A-A649-A6D6-B4FE1391686D}"/>
              </a:ext>
            </a:extLst>
          </p:cNvPr>
          <p:cNvSpPr>
            <a:spLocks noGrp="1"/>
          </p:cNvSpPr>
          <p:nvPr>
            <p:ph type="title"/>
          </p:nvPr>
        </p:nvSpPr>
        <p:spPr/>
        <p:txBody>
          <a:bodyPr/>
          <a:lstStyle/>
          <a:p>
            <a:r>
              <a:rPr lang="en-US" dirty="0"/>
              <a:t>Process-level Threat Mitigations</a:t>
            </a:r>
          </a:p>
        </p:txBody>
      </p:sp>
      <p:sp>
        <p:nvSpPr>
          <p:cNvPr id="3" name="Text Placeholder 2">
            <a:extLst>
              <a:ext uri="{FF2B5EF4-FFF2-40B4-BE49-F238E27FC236}">
                <a16:creationId xmlns:a16="http://schemas.microsoft.com/office/drawing/2014/main" id="{B7B5497D-6087-DB49-8031-3C71B1856A1B}"/>
              </a:ext>
            </a:extLst>
          </p:cNvPr>
          <p:cNvSpPr>
            <a:spLocks noGrp="1"/>
          </p:cNvSpPr>
          <p:nvPr>
            <p:ph idx="1"/>
          </p:nvPr>
        </p:nvSpPr>
        <p:spPr/>
        <p:txBody>
          <a:bodyPr>
            <a:normAutofit fontScale="92500" lnSpcReduction="20000"/>
          </a:bodyPr>
          <a:lstStyle/>
          <a:p>
            <a:r>
              <a:rPr lang="en-US" dirty="0"/>
              <a:t>External dependencies</a:t>
            </a:r>
          </a:p>
          <a:p>
            <a:pPr lvl="1">
              <a:spcBef>
                <a:spcPts val="1000"/>
              </a:spcBef>
            </a:pPr>
            <a:r>
              <a:rPr lang="en-US" dirty="0"/>
              <a:t>Audit all dependencies and their updates before applying them</a:t>
            </a:r>
          </a:p>
          <a:p>
            <a:r>
              <a:rPr lang="en-US" dirty="0"/>
              <a:t>In-house code</a:t>
            </a:r>
          </a:p>
          <a:p>
            <a:pPr lvl="1">
              <a:spcBef>
                <a:spcPts val="1000"/>
              </a:spcBef>
            </a:pPr>
            <a:r>
              <a:rPr lang="en-US" dirty="0"/>
              <a:t>Require developers to sign code before committing, require 2FA for signing keys, rotate signing keys regularly</a:t>
            </a:r>
          </a:p>
          <a:p>
            <a:r>
              <a:rPr lang="en-US" dirty="0"/>
              <a:t>Build process</a:t>
            </a:r>
          </a:p>
          <a:p>
            <a:pPr lvl="1">
              <a:spcBef>
                <a:spcPts val="1000"/>
              </a:spcBef>
            </a:pPr>
            <a:r>
              <a:rPr lang="en-US" dirty="0"/>
              <a:t>Audit build software, use trusted compilers and build chains</a:t>
            </a:r>
          </a:p>
          <a:p>
            <a:r>
              <a:rPr lang="en-US" dirty="0"/>
              <a:t>Distribution process</a:t>
            </a:r>
          </a:p>
          <a:p>
            <a:pPr lvl="1">
              <a:spcBef>
                <a:spcPts val="1000"/>
              </a:spcBef>
            </a:pPr>
            <a:r>
              <a:rPr lang="en-US" dirty="0"/>
              <a:t>Sign all packages, protect signing keys</a:t>
            </a:r>
          </a:p>
          <a:p>
            <a:r>
              <a:rPr lang="en-US" dirty="0"/>
              <a:t>Operating environment</a:t>
            </a:r>
          </a:p>
          <a:p>
            <a:pPr lvl="1">
              <a:spcBef>
                <a:spcPts val="1000"/>
              </a:spcBef>
            </a:pPr>
            <a:r>
              <a:rPr lang="en-US" dirty="0"/>
              <a:t>Isolate applications in containers or VMs</a:t>
            </a:r>
          </a:p>
        </p:txBody>
      </p:sp>
    </p:spTree>
    <p:extLst>
      <p:ext uri="{BB962C8B-B14F-4D97-AF65-F5344CB8AC3E}">
        <p14:creationId xmlns:p14="http://schemas.microsoft.com/office/powerpoint/2010/main" val="526598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96010-2848-3F79-FC80-A141A47E7F3F}"/>
              </a:ext>
            </a:extLst>
          </p:cNvPr>
          <p:cNvSpPr>
            <a:spLocks noGrp="1"/>
          </p:cNvSpPr>
          <p:nvPr>
            <p:ph type="title"/>
          </p:nvPr>
        </p:nvSpPr>
        <p:spPr/>
        <p:txBody>
          <a:bodyPr/>
          <a:lstStyle/>
          <a:p>
            <a:r>
              <a:rPr lang="en-US" dirty="0"/>
              <a:t>Vulnerability #5: Failure to Apply Security Policies</a:t>
            </a:r>
          </a:p>
        </p:txBody>
      </p:sp>
      <p:sp>
        <p:nvSpPr>
          <p:cNvPr id="3" name="Content Placeholder 2">
            <a:extLst>
              <a:ext uri="{FF2B5EF4-FFF2-40B4-BE49-F238E27FC236}">
                <a16:creationId xmlns:a16="http://schemas.microsoft.com/office/drawing/2014/main" id="{8EF9911C-7C41-FC72-C3DB-359B3DDE35C7}"/>
              </a:ext>
            </a:extLst>
          </p:cNvPr>
          <p:cNvSpPr>
            <a:spLocks noGrp="1"/>
          </p:cNvSpPr>
          <p:nvPr>
            <p:ph idx="1"/>
          </p:nvPr>
        </p:nvSpPr>
        <p:spPr/>
        <p:txBody>
          <a:bodyPr/>
          <a:lstStyle/>
          <a:p>
            <a:pPr marL="0" indent="0">
              <a:buNone/>
            </a:pPr>
            <a:r>
              <a:rPr lang="en-US" dirty="0"/>
              <a:t>Remember the outline of our lecture:</a:t>
            </a:r>
          </a:p>
          <a:p>
            <a:pPr marL="514350" indent="-514350">
              <a:buFont typeface="+mj-lt"/>
              <a:buAutoNum type="arabicPeriod"/>
            </a:pPr>
            <a:r>
              <a:rPr lang="en-US" dirty="0">
                <a:solidFill>
                  <a:schemeClr val="bg2">
                    <a:lumMod val="75000"/>
                  </a:schemeClr>
                </a:solidFill>
              </a:rPr>
              <a:t>Definition of key vocabulary</a:t>
            </a:r>
          </a:p>
          <a:p>
            <a:pPr marL="514350" indent="-514350">
              <a:buFont typeface="+mj-lt"/>
              <a:buAutoNum type="arabicPeriod"/>
            </a:pPr>
            <a:r>
              <a:rPr lang="en-US" dirty="0">
                <a:solidFill>
                  <a:schemeClr val="bg2">
                    <a:lumMod val="75000"/>
                  </a:schemeClr>
                </a:solidFill>
              </a:rPr>
              <a:t>Some common vulnerabilities, and possible mitigations</a:t>
            </a:r>
          </a:p>
          <a:p>
            <a:pPr marL="514350" indent="-514350">
              <a:buFont typeface="+mj-lt"/>
              <a:buAutoNum type="arabicPeriod"/>
            </a:pPr>
            <a:r>
              <a:rPr lang="en-US" dirty="0">
                <a:solidFill>
                  <a:srgbClr val="FF0000"/>
                </a:solidFill>
              </a:rPr>
              <a:t>Getting security right is about people as well as software.</a:t>
            </a:r>
          </a:p>
          <a:p>
            <a:pPr marL="514350" indent="-514350">
              <a:buFont typeface="+mj-lt"/>
              <a:buAutoNum type="arabicPeriod"/>
            </a:pPr>
            <a:endParaRPr lang="en-US" dirty="0"/>
          </a:p>
        </p:txBody>
      </p:sp>
      <p:sp>
        <p:nvSpPr>
          <p:cNvPr id="4" name="Slide Number Placeholder 3">
            <a:extLst>
              <a:ext uri="{FF2B5EF4-FFF2-40B4-BE49-F238E27FC236}">
                <a16:creationId xmlns:a16="http://schemas.microsoft.com/office/drawing/2014/main" id="{2A7DE133-ADDD-9C96-A427-C9A2BD0FB364}"/>
              </a:ext>
            </a:extLst>
          </p:cNvPr>
          <p:cNvSpPr>
            <a:spLocks noGrp="1"/>
          </p:cNvSpPr>
          <p:nvPr>
            <p:ph type="sldNum" sz="quarter" idx="12"/>
          </p:nvPr>
        </p:nvSpPr>
        <p:spPr/>
        <p:txBody>
          <a:bodyPr/>
          <a:lstStyle/>
          <a:p>
            <a:fld id="{20F37917-FD3A-4669-9018-DA04BCDD3D75}" type="slidenum">
              <a:rPr lang="en-US" smtClean="0"/>
              <a:t>37</a:t>
            </a:fld>
            <a:endParaRPr lang="en-US"/>
          </a:p>
        </p:txBody>
      </p:sp>
    </p:spTree>
    <p:extLst>
      <p:ext uri="{BB962C8B-B14F-4D97-AF65-F5344CB8AC3E}">
        <p14:creationId xmlns:p14="http://schemas.microsoft.com/office/powerpoint/2010/main" val="13646598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460F2-402D-B9AA-A614-91E800A3128D}"/>
              </a:ext>
            </a:extLst>
          </p:cNvPr>
          <p:cNvSpPr>
            <a:spLocks noGrp="1"/>
          </p:cNvSpPr>
          <p:nvPr>
            <p:ph type="title"/>
          </p:nvPr>
        </p:nvSpPr>
        <p:spPr/>
        <p:txBody>
          <a:bodyPr/>
          <a:lstStyle/>
          <a:p>
            <a:r>
              <a:rPr lang="en-US" dirty="0"/>
              <a:t>David Blank-Edelman (former head of Systems at Khoury)</a:t>
            </a:r>
          </a:p>
        </p:txBody>
      </p:sp>
      <p:sp>
        <p:nvSpPr>
          <p:cNvPr id="3" name="Content Placeholder 2">
            <a:extLst>
              <a:ext uri="{FF2B5EF4-FFF2-40B4-BE49-F238E27FC236}">
                <a16:creationId xmlns:a16="http://schemas.microsoft.com/office/drawing/2014/main" id="{F8E19530-B6DE-08DE-72B0-35935A0BB572}"/>
              </a:ext>
            </a:extLst>
          </p:cNvPr>
          <p:cNvSpPr>
            <a:spLocks noGrp="1"/>
          </p:cNvSpPr>
          <p:nvPr>
            <p:ph idx="1"/>
          </p:nvPr>
        </p:nvSpPr>
        <p:spPr>
          <a:xfrm>
            <a:off x="838200" y="1500160"/>
            <a:ext cx="6051698" cy="4351338"/>
          </a:xfrm>
        </p:spPr>
        <p:txBody>
          <a:bodyPr anchor="ctr">
            <a:normAutofit/>
          </a:bodyPr>
          <a:lstStyle/>
          <a:p>
            <a:pPr marL="0" indent="0" algn="ctr">
              <a:buNone/>
            </a:pPr>
            <a:r>
              <a:rPr lang="en-US" sz="4800" dirty="0"/>
              <a:t>“The solution is in front of the screen, not behind it”</a:t>
            </a:r>
          </a:p>
        </p:txBody>
      </p:sp>
      <p:sp>
        <p:nvSpPr>
          <p:cNvPr id="4" name="Slide Number Placeholder 3">
            <a:extLst>
              <a:ext uri="{FF2B5EF4-FFF2-40B4-BE49-F238E27FC236}">
                <a16:creationId xmlns:a16="http://schemas.microsoft.com/office/drawing/2014/main" id="{692126EC-A48E-E653-F752-1640D1214C20}"/>
              </a:ext>
            </a:extLst>
          </p:cNvPr>
          <p:cNvSpPr>
            <a:spLocks noGrp="1"/>
          </p:cNvSpPr>
          <p:nvPr>
            <p:ph type="sldNum" sz="quarter" idx="12"/>
          </p:nvPr>
        </p:nvSpPr>
        <p:spPr/>
        <p:txBody>
          <a:bodyPr/>
          <a:lstStyle/>
          <a:p>
            <a:fld id="{20F37917-FD3A-4669-9018-DA04BCDD3D75}" type="slidenum">
              <a:rPr lang="en-US" smtClean="0"/>
              <a:t>38</a:t>
            </a:fld>
            <a:endParaRPr lang="en-US"/>
          </a:p>
        </p:txBody>
      </p:sp>
      <p:pic>
        <p:nvPicPr>
          <p:cNvPr id="1026" name="Picture 2" descr="David Blank-Edelman - devopsdays Seattle 2017">
            <a:extLst>
              <a:ext uri="{FF2B5EF4-FFF2-40B4-BE49-F238E27FC236}">
                <a16:creationId xmlns:a16="http://schemas.microsoft.com/office/drawing/2014/main" id="{4197B32C-9270-E202-805F-9932A3CED4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51552" y="1798960"/>
            <a:ext cx="4102248" cy="4102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93784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C269D-332D-7519-6CED-6E8C182E2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4C6E5-8FE2-DF16-609E-9B7A086EBBD8}"/>
              </a:ext>
            </a:extLst>
          </p:cNvPr>
          <p:cNvSpPr>
            <a:spLocks noGrp="1"/>
          </p:cNvSpPr>
          <p:nvPr>
            <p:ph type="title"/>
          </p:nvPr>
        </p:nvSpPr>
        <p:spPr/>
        <p:txBody>
          <a:bodyPr/>
          <a:lstStyle/>
          <a:p>
            <a:r>
              <a:rPr lang="en-US" dirty="0"/>
              <a:t>Security Principle #3: Every data flow is an attack surface</a:t>
            </a:r>
          </a:p>
        </p:txBody>
      </p:sp>
      <p:sp>
        <p:nvSpPr>
          <p:cNvPr id="3" name="Content Placeholder 2">
            <a:extLst>
              <a:ext uri="{FF2B5EF4-FFF2-40B4-BE49-F238E27FC236}">
                <a16:creationId xmlns:a16="http://schemas.microsoft.com/office/drawing/2014/main" id="{64D9733F-E10E-307D-2EA6-7F4520ABB642}"/>
              </a:ext>
            </a:extLst>
          </p:cNvPr>
          <p:cNvSpPr>
            <a:spLocks noGrp="1"/>
          </p:cNvSpPr>
          <p:nvPr>
            <p:ph idx="1"/>
          </p:nvPr>
        </p:nvSpPr>
        <p:spPr>
          <a:xfrm>
            <a:off x="838200" y="1500160"/>
            <a:ext cx="4767470" cy="4351338"/>
          </a:xfrm>
        </p:spPr>
        <p:txBody>
          <a:bodyPr/>
          <a:lstStyle/>
          <a:p>
            <a:r>
              <a:rPr lang="en-US" dirty="0"/>
              <a:t>There may be vulnerabilities on each flow.</a:t>
            </a:r>
          </a:p>
          <a:p>
            <a:pPr lvl="1"/>
            <a:r>
              <a:rPr lang="en-US" sz="2800" dirty="0"/>
              <a:t>Customer -&gt; UI</a:t>
            </a:r>
          </a:p>
          <a:p>
            <a:pPr lvl="1"/>
            <a:r>
              <a:rPr lang="en-US" sz="2800" dirty="0"/>
              <a:t>Customer -&gt; Identity Service</a:t>
            </a:r>
          </a:p>
          <a:p>
            <a:pPr lvl="1"/>
            <a:r>
              <a:rPr lang="en-US" sz="2800" dirty="0"/>
              <a:t>UI -&gt; BFF</a:t>
            </a:r>
          </a:p>
          <a:p>
            <a:pPr lvl="1"/>
            <a:r>
              <a:rPr lang="en-US" sz="2800" dirty="0"/>
              <a:t>BFF -&gt; Customer Service </a:t>
            </a:r>
          </a:p>
        </p:txBody>
      </p:sp>
      <p:sp>
        <p:nvSpPr>
          <p:cNvPr id="4" name="Slide Number Placeholder 3">
            <a:extLst>
              <a:ext uri="{FF2B5EF4-FFF2-40B4-BE49-F238E27FC236}">
                <a16:creationId xmlns:a16="http://schemas.microsoft.com/office/drawing/2014/main" id="{1435EAD8-89C7-41F3-196B-5DA7219C7D61}"/>
              </a:ext>
            </a:extLst>
          </p:cNvPr>
          <p:cNvSpPr>
            <a:spLocks noGrp="1"/>
          </p:cNvSpPr>
          <p:nvPr>
            <p:ph type="sldNum" sz="quarter" idx="12"/>
          </p:nvPr>
        </p:nvSpPr>
        <p:spPr/>
        <p:txBody>
          <a:bodyPr/>
          <a:lstStyle/>
          <a:p>
            <a:fld id="{20F37917-FD3A-4669-9018-DA04BCDD3D75}" type="slidenum">
              <a:rPr lang="en-US" smtClean="0"/>
              <a:t>39</a:t>
            </a:fld>
            <a:endParaRPr lang="en-US" dirty="0"/>
          </a:p>
        </p:txBody>
      </p:sp>
      <p:pic>
        <p:nvPicPr>
          <p:cNvPr id="6" name="Picture 2" descr="A diagram of customer service&#10;&#10;Description automatically generated">
            <a:extLst>
              <a:ext uri="{FF2B5EF4-FFF2-40B4-BE49-F238E27FC236}">
                <a16:creationId xmlns:a16="http://schemas.microsoft.com/office/drawing/2014/main" id="{1AF78842-9020-3FCC-671D-374BDBB5E3D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605670" y="1795053"/>
            <a:ext cx="6195060" cy="3267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26042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90FE1-AAC9-DB49-958F-35F87E447664}"/>
              </a:ext>
            </a:extLst>
          </p:cNvPr>
          <p:cNvSpPr>
            <a:spLocks noGrp="1"/>
          </p:cNvSpPr>
          <p:nvPr>
            <p:ph type="title"/>
          </p:nvPr>
        </p:nvSpPr>
        <p:spPr/>
        <p:txBody>
          <a:bodyPr/>
          <a:lstStyle/>
          <a:p>
            <a:r>
              <a:rPr lang="en-US" dirty="0"/>
              <a:t>Systematically review security needs on each attack surface</a:t>
            </a:r>
          </a:p>
        </p:txBody>
      </p:sp>
      <p:sp>
        <p:nvSpPr>
          <p:cNvPr id="4" name="Text Placeholder 3">
            <a:extLst>
              <a:ext uri="{FF2B5EF4-FFF2-40B4-BE49-F238E27FC236}">
                <a16:creationId xmlns:a16="http://schemas.microsoft.com/office/drawing/2014/main" id="{C7537FBD-FAC6-EB42-B286-483FD564DAFD}"/>
              </a:ext>
            </a:extLst>
          </p:cNvPr>
          <p:cNvSpPr>
            <a:spLocks noGrp="1"/>
          </p:cNvSpPr>
          <p:nvPr>
            <p:ph idx="1"/>
          </p:nvPr>
        </p:nvSpPr>
        <p:spPr>
          <a:xfrm>
            <a:off x="838199" y="1749542"/>
            <a:ext cx="9209050" cy="4351338"/>
          </a:xfrm>
        </p:spPr>
        <p:txBody>
          <a:bodyPr>
            <a:normAutofit/>
          </a:bodyPr>
          <a:lstStyle/>
          <a:p>
            <a:r>
              <a:rPr lang="en-US" dirty="0"/>
              <a:t>Collaborate with stakeholders to understand security needs for each data flow and identify the most vulnerable of them.</a:t>
            </a:r>
          </a:p>
          <a:p>
            <a:r>
              <a:rPr lang="en-US" dirty="0"/>
              <a:t>Frequent and small iterations</a:t>
            </a:r>
          </a:p>
          <a:p>
            <a:pPr lvl="1"/>
            <a:r>
              <a:rPr lang="en-US" sz="2800" dirty="0"/>
              <a:t>Start with the thinnest slice of the system. e.g.,</a:t>
            </a:r>
          </a:p>
          <a:p>
            <a:pPr lvl="2"/>
            <a:r>
              <a:rPr lang="en-US" sz="2800" dirty="0"/>
              <a:t>User registration flow</a:t>
            </a:r>
          </a:p>
          <a:p>
            <a:pPr lvl="2"/>
            <a:r>
              <a:rPr lang="en-US" sz="2800" dirty="0"/>
              <a:t>A microservice and its collaborating services</a:t>
            </a:r>
          </a:p>
          <a:p>
            <a:pPr lvl="2"/>
            <a:r>
              <a:rPr lang="en-US" sz="2800" dirty="0"/>
              <a:t>Current iteration</a:t>
            </a:r>
          </a:p>
          <a:p>
            <a:pPr lvl="1"/>
            <a:r>
              <a:rPr lang="en-US" sz="2800" dirty="0"/>
              <a:t>Repeat and refine them.</a:t>
            </a:r>
          </a:p>
          <a:p>
            <a:r>
              <a:rPr lang="en-US" sz="3200" dirty="0"/>
              <a:t>Make this a regular part of the overall QA process</a:t>
            </a:r>
          </a:p>
        </p:txBody>
      </p:sp>
    </p:spTree>
    <p:extLst>
      <p:ext uri="{BB962C8B-B14F-4D97-AF65-F5344CB8AC3E}">
        <p14:creationId xmlns:p14="http://schemas.microsoft.com/office/powerpoint/2010/main" val="38705961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AB5F6-8402-21D1-FE7E-9E95F8EAEE7E}"/>
              </a:ext>
            </a:extLst>
          </p:cNvPr>
          <p:cNvSpPr>
            <a:spLocks noGrp="1"/>
          </p:cNvSpPr>
          <p:nvPr>
            <p:ph type="title"/>
          </p:nvPr>
        </p:nvSpPr>
        <p:spPr/>
        <p:txBody>
          <a:bodyPr/>
          <a:lstStyle/>
          <a:p>
            <a:r>
              <a:rPr lang="en-US" dirty="0"/>
              <a:t>For every data flow, ask “what could go wrong?”</a:t>
            </a:r>
          </a:p>
        </p:txBody>
      </p:sp>
      <p:sp>
        <p:nvSpPr>
          <p:cNvPr id="3" name="Content Placeholder 2">
            <a:extLst>
              <a:ext uri="{FF2B5EF4-FFF2-40B4-BE49-F238E27FC236}">
                <a16:creationId xmlns:a16="http://schemas.microsoft.com/office/drawing/2014/main" id="{6C92FEA4-7715-91F2-3909-2E533E189B16}"/>
              </a:ext>
            </a:extLst>
          </p:cNvPr>
          <p:cNvSpPr>
            <a:spLocks noGrp="1"/>
          </p:cNvSpPr>
          <p:nvPr>
            <p:ph idx="1"/>
          </p:nvPr>
        </p:nvSpPr>
        <p:spPr>
          <a:xfrm>
            <a:off x="838200" y="1500159"/>
            <a:ext cx="9623323" cy="4856191"/>
          </a:xfrm>
        </p:spPr>
        <p:txBody>
          <a:bodyPr>
            <a:normAutofit fontScale="77500" lnSpcReduction="20000"/>
          </a:bodyPr>
          <a:lstStyle/>
          <a:p>
            <a:pPr lvl="0" fontAlgn="base"/>
            <a:r>
              <a:rPr lang="en-US" b="1" dirty="0"/>
              <a:t>S</a:t>
            </a:r>
            <a:r>
              <a:rPr lang="en-US" dirty="0"/>
              <a:t>poofed identity: </a:t>
            </a:r>
            <a:r>
              <a:rPr lang="en-US" i="1" dirty="0"/>
              <a:t>Is there Authentication? Should there be?</a:t>
            </a:r>
            <a:r>
              <a:rPr lang="en-US" dirty="0"/>
              <a:t> - Attackers pretending to be legitimate users through stolen credentials, phishing, or social engineering.</a:t>
            </a:r>
          </a:p>
          <a:p>
            <a:pPr lvl="0" fontAlgn="base"/>
            <a:r>
              <a:rPr lang="en-US" b="1" dirty="0"/>
              <a:t>T</a:t>
            </a:r>
            <a:r>
              <a:rPr lang="en-US" dirty="0"/>
              <a:t>ampering with input: </a:t>
            </a:r>
            <a:r>
              <a:rPr lang="en-US" i="1" dirty="0"/>
              <a:t>What about nasty input?</a:t>
            </a:r>
            <a:r>
              <a:rPr lang="en-US" dirty="0"/>
              <a:t> - Attackers modifying data, code, or memory maliciously to break your system's trust boundaries.</a:t>
            </a:r>
          </a:p>
          <a:p>
            <a:pPr lvl="0" fontAlgn="base"/>
            <a:r>
              <a:rPr lang="en-US" b="1" dirty="0"/>
              <a:t>R</a:t>
            </a:r>
            <a:r>
              <a:rPr lang="en-US" dirty="0"/>
              <a:t>epudiation: </a:t>
            </a:r>
            <a:r>
              <a:rPr lang="en-US" i="1" dirty="0"/>
              <a:t>Does the system show who is accountable?</a:t>
            </a:r>
            <a:r>
              <a:rPr lang="en-US" dirty="0"/>
              <a:t> - When something goes wrong, can you prove which user performed an action, or could they plausibly deny responsibility due to insufficient audit trails?</a:t>
            </a:r>
          </a:p>
          <a:p>
            <a:pPr lvl="0" fontAlgn="base"/>
            <a:r>
              <a:rPr lang="en-US" b="1" dirty="0"/>
              <a:t>I</a:t>
            </a:r>
            <a:r>
              <a:rPr lang="en-US" dirty="0"/>
              <a:t>nformation disclosure: </a:t>
            </a:r>
            <a:r>
              <a:rPr lang="en-US" i="1" dirty="0"/>
              <a:t>Is sensitive data inappropriately exposed or unencrypted?</a:t>
            </a:r>
            <a:r>
              <a:rPr lang="en-US" dirty="0"/>
              <a:t> - Unauthorized access to sensitive data through poor access controls, cleartext transmission, or insufficient data protection.</a:t>
            </a:r>
          </a:p>
          <a:p>
            <a:pPr lvl="0" fontAlgn="base"/>
            <a:r>
              <a:rPr lang="en-US" b="1" dirty="0"/>
              <a:t>D</a:t>
            </a:r>
            <a:r>
              <a:rPr lang="en-US" dirty="0"/>
              <a:t>enial of service: </a:t>
            </a:r>
            <a:r>
              <a:rPr lang="en-US" i="1" dirty="0"/>
              <a:t>What if we smash it?</a:t>
            </a:r>
            <a:r>
              <a:rPr lang="en-US" dirty="0"/>
              <a:t> - Attacks aiming at making the system unavailable to legitimate users by flooding or breaking critical components.</a:t>
            </a:r>
          </a:p>
          <a:p>
            <a:pPr lvl="0" fontAlgn="base"/>
            <a:r>
              <a:rPr lang="en-US" b="1" dirty="0"/>
              <a:t>E</a:t>
            </a:r>
            <a:r>
              <a:rPr lang="en-US" dirty="0"/>
              <a:t>levation of privilege: </a:t>
            </a:r>
            <a:r>
              <a:rPr lang="en-US" i="1" dirty="0"/>
              <a:t>Can I bypass Authorization? Move deeper into the system?</a:t>
            </a:r>
            <a:r>
              <a:rPr lang="en-US" dirty="0"/>
              <a:t> - Attackers gaining unauthorized access levels, obtaining higher permissions than intended, or moving laterally through your system.</a:t>
            </a:r>
          </a:p>
        </p:txBody>
      </p:sp>
      <p:sp>
        <p:nvSpPr>
          <p:cNvPr id="4" name="Slide Number Placeholder 3">
            <a:extLst>
              <a:ext uri="{FF2B5EF4-FFF2-40B4-BE49-F238E27FC236}">
                <a16:creationId xmlns:a16="http://schemas.microsoft.com/office/drawing/2014/main" id="{87AE9534-859F-71D2-5797-D58C842B6700}"/>
              </a:ext>
            </a:extLst>
          </p:cNvPr>
          <p:cNvSpPr>
            <a:spLocks noGrp="1"/>
          </p:cNvSpPr>
          <p:nvPr>
            <p:ph type="sldNum" sz="quarter" idx="12"/>
          </p:nvPr>
        </p:nvSpPr>
        <p:spPr/>
        <p:txBody>
          <a:bodyPr/>
          <a:lstStyle/>
          <a:p>
            <a:fld id="{20F37917-FD3A-4669-9018-DA04BCDD3D75}" type="slidenum">
              <a:rPr lang="en-US" smtClean="0"/>
              <a:t>41</a:t>
            </a:fld>
            <a:endParaRPr lang="en-US"/>
          </a:p>
        </p:txBody>
      </p:sp>
    </p:spTree>
    <p:extLst>
      <p:ext uri="{BB962C8B-B14F-4D97-AF65-F5344CB8AC3E}">
        <p14:creationId xmlns:p14="http://schemas.microsoft.com/office/powerpoint/2010/main" val="21635325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C269D-332D-7519-6CED-6E8C182E2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4C6E5-8FE2-DF16-609E-9B7A086EBBD8}"/>
              </a:ext>
            </a:extLst>
          </p:cNvPr>
          <p:cNvSpPr>
            <a:spLocks noGrp="1"/>
          </p:cNvSpPr>
          <p:nvPr>
            <p:ph type="title"/>
          </p:nvPr>
        </p:nvSpPr>
        <p:spPr/>
        <p:txBody>
          <a:bodyPr/>
          <a:lstStyle/>
          <a:p>
            <a:r>
              <a:rPr lang="en-US" dirty="0"/>
              <a:t>Choose highest priority vulnerabilities</a:t>
            </a:r>
          </a:p>
        </p:txBody>
      </p:sp>
      <p:sp>
        <p:nvSpPr>
          <p:cNvPr id="3" name="Content Placeholder 2">
            <a:extLst>
              <a:ext uri="{FF2B5EF4-FFF2-40B4-BE49-F238E27FC236}">
                <a16:creationId xmlns:a16="http://schemas.microsoft.com/office/drawing/2014/main" id="{64D9733F-E10E-307D-2EA6-7F4520ABB642}"/>
              </a:ext>
            </a:extLst>
          </p:cNvPr>
          <p:cNvSpPr>
            <a:spLocks noGrp="1"/>
          </p:cNvSpPr>
          <p:nvPr>
            <p:ph idx="1"/>
          </p:nvPr>
        </p:nvSpPr>
        <p:spPr>
          <a:xfrm>
            <a:off x="838200" y="1500160"/>
            <a:ext cx="8818756" cy="4351338"/>
          </a:xfrm>
        </p:spPr>
        <p:txBody>
          <a:bodyPr>
            <a:normAutofit/>
          </a:bodyPr>
          <a:lstStyle/>
          <a:p>
            <a:r>
              <a:rPr lang="en-US" dirty="0"/>
              <a:t>Add Highest Priority threats to backlog (as user stories or conditions of satisfaction)</a:t>
            </a:r>
          </a:p>
          <a:p>
            <a:pPr lvl="1"/>
            <a:endParaRPr lang="en-US" dirty="0">
              <a:solidFill>
                <a:srgbClr val="7030A0"/>
              </a:solidFill>
            </a:endParaRPr>
          </a:p>
        </p:txBody>
      </p:sp>
      <p:sp>
        <p:nvSpPr>
          <p:cNvPr id="4" name="Slide Number Placeholder 3">
            <a:extLst>
              <a:ext uri="{FF2B5EF4-FFF2-40B4-BE49-F238E27FC236}">
                <a16:creationId xmlns:a16="http://schemas.microsoft.com/office/drawing/2014/main" id="{1435EAD8-89C7-41F3-196B-5DA7219C7D61}"/>
              </a:ext>
            </a:extLst>
          </p:cNvPr>
          <p:cNvSpPr>
            <a:spLocks noGrp="1"/>
          </p:cNvSpPr>
          <p:nvPr>
            <p:ph type="sldNum" sz="quarter" idx="12"/>
          </p:nvPr>
        </p:nvSpPr>
        <p:spPr/>
        <p:txBody>
          <a:bodyPr/>
          <a:lstStyle/>
          <a:p>
            <a:fld id="{20F37917-FD3A-4669-9018-DA04BCDD3D75}" type="slidenum">
              <a:rPr lang="en-US" smtClean="0"/>
              <a:t>42</a:t>
            </a:fld>
            <a:endParaRPr lang="en-US" dirty="0"/>
          </a:p>
        </p:txBody>
      </p:sp>
      <p:sp>
        <p:nvSpPr>
          <p:cNvPr id="6" name="TextBox 5">
            <a:extLst>
              <a:ext uri="{FF2B5EF4-FFF2-40B4-BE49-F238E27FC236}">
                <a16:creationId xmlns:a16="http://schemas.microsoft.com/office/drawing/2014/main" id="{B6CB42CC-E0A3-F486-D1D1-FF4A2A45276B}"/>
              </a:ext>
            </a:extLst>
          </p:cNvPr>
          <p:cNvSpPr txBox="1"/>
          <p:nvPr/>
        </p:nvSpPr>
        <p:spPr>
          <a:xfrm>
            <a:off x="1183887" y="2468935"/>
            <a:ext cx="10515600" cy="3046988"/>
          </a:xfrm>
          <a:prstGeom prst="rect">
            <a:avLst/>
          </a:prstGeom>
          <a:noFill/>
        </p:spPr>
        <p:txBody>
          <a:bodyPr wrap="square" rtlCol="0">
            <a:spAutoFit/>
          </a:bodyPr>
          <a:lstStyle/>
          <a:p>
            <a:r>
              <a:rPr lang="en-US" sz="2400" b="1" dirty="0">
                <a:latin typeface="Bradley Hand ITC" panose="03070402050302030203" pitchFamily="66" charset="77"/>
              </a:rPr>
              <a:t>Given the user is logged in </a:t>
            </a:r>
            <a:br>
              <a:rPr lang="en-US" sz="2400" b="1" dirty="0">
                <a:latin typeface="Bradley Hand ITC" panose="03070402050302030203" pitchFamily="66" charset="77"/>
              </a:rPr>
            </a:br>
            <a:r>
              <a:rPr lang="en-US" sz="2400" b="1" dirty="0">
                <a:latin typeface="Bradley Hand ITC" panose="03070402050302030203" pitchFamily="66" charset="77"/>
              </a:rPr>
              <a:t>When they request to view their profile page And they have a valid token</a:t>
            </a:r>
          </a:p>
          <a:p>
            <a:r>
              <a:rPr lang="en-US" sz="2400" b="1" dirty="0">
                <a:latin typeface="Bradley Hand ITC" panose="03070402050302030203" pitchFamily="66" charset="77"/>
              </a:rPr>
              <a:t>Then their profile page is displayed  </a:t>
            </a:r>
          </a:p>
          <a:p>
            <a:endParaRPr lang="en-US" sz="2400" b="1" dirty="0">
              <a:latin typeface="Bradley Hand ITC" panose="03070402050302030203" pitchFamily="66" charset="77"/>
            </a:endParaRPr>
          </a:p>
          <a:p>
            <a:r>
              <a:rPr lang="en-US" sz="2400" b="1" dirty="0">
                <a:latin typeface="Bradley Hand ITC" panose="03070402050302030203" pitchFamily="66" charset="77"/>
              </a:rPr>
              <a:t>Given the user is logged in</a:t>
            </a:r>
          </a:p>
          <a:p>
            <a:r>
              <a:rPr lang="en-US" sz="2400" b="1" dirty="0">
                <a:latin typeface="Bradley Hand ITC" panose="03070402050302030203" pitchFamily="66" charset="77"/>
              </a:rPr>
              <a:t>When they request to view their profile page</a:t>
            </a:r>
          </a:p>
          <a:p>
            <a:r>
              <a:rPr lang="en-US" sz="2400" b="1" dirty="0">
                <a:latin typeface="Bradley Hand ITC" panose="03070402050302030203" pitchFamily="66" charset="77"/>
              </a:rPr>
              <a:t>But they do not have a valid token</a:t>
            </a:r>
          </a:p>
          <a:p>
            <a:r>
              <a:rPr lang="en-US" sz="2400" b="1" dirty="0">
                <a:latin typeface="Bradley Hand ITC" panose="03070402050302030203" pitchFamily="66" charset="77"/>
              </a:rPr>
              <a:t>Then they are asked to login or signup  </a:t>
            </a:r>
          </a:p>
        </p:txBody>
      </p:sp>
    </p:spTree>
    <p:extLst>
      <p:ext uri="{BB962C8B-B14F-4D97-AF65-F5344CB8AC3E}">
        <p14:creationId xmlns:p14="http://schemas.microsoft.com/office/powerpoint/2010/main" val="42231312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C269D-332D-7519-6CED-6E8C182E2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4C6E5-8FE2-DF16-609E-9B7A086EBBD8}"/>
              </a:ext>
            </a:extLst>
          </p:cNvPr>
          <p:cNvSpPr>
            <a:spLocks noGrp="1"/>
          </p:cNvSpPr>
          <p:nvPr>
            <p:ph type="title"/>
          </p:nvPr>
        </p:nvSpPr>
        <p:spPr/>
        <p:txBody>
          <a:bodyPr/>
          <a:lstStyle/>
          <a:p>
            <a:r>
              <a:rPr lang="en-US" dirty="0"/>
              <a:t>What are you going to do?</a:t>
            </a:r>
          </a:p>
        </p:txBody>
      </p:sp>
      <p:sp>
        <p:nvSpPr>
          <p:cNvPr id="3" name="Content Placeholder 2">
            <a:extLst>
              <a:ext uri="{FF2B5EF4-FFF2-40B4-BE49-F238E27FC236}">
                <a16:creationId xmlns:a16="http://schemas.microsoft.com/office/drawing/2014/main" id="{64D9733F-E10E-307D-2EA6-7F4520ABB642}"/>
              </a:ext>
            </a:extLst>
          </p:cNvPr>
          <p:cNvSpPr>
            <a:spLocks noGrp="1"/>
          </p:cNvSpPr>
          <p:nvPr>
            <p:ph idx="1"/>
          </p:nvPr>
        </p:nvSpPr>
        <p:spPr>
          <a:xfrm>
            <a:off x="838200" y="1500160"/>
            <a:ext cx="9197898" cy="4351338"/>
          </a:xfrm>
        </p:spPr>
        <p:txBody>
          <a:bodyPr>
            <a:normAutofit/>
          </a:bodyPr>
          <a:lstStyle/>
          <a:p>
            <a:r>
              <a:rPr lang="en-US" dirty="0"/>
              <a:t>Prioritize and Fix</a:t>
            </a:r>
          </a:p>
          <a:p>
            <a:pPr lvl="1"/>
            <a:r>
              <a:rPr lang="en-US" dirty="0"/>
              <a:t>Aim to address manageable number of threats (e.g., 3)</a:t>
            </a:r>
          </a:p>
          <a:p>
            <a:r>
              <a:rPr lang="en-US" dirty="0"/>
              <a:t>Examples:</a:t>
            </a:r>
          </a:p>
          <a:p>
            <a:pPr lvl="1"/>
            <a:r>
              <a:rPr lang="en-US" sz="2800" dirty="0"/>
              <a:t>Authorization bypass when accessing an API.</a:t>
            </a:r>
          </a:p>
          <a:p>
            <a:pPr lvl="1"/>
            <a:r>
              <a:rPr lang="en-US" sz="2800" dirty="0"/>
              <a:t>XSS attack via user input.</a:t>
            </a:r>
          </a:p>
          <a:p>
            <a:pPr lvl="1"/>
            <a:r>
              <a:rPr lang="en-US" sz="2800" dirty="0"/>
              <a:t>Denial of service from the internet</a:t>
            </a:r>
          </a:p>
          <a:p>
            <a:pPr lvl="1"/>
            <a:endParaRPr lang="en-US" sz="2800" dirty="0">
              <a:solidFill>
                <a:srgbClr val="7030A0"/>
              </a:solidFill>
            </a:endParaRPr>
          </a:p>
          <a:p>
            <a:r>
              <a:rPr lang="en-US" b="1" dirty="0"/>
              <a:t>Repeat and refine</a:t>
            </a:r>
            <a:r>
              <a:rPr lang="en-US" dirty="0"/>
              <a:t>!</a:t>
            </a:r>
            <a:endParaRPr lang="en-US" dirty="0">
              <a:solidFill>
                <a:srgbClr val="7030A0"/>
              </a:solidFill>
            </a:endParaRPr>
          </a:p>
          <a:p>
            <a:pPr lvl="1"/>
            <a:endParaRPr lang="en-US" dirty="0">
              <a:solidFill>
                <a:srgbClr val="7030A0"/>
              </a:solidFill>
            </a:endParaRPr>
          </a:p>
        </p:txBody>
      </p:sp>
      <p:sp>
        <p:nvSpPr>
          <p:cNvPr id="4" name="Slide Number Placeholder 3">
            <a:extLst>
              <a:ext uri="{FF2B5EF4-FFF2-40B4-BE49-F238E27FC236}">
                <a16:creationId xmlns:a16="http://schemas.microsoft.com/office/drawing/2014/main" id="{1435EAD8-89C7-41F3-196B-5DA7219C7D61}"/>
              </a:ext>
            </a:extLst>
          </p:cNvPr>
          <p:cNvSpPr>
            <a:spLocks noGrp="1"/>
          </p:cNvSpPr>
          <p:nvPr>
            <p:ph type="sldNum" sz="quarter" idx="12"/>
          </p:nvPr>
        </p:nvSpPr>
        <p:spPr/>
        <p:txBody>
          <a:bodyPr/>
          <a:lstStyle/>
          <a:p>
            <a:fld id="{20F37917-FD3A-4669-9018-DA04BCDD3D75}" type="slidenum">
              <a:rPr lang="en-US" smtClean="0"/>
              <a:t>43</a:t>
            </a:fld>
            <a:endParaRPr lang="en-US" dirty="0"/>
          </a:p>
        </p:txBody>
      </p:sp>
      <p:sp>
        <p:nvSpPr>
          <p:cNvPr id="11" name="TextBox 10">
            <a:extLst>
              <a:ext uri="{FF2B5EF4-FFF2-40B4-BE49-F238E27FC236}">
                <a16:creationId xmlns:a16="http://schemas.microsoft.com/office/drawing/2014/main" id="{07D91B1F-B485-876B-93EF-BA1E2BF98463}"/>
              </a:ext>
            </a:extLst>
          </p:cNvPr>
          <p:cNvSpPr txBox="1"/>
          <p:nvPr/>
        </p:nvSpPr>
        <p:spPr>
          <a:xfrm>
            <a:off x="1159727" y="5734592"/>
            <a:ext cx="10370634"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solidFill>
                  <a:schemeClr val="tx1">
                    <a:lumMod val="85000"/>
                    <a:lumOff val="15000"/>
                  </a:schemeClr>
                </a:solidFill>
              </a:rPr>
              <a:t>A Guide to Threat Modeling by Jim </a:t>
            </a:r>
            <a:r>
              <a:rPr lang="en-US" dirty="0" err="1">
                <a:solidFill>
                  <a:schemeClr val="tx1">
                    <a:lumMod val="85000"/>
                    <a:lumOff val="15000"/>
                  </a:schemeClr>
                </a:solidFill>
              </a:rPr>
              <a:t>Gumbley</a:t>
            </a:r>
            <a:r>
              <a:rPr lang="en-US" dirty="0">
                <a:solidFill>
                  <a:schemeClr val="tx1">
                    <a:lumMod val="85000"/>
                    <a:lumOff val="15000"/>
                  </a:schemeClr>
                </a:solidFill>
              </a:rPr>
              <a:t>: </a:t>
            </a:r>
            <a:r>
              <a:rPr lang="en-US" dirty="0">
                <a:solidFill>
                  <a:schemeClr val="tx1">
                    <a:lumMod val="85000"/>
                    <a:lumOff val="15000"/>
                  </a:schemeClr>
                </a:solidFill>
                <a:hlinkClick r:id="rId3"/>
              </a:rPr>
              <a:t>https://martinfowler.com/articles/agile-threat-modelling.html</a:t>
            </a:r>
            <a:r>
              <a:rPr lang="en-US" dirty="0">
                <a:solidFill>
                  <a:schemeClr val="tx1">
                    <a:lumMod val="85000"/>
                    <a:lumOff val="15000"/>
                  </a:schemeClr>
                </a:solidFill>
              </a:rPr>
              <a:t> </a:t>
            </a:r>
          </a:p>
        </p:txBody>
      </p:sp>
    </p:spTree>
    <p:extLst>
      <p:ext uri="{BB962C8B-B14F-4D97-AF65-F5344CB8AC3E}">
        <p14:creationId xmlns:p14="http://schemas.microsoft.com/office/powerpoint/2010/main" val="8466108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Learning Objectives for this Lesson"/>
          <p:cNvSpPr txBox="1">
            <a:spLocks noGrp="1"/>
          </p:cNvSpPr>
          <p:nvPr>
            <p:ph type="title"/>
          </p:nvPr>
        </p:nvSpPr>
        <p:spPr>
          <a:prstGeom prst="rect">
            <a:avLst/>
          </a:prstGeom>
        </p:spPr>
        <p:txBody>
          <a:bodyPr/>
          <a:lstStyle/>
          <a:p>
            <a:r>
              <a:rPr dirty="0"/>
              <a:t>Learning Objectives for this </a:t>
            </a:r>
            <a:r>
              <a:rPr lang="en-US" dirty="0"/>
              <a:t>Module</a:t>
            </a:r>
            <a:endParaRPr dirty="0"/>
          </a:p>
        </p:txBody>
      </p:sp>
      <p:sp>
        <p:nvSpPr>
          <p:cNvPr id="131" name="Describe that security is a spectrum, and be able to define a realistic threat model for a given system…"/>
          <p:cNvSpPr txBox="1">
            <a:spLocks noGrp="1"/>
          </p:cNvSpPr>
          <p:nvPr>
            <p:ph idx="1"/>
          </p:nvPr>
        </p:nvSpPr>
        <p:spPr>
          <a:prstGeom prst="rect">
            <a:avLst/>
          </a:prstGeom>
        </p:spPr>
        <p:txBody>
          <a:bodyPr>
            <a:normAutofit/>
          </a:bodyPr>
          <a:lstStyle/>
          <a:p>
            <a:pPr marL="349250" indent="-349250">
              <a:buSzPct val="123000"/>
              <a:buChar char="•"/>
            </a:pPr>
            <a:r>
              <a:rPr lang="en-US" dirty="0"/>
              <a:t>You should now be able to:</a:t>
            </a:r>
          </a:p>
          <a:p>
            <a:pPr marL="806450" lvl="1" indent="-349250">
              <a:buSzPct val="123000"/>
            </a:pPr>
            <a:r>
              <a:rPr lang="en-US" dirty="0"/>
              <a:t>Define key terms relating to software/system security</a:t>
            </a:r>
          </a:p>
          <a:p>
            <a:pPr marL="806450" lvl="1" indent="-349250">
              <a:buSzPct val="123000"/>
            </a:pPr>
            <a:r>
              <a:rPr lang="en-US" dirty="0"/>
              <a:t>Explain 5 common vulnerabilities in web applications and similar software systems, and describe some common mitigations for each of them.</a:t>
            </a:r>
          </a:p>
          <a:p>
            <a:pPr marL="806450" lvl="1" indent="-349250">
              <a:buSzPct val="123000"/>
            </a:pPr>
            <a:r>
              <a:rPr lang="en-US" dirty="0"/>
              <a:t>Explain why software alone isn’t enough to assure security</a:t>
            </a:r>
          </a:p>
          <a:p>
            <a:pPr marL="806450" lvl="1" indent="-349250">
              <a:buSzPct val="123000"/>
            </a:pPr>
            <a:r>
              <a:rPr lang="en-US" dirty="0"/>
              <a:t>Explain at least one way in which security can be incorporated into an agile development process</a:t>
            </a:r>
          </a:p>
          <a:p>
            <a:pPr marL="806450" lvl="1" indent="-349250">
              <a:buSzPct val="123000"/>
            </a:pPr>
            <a:endParaRPr dirty="0"/>
          </a:p>
        </p:txBody>
      </p:sp>
    </p:spTree>
    <p:extLst>
      <p:ext uri="{BB962C8B-B14F-4D97-AF65-F5344CB8AC3E}">
        <p14:creationId xmlns:p14="http://schemas.microsoft.com/office/powerpoint/2010/main" val="8604650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00"/>
        </a:solidFill>
      </a:spPr>
      <a:bodyPr rtlCol="0" anchor="ctr"/>
      <a:lstStyle>
        <a:defPPr algn="ctr">
          <a:defRPr sz="2400" dirty="0" smtClean="0">
            <a:solidFill>
              <a:sysClr val="windowText" lastClr="000000"/>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58724</TotalTime>
  <Words>4671</Words>
  <Application>Microsoft Office PowerPoint</Application>
  <PresentationFormat>Widescreen</PresentationFormat>
  <Paragraphs>450</Paragraphs>
  <Slides>44</Slides>
  <Notes>36</Notes>
  <HiddenSlides>1</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44</vt:i4>
      </vt:variant>
    </vt:vector>
  </HeadingPairs>
  <TitlesOfParts>
    <vt:vector size="57" baseType="lpstr">
      <vt:lpstr>Algerian</vt:lpstr>
      <vt:lpstr>Arial</vt:lpstr>
      <vt:lpstr>Avenir Next Regular</vt:lpstr>
      <vt:lpstr>Bradley Hand ITC</vt:lpstr>
      <vt:lpstr>Calibri</vt:lpstr>
      <vt:lpstr>Chiller</vt:lpstr>
      <vt:lpstr>Consolas</vt:lpstr>
      <vt:lpstr>Helvetica</vt:lpstr>
      <vt:lpstr>Helvetica Neue</vt:lpstr>
      <vt:lpstr>Inter</vt:lpstr>
      <vt:lpstr>Verdana</vt:lpstr>
      <vt:lpstr>Office Theme</vt:lpstr>
      <vt:lpstr>1_Office Theme</vt:lpstr>
      <vt:lpstr>CS 4530: Fundamentals of Software Engineering  Module 13: Software Engineering &amp; Security</vt:lpstr>
      <vt:lpstr>Learning Objectives for this Module</vt:lpstr>
      <vt:lpstr>Outline of this lecture</vt:lpstr>
      <vt:lpstr>Security: Basic Vocabulary (1)</vt:lpstr>
      <vt:lpstr>Security: Basic Vocabulary (2) </vt:lpstr>
      <vt:lpstr>Security: Basic Vocabulary (3) </vt:lpstr>
      <vt:lpstr>Security is a multiplayer game</vt:lpstr>
      <vt:lpstr>A Simple Threat Model</vt:lpstr>
      <vt:lpstr>Security Principle #1: Minimize Attack Surfaces</vt:lpstr>
      <vt:lpstr>More complex systems require more complex threat models</vt:lpstr>
      <vt:lpstr>STRIDE Framework can help identify Common Threats</vt:lpstr>
      <vt:lpstr>Security isn't always free</vt:lpstr>
      <vt:lpstr>Beginnings of a threat model for the new home: what are the costs?</vt:lpstr>
      <vt:lpstr>Five major classes of vulnerabilities</vt:lpstr>
      <vt:lpstr>Vulnerability 1 Example: authentication code in a web application</vt:lpstr>
      <vt:lpstr>Who would do such a silly thing?</vt:lpstr>
      <vt:lpstr>Vulnerability 2: Data controlled by a user flowing into our trusted codebase</vt:lpstr>
      <vt:lpstr>Example: code injection</vt:lpstr>
      <vt:lpstr>A code injection attack (in Apache struts) cost Equifax $1.4 Billion</vt:lpstr>
      <vt:lpstr>Bypassing airport security via SQL injection (2024!)</vt:lpstr>
      <vt:lpstr>SE-level mitigations for code injection attacks</vt:lpstr>
      <vt:lpstr>Vulnerability 3: Bad Authentication </vt:lpstr>
      <vt:lpstr>(Inadequate) Mitigation: Don't keep passwords; keep their hashes instead</vt:lpstr>
      <vt:lpstr>Is this good enough?</vt:lpstr>
      <vt:lpstr>Is it safe to store the hashes instead of the passwords themselves?</vt:lpstr>
      <vt:lpstr>Actual Mitigation: always salt your passwords</vt:lpstr>
      <vt:lpstr>Security Principle #2: Don't try this at home; use an established solution instead</vt:lpstr>
      <vt:lpstr>Vulnerability 4: Supply-Chain Attacks</vt:lpstr>
      <vt:lpstr>Third-party dependencies show up throughout the development process</vt:lpstr>
      <vt:lpstr>Example: the eslint-scope attack (2018)</vt:lpstr>
      <vt:lpstr>This incident leveraged several small security failures </vt:lpstr>
      <vt:lpstr>A 2021 NCSU/Microsoft found that many of the top 1% of npm packages had vulnerabilities</vt:lpstr>
      <vt:lpstr>Your suppliers' risks are your risks</vt:lpstr>
      <vt:lpstr>Your suppliers' risks are your risks.</vt:lpstr>
      <vt:lpstr>Supply-chain risks include more than just software.</vt:lpstr>
      <vt:lpstr>Process-level Threat Mitigations</vt:lpstr>
      <vt:lpstr>Vulnerability #5: Failure to Apply Security Policies</vt:lpstr>
      <vt:lpstr>David Blank-Edelman (former head of Systems at Khoury)</vt:lpstr>
      <vt:lpstr>Security Principle #3: Every data flow is an attack surface</vt:lpstr>
      <vt:lpstr>Systematically review security needs on each attack surface</vt:lpstr>
      <vt:lpstr>For every data flow, ask “what could go wrong?”</vt:lpstr>
      <vt:lpstr>Choose highest priority vulnerabilities</vt:lpstr>
      <vt:lpstr>What are you going to do?</vt:lpstr>
      <vt:lpstr>Learning Objectives for this Module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title</dc:title>
  <dc:creator>Mitchell Wand</dc:creator>
  <cp:lastModifiedBy>Bhutta, Adeel</cp:lastModifiedBy>
  <cp:revision>190</cp:revision>
  <dcterms:created xsi:type="dcterms:W3CDTF">2021-01-07T15:19:22Z</dcterms:created>
  <dcterms:modified xsi:type="dcterms:W3CDTF">2026-10-21T01:05:36Z</dcterms:modified>
</cp:coreProperties>
</file>